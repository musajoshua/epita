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8A6FF"/>
                </a:solidFill>
                <a:latin typeface="Helvetica Neue"/>
              </a:defRPr>
            </a:pPr>
            <a:r>
              <a:t>jsh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79C0FF"/>
                </a:solidFill>
                <a:latin typeface="Helvetica Neue"/>
              </a:defRPr>
            </a:pPr>
            <a:r>
              <a:t>A Unix Shell Written in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949E"/>
                </a:solidFill>
                <a:latin typeface="Helvetica Neue"/>
              </a:defRPr>
            </a:pPr>
            <a:r>
              <a:t>Advanced C Project  —  EPITA MSc 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D1D9"/>
                </a:solidFill>
                <a:latin typeface="Helvetica Neue"/>
              </a:defRPr>
            </a:pPr>
            <a:r>
              <a:t>Joshua Musa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Helvetica Neue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9D1D9"/>
                </a:solidFill>
                <a:latin typeface="Helvetica Neue"/>
              </a:defRPr>
            </a:pPr>
            <a:r>
              <a:t>1.  Project Scope &amp; Motivation</a:t>
            </a:r>
          </a:p>
          <a:p>
            <a:pPr algn="l">
              <a:spcBef>
                <a:spcPts val="1400"/>
              </a:spcBef>
              <a:defRPr sz="2400" b="0">
                <a:solidFill>
                  <a:srgbClr val="C9D1D9"/>
                </a:solidFill>
                <a:latin typeface="Helvetica Neue"/>
              </a:defRPr>
            </a:pPr>
            <a:r>
              <a:t>2.  Features Overview</a:t>
            </a:r>
          </a:p>
          <a:p>
            <a:pPr algn="l">
              <a:spcBef>
                <a:spcPts val="1400"/>
              </a:spcBef>
              <a:defRPr sz="2400" b="0">
                <a:solidFill>
                  <a:srgbClr val="C9D1D9"/>
                </a:solidFill>
                <a:latin typeface="Helvetica Neue"/>
              </a:defRPr>
            </a:pPr>
            <a:r>
              <a:t>3.  Architecture &amp; Source Files</a:t>
            </a:r>
          </a:p>
          <a:p>
            <a:pPr algn="l">
              <a:spcBef>
                <a:spcPts val="1400"/>
              </a:spcBef>
              <a:defRPr sz="2400" b="0">
                <a:solidFill>
                  <a:srgbClr val="C9D1D9"/>
                </a:solidFill>
                <a:latin typeface="Helvetica Neue"/>
              </a:defRPr>
            </a:pPr>
            <a:r>
              <a:t>4.  Development Steps (1–8)</a:t>
            </a:r>
          </a:p>
          <a:p>
            <a:pPr algn="l">
              <a:spcBef>
                <a:spcPts val="1400"/>
              </a:spcBef>
              <a:defRPr sz="2400" b="0">
                <a:solidFill>
                  <a:srgbClr val="C9D1D9"/>
                </a:solidFill>
                <a:latin typeface="Helvetica Neue"/>
              </a:defRPr>
            </a:pPr>
            <a:r>
              <a:t>5.  Key System Calls</a:t>
            </a:r>
          </a:p>
          <a:p>
            <a:pPr algn="l">
              <a:spcBef>
                <a:spcPts val="1400"/>
              </a:spcBef>
              <a:defRPr sz="2400" b="0">
                <a:solidFill>
                  <a:srgbClr val="C9D1D9"/>
                </a:solidFill>
                <a:latin typeface="Helvetica Neue"/>
              </a:defRPr>
            </a:pPr>
            <a:r>
              <a:t>6.  Difficulties &amp; Design Choices</a:t>
            </a:r>
          </a:p>
          <a:p>
            <a:pPr algn="l">
              <a:spcBef>
                <a:spcPts val="1400"/>
              </a:spcBef>
              <a:defRPr sz="2400" b="0">
                <a:solidFill>
                  <a:srgbClr val="C9D1D9"/>
                </a:solidFill>
                <a:latin typeface="Helvetica Neue"/>
              </a:defRPr>
            </a:pPr>
            <a:r>
              <a:t>7.  Code Quality</a:t>
            </a:r>
          </a:p>
          <a:p>
            <a:pPr algn="l">
              <a:spcBef>
                <a:spcPts val="1400"/>
              </a:spcBef>
              <a:defRPr sz="2400" b="0">
                <a:solidFill>
                  <a:srgbClr val="C9D1D9"/>
                </a:solidFill>
                <a:latin typeface="Helvetica Neue"/>
              </a:defRPr>
            </a:pPr>
            <a:r>
              <a:t>8.  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Helvetica Neue"/>
              </a:defRPr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D1D9"/>
                </a:solidFill>
                <a:latin typeface="Helvetica Neue"/>
              </a:defRPr>
            </a:pPr>
            <a:r>
              <a:t>Goal:  Build a functional Unix shell from scratch in C99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883E"/>
                </a:solidFill>
                <a:latin typeface="Helvetica Neue"/>
              </a:defRPr>
            </a:pPr>
            <a:r>
              <a:t>Why a shell?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Helvetica Neue"/>
              </a:defRPr>
            </a:pPr>
            <a:r>
              <a:t>•  Touches nearly every core C concept: memory, pointers, strings, arrays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C9D1D9"/>
                </a:solidFill>
                <a:latin typeface="Helvetica Neue"/>
              </a:defRPr>
            </a:pPr>
            <a:r>
              <a:t>•  Deep dive into POSIX system calls: fork, exec, pipe, dup2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C9D1D9"/>
                </a:solidFill>
                <a:latin typeface="Helvetica Neue"/>
              </a:defRPr>
            </a:pPr>
            <a:r>
              <a:t>•  Process management, signals, file descriptors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C9D1D9"/>
                </a:solidFill>
                <a:latin typeface="Helvetica Neue"/>
              </a:defRPr>
            </a:pPr>
            <a:r>
              <a:t>•  Terminal I/O at the lowest level (raw mode, escape sequences)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Helvetica Neue"/>
              </a:defRPr>
            </a:pPr>
            <a:r>
              <a:t>~900 lines of C  ·  9 source files  ·  No external libraries — only libc + POSIX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Helvetica Neue"/>
              </a:defRPr>
            </a:pPr>
            <a:r>
              <a:t>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l">
              <a:defRPr sz="1800" b="1">
                <a:solidFill>
                  <a:srgbClr val="58A6FF"/>
                </a:solidFill>
                <a:latin typeface="Helvetica Neue"/>
              </a:defRPr>
            </a:pPr>
            <a:r>
              <a:t>REPL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Interactive prompt with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read-eval-print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l">
              <a:defRPr sz="1800" b="1">
                <a:solidFill>
                  <a:srgbClr val="58A6FF"/>
                </a:solidFill>
                <a:latin typeface="Helvetica Neue"/>
              </a:defRPr>
            </a:pPr>
            <a:r>
              <a:t>External Commands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Run any program in $PATH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via fork + execvp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l">
              <a:defRPr sz="1800" b="1">
                <a:solidFill>
                  <a:srgbClr val="58A6FF"/>
                </a:solidFill>
                <a:latin typeface="Helvetica Neue"/>
              </a:defRPr>
            </a:pPr>
            <a:r>
              <a:t>Built-in Commands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cd, pwd, exit run directly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in the parent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371600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l">
              <a:defRPr sz="1800" b="1">
                <a:solidFill>
                  <a:srgbClr val="58A6FF"/>
                </a:solidFill>
                <a:latin typeface="Helvetica Neue"/>
              </a:defRPr>
            </a:pPr>
            <a:r>
              <a:t>I/O Redirection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&gt; (overwrite), &gt;&gt; (append),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&lt; (read from file)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l">
              <a:defRPr sz="1800" b="1">
                <a:solidFill>
                  <a:srgbClr val="58A6FF"/>
                </a:solidFill>
                <a:latin typeface="Helvetica Neue"/>
              </a:defRPr>
            </a:pPr>
            <a:r>
              <a:t>Pipes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Arbitrary-length pipelines: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cmd1 | cmd2 | cmd3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749039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l">
              <a:defRPr sz="1800" b="1">
                <a:solidFill>
                  <a:srgbClr val="58A6FF"/>
                </a:solidFill>
                <a:latin typeface="Helvetica Neue"/>
              </a:defRPr>
            </a:pPr>
            <a:r>
              <a:t>Operators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&amp;&amp; (and), || (or),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; (sequential)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l">
              <a:defRPr sz="1800" b="1">
                <a:solidFill>
                  <a:srgbClr val="58A6FF"/>
                </a:solidFill>
                <a:latin typeface="Helvetica Neue"/>
              </a:defRPr>
            </a:pPr>
            <a:r>
              <a:t>Glob Expansion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*.c and ? wildcards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expanded by the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749039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l">
              <a:defRPr sz="1800" b="1">
                <a:solidFill>
                  <a:srgbClr val="58A6FF"/>
                </a:solidFill>
                <a:latin typeface="Helvetica Neue"/>
              </a:defRPr>
            </a:pPr>
            <a:r>
              <a:t>Line Editor + History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Raw-mode input with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arrow keys and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Helvetica Neue"/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6858000" cy="45720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include/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shell.h           — Shared function declarations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src/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main.c            — REPL loop (entry point)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terminal.c        — Raw-mode line editor + history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tokenizer.c       — Splits input into token array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operators.c       — ;  &amp;&amp;  ||  dispatch + glob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globbing.c        — Wildcard expansion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executor.c        — fork + execvp single commands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pipes.c           — Multi-command pipelines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redirections.c    — &gt;  &gt;&gt;  &lt;  via open + dup2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builtins.c        — cd, exit, pwd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83E"/>
                </a:solidFill>
                <a:latin typeface="Helvetica Neue"/>
              </a:defRPr>
            </a:pPr>
            <a:r>
              <a:t>Design principles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10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•  Each file has one job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•  One shared header: shell.h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•  No global state (except history)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•  Clean separation of concerns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•  Compiles with -Wall -Wextra -Werror: zero warnings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8A6FF"/>
                </a:solidFill>
                <a:latin typeface="Helvetica Neue"/>
              </a:defRPr>
            </a:pPr>
            <a:r>
              <a:t>Step 1:  The REPL Skeleton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7548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while (1) {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ensure_newline()     // fix cursor if mid-line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print "jsh $ "       // prompt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line = read_line()   // raw-mode input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if line == NULL      // Ctrl+D → EOF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 break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if line is empty     // just pressed Enter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 continue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tokens = tokenize(line)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run_command_line(tokens)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free tokens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}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return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883E"/>
                </a:solidFill>
                <a:latin typeface="Helvetica Neue"/>
              </a:defRPr>
            </a:pPr>
            <a:r>
              <a:t>How it works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10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Ctrl+D returns NULL from read_line() → breaks the loop and exits cleanly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Empty lines (just Enter) are skipped — no crash, no noise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ensure_newline() queries the terminal cursor position; if the cursor is mid-line (from a command like printf without \n), it prints a newline first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Every iteration: allocate → use → free. No memory leaks.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Parent ignores SIGINT so Ctrl+C doesn't kill the shell itself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8A6FF"/>
                </a:solidFill>
                <a:latin typeface="Helvetica Neue"/>
              </a:defRPr>
            </a:pPr>
            <a:r>
              <a:t>Step 2:  Tokenizer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Helvetica Neue"/>
              </a:defRPr>
            </a:pPr>
            <a:r>
              <a:t>Splits a raw input string into an array of word tokens: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6858000" cy="6400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"ls -la /tmp"  →  ["ls", "-la", "/tmp", NULL]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83E"/>
                </a:solidFill>
                <a:latin typeface="Helvetica Neue"/>
              </a:defRPr>
            </a:pPr>
            <a:r>
              <a:t>Algorithm: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1000"/>
              </a:spcBef>
              <a:defRPr sz="1900" b="0">
                <a:solidFill>
                  <a:srgbClr val="C9D1D9"/>
                </a:solidFill>
                <a:latin typeface="Helvetica Neue"/>
              </a:defRPr>
            </a:pPr>
            <a:r>
              <a:t>1.  Walk the string character by character</a:t>
            </a:r>
          </a:p>
          <a:p>
            <a:pPr algn="l">
              <a:spcBef>
                <a:spcPts val="1000"/>
              </a:spcBef>
              <a:defRPr sz="1900" b="0">
                <a:solidFill>
                  <a:srgbClr val="C9D1D9"/>
                </a:solidFill>
                <a:latin typeface="Helvetica Neue"/>
              </a:defRPr>
            </a:pPr>
            <a:r>
              <a:t>2.  Skip over whitespace between words</a:t>
            </a:r>
          </a:p>
          <a:p>
            <a:pPr algn="l">
              <a:spcBef>
                <a:spcPts val="1000"/>
              </a:spcBef>
              <a:defRPr sz="1900" b="0">
                <a:solidFill>
                  <a:srgbClr val="C9D1D9"/>
                </a:solidFill>
                <a:latin typeface="Helvetica Neue"/>
              </a:defRPr>
            </a:pPr>
            <a:r>
              <a:t>3.  For each word: malloc a copy (strdup) and store the pointer</a:t>
            </a:r>
          </a:p>
          <a:p>
            <a:pPr algn="l">
              <a:spcBef>
                <a:spcPts val="1000"/>
              </a:spcBef>
              <a:defRPr sz="1900" b="0">
                <a:solidFill>
                  <a:srgbClr val="C9D1D9"/>
                </a:solidFill>
                <a:latin typeface="Helvetica Neue"/>
              </a:defRPr>
            </a:pPr>
            <a:r>
              <a:t>4.  The array grows dynamically — doubles capacity when full (realloc)</a:t>
            </a:r>
          </a:p>
          <a:p>
            <a:pPr algn="l">
              <a:spcBef>
                <a:spcPts val="1000"/>
              </a:spcBef>
              <a:defRPr sz="1900" b="0">
                <a:solidFill>
                  <a:srgbClr val="C9D1D9"/>
                </a:solidFill>
                <a:latin typeface="Helvetica Neue"/>
              </a:defRPr>
            </a:pPr>
            <a:r>
              <a:t>5.  NULL-terminate the array — this is what execvp expects</a:t>
            </a:r>
          </a:p>
          <a:p>
            <a:pPr algn="l">
              <a:spcBef>
                <a:spcPts val="1000"/>
              </a:spcBef>
              <a:defRPr sz="1900" b="0">
                <a:solidFill>
                  <a:srgbClr val="C9D1D9"/>
                </a:solidFill>
                <a:latin typeface="Helvetica Neue"/>
              </a:defRPr>
            </a:pPr>
            <a:r>
              <a:t>6.  Return the array + count to the caller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8A6FF"/>
                </a:solidFill>
                <a:latin typeface="Helvetica Neue"/>
              </a:defRPr>
            </a:pPr>
            <a:r>
              <a:t>Step 3:  Command Execution — fork + execvp + waitpid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1463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800" b="1">
                <a:solidFill>
                  <a:srgbClr val="F0883E"/>
                </a:solidFill>
                <a:latin typeface="Menlo"/>
              </a:defRPr>
            </a:pPr>
            <a:r>
              <a:t>fork()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Creates an exact copy of the shell.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Returns 0 in child, child PID in parent.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88920"/>
            <a:ext cx="5029200" cy="1463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800" b="1">
                <a:solidFill>
                  <a:srgbClr val="F0883E"/>
                </a:solidFill>
                <a:latin typeface="Menlo"/>
              </a:defRPr>
            </a:pPr>
            <a:r>
              <a:t>execvp()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Replaces the child process with the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actual command (e.g. /bin/ls).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The child becomes the command.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5029200" cy="1463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l">
              <a:defRPr sz="1800" b="1">
                <a:solidFill>
                  <a:srgbClr val="F0883E"/>
                </a:solidFill>
                <a:latin typeface="Menlo"/>
              </a:defRPr>
            </a:pPr>
            <a:r>
              <a:t>waitpid()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Parent blocks until the child exits.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Then collects the exit code and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C9D1D9"/>
                </a:solidFill>
                <a:latin typeface="Helvetica Neue"/>
              </a:defRPr>
            </a:pPr>
            <a:r>
              <a:t>prints the prompt again.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JSH (parent, pid 100)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|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fork()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|              \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PARENT (100)     CHILD (101)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|              |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waitpid(101)    execvp("ls")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(blocks)            |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|          child is now /bin/ls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|          runs, prints, exits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|              |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waitpid returns  &lt;-- child dead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|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print prompt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8A6FF"/>
                </a:solidFill>
                <a:latin typeface="Helvetica Neue"/>
              </a:defRPr>
            </a:pPr>
            <a:r>
              <a:t>Step 4:  Built-in Commands &amp;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83E"/>
                </a:solidFill>
                <a:latin typeface="Helvetica Neue"/>
              </a:defRPr>
            </a:pPr>
            <a:r>
              <a:t>Why must some commands be built-in?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cd must run in the parent process.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8B949E"/>
                </a:solidFill>
                <a:latin typeface="Helvetica Neue"/>
              </a:defRPr>
            </a:pPr>
            <a:r>
              <a:t>If cd ran in a forked child, it would change the child's directory — then the child exits and the parent's directory is unchanged.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0292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76200" wrap="square"/>
          <a:lstStyle/>
          <a:p>
            <a:pPr algn="l">
              <a:defRPr sz="1600" b="0">
                <a:solidFill>
                  <a:srgbClr val="C9D1D9"/>
                </a:solidFill>
                <a:latin typeface="Menlo"/>
              </a:defRPr>
            </a:pPr>
            <a:r>
              <a:t>cd [dir]   →   chdir() in parent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40"/>
            <a:ext cx="50292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76200" wrap="square"/>
          <a:lstStyle/>
          <a:p>
            <a:pPr algn="l">
              <a:defRPr sz="1600" b="0">
                <a:solidFill>
                  <a:srgbClr val="C9D1D9"/>
                </a:solidFill>
                <a:latin typeface="Menlo"/>
              </a:defRPr>
            </a:pPr>
            <a:r>
              <a:t>pwd   →   getcwd() + 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0292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76200" wrap="square"/>
          <a:lstStyle/>
          <a:p>
            <a:pPr algn="l">
              <a:defRPr sz="1600" b="0">
                <a:solidFill>
                  <a:srgbClr val="C9D1D9"/>
                </a:solidFill>
                <a:latin typeface="Menlo"/>
              </a:defRPr>
            </a:pPr>
            <a:r>
              <a:t>exit   →   exit(0)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02920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2000" b="1">
                <a:solidFill>
                  <a:srgbClr val="58A6FF"/>
                </a:solidFill>
                <a:latin typeface="Helvetica Neue"/>
              </a:defRPr>
            </a:pPr>
            <a:r>
              <a:t>Signal Handling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F0883E"/>
                </a:solidFill>
                <a:latin typeface="Menlo"/>
              </a:defRPr>
            </a:pPr>
            <a:r>
              <a:t>Parent:  signal(SIGINT, SIG_IGN)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9D1D9"/>
                </a:solidFill>
                <a:latin typeface="Helvetica Neue"/>
              </a:defRPr>
            </a:pPr>
            <a:r>
              <a:t>Ignores Ctrl+C → shell stays alive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F0883E"/>
                </a:solidFill>
                <a:latin typeface="Menlo"/>
              </a:defRPr>
            </a:pPr>
            <a:r>
              <a:t>Child:   signal(SIGINT, SIG_DFL)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9D1D9"/>
                </a:solidFill>
                <a:latin typeface="Helvetica Neue"/>
              </a:defRPr>
            </a:pPr>
            <a:r>
              <a:t>Restores default → Ctrl+C kills commands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5029200" cy="1645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1800" b="1">
                <a:solidFill>
                  <a:srgbClr val="58A6FF"/>
                </a:solidFill>
                <a:latin typeface="Helvetica Neue"/>
              </a:defRPr>
            </a:pPr>
            <a:r>
              <a:t>handle_builtin() return values: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9D1D9"/>
                </a:solidFill>
                <a:latin typeface="Menlo"/>
              </a:defRPr>
            </a:pPr>
            <a:r>
              <a:t>-1 = not a builtin → try execvp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9D1D9"/>
                </a:solidFill>
                <a:latin typeface="Menlo"/>
              </a:defRPr>
            </a:pPr>
            <a:r>
              <a:t> 0 = builtin succeeded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9D1D9"/>
                </a:solidFill>
                <a:latin typeface="Menlo"/>
              </a:defRPr>
            </a:pPr>
            <a:r>
              <a:t> 1 = builtin failed (e.g. cd bad dir)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8A6FF"/>
                </a:solidFill>
                <a:latin typeface="Helvetica Neue"/>
              </a:defRPr>
            </a:pPr>
            <a:r>
              <a:t>Step 5:  I/O Redirection  (&gt;  &gt;&gt;  &lt;)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Helvetica Neue"/>
              </a:defRPr>
            </a:pPr>
            <a:r>
              <a:t>File descriptors are like TV channels — we retune where they point: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76200" wrap="square"/>
          <a:lstStyle/>
          <a:p>
            <a:pPr algn="l">
              <a:defRPr sz="1500" b="0">
                <a:solidFill>
                  <a:srgbClr val="C9D1D9"/>
                </a:solidFill>
                <a:latin typeface="Menlo"/>
              </a:defRPr>
            </a:pPr>
            <a:r>
              <a:t>fd 0  (stdin)   default: Keyboard  —  Where input comes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50292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76200" wrap="square"/>
          <a:lstStyle/>
          <a:p>
            <a:pPr algn="l">
              <a:defRPr sz="1500" b="0">
                <a:solidFill>
                  <a:srgbClr val="C9D1D9"/>
                </a:solidFill>
                <a:latin typeface="Menlo"/>
              </a:defRPr>
            </a:pPr>
            <a:r>
              <a:t>fd 1  (stdout)   default: Screen  —  Where output goes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76200" wrap="square"/>
          <a:lstStyle/>
          <a:p>
            <a:pPr algn="l">
              <a:defRPr sz="1500" b="0">
                <a:solidFill>
                  <a:srgbClr val="C9D1D9"/>
                </a:solidFill>
                <a:latin typeface="Menlo"/>
              </a:defRPr>
            </a:pPr>
            <a:r>
              <a:t>fd 2  (stderr)   default: Screen  —  Where errors 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echo hello &gt; out.txt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Step 1: open("out.txt") → returns fd 3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Step 2: dup2(3, 1) — retune fd 1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 fd 1 (stdout) now → out.txt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Step 3: close(fd 3) — no longer needed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Step 4: echo writes to fd 1 as usual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 but it goes to the file now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Runs in the CHILD only (after fork,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before execvp) so parent fds are safe.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883E"/>
                </a:solidFill>
                <a:latin typeface="Menlo"/>
              </a:defRPr>
            </a:pPr>
            <a:r>
              <a:t>&gt;    open with O_TRUNC (overwrite)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0883E"/>
                </a:solidFill>
                <a:latin typeface="Menlo"/>
              </a:defRPr>
            </a:pPr>
            <a:r>
              <a:t>&gt;&gt;   open with O_APPEND (add to end)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0883E"/>
                </a:solidFill>
                <a:latin typeface="Menlo"/>
              </a:defRPr>
            </a:pPr>
            <a:r>
              <a:t>&lt;    open with O_RDONLY (read input)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8A6FF"/>
                </a:solidFill>
                <a:latin typeface="Helvetica Neue"/>
              </a:defRPr>
            </a:pPr>
            <a:r>
              <a:t>Step 6:  Pipes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Helvetica Neue"/>
              </a:defRPr>
            </a:pPr>
            <a:r>
              <a:t>pipe(fd) creates a one-way data channel:  fd[0] = read end,  fd[1] = write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943600" cy="43891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ls | grep .c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1. Create pipe → fd[0]=read, fd[1]=write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2. fork() child 1 (ls):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dup2(fd[1], stdout) → ls output goes into pipe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close(fd[0], fd[1]) → already duplicated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execvp("ls")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3. fork() child 2 (grep):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dup2(fd[0], stdin)  → grep reads from pipe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close(fd[0], fd[1])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execvp("grep", [".c"])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4. Parent closes both pipe ends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5. waitpid() for both children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83E"/>
                </a:solidFill>
                <a:latin typeface="Helvetica Neue"/>
              </a:defRPr>
            </a:pPr>
            <a:r>
              <a:t>Key insight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10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ls writes to stdout as usual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grep reads from stdin as usual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Neither knows about the other — the pipe connects them through the kernel</a:t>
            </a:r>
          </a:p>
          <a:p>
            <a:pPr algn="l">
              <a:spcBef>
                <a:spcPts val="1000"/>
              </a:spcBef>
              <a:defRPr sz="10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1000"/>
              </a:spcBef>
              <a:defRPr sz="2000" b="1">
                <a:solidFill>
                  <a:srgbClr val="F0883E"/>
                </a:solidFill>
                <a:latin typeface="Helvetica Neue"/>
              </a:defRPr>
            </a:pPr>
            <a:r>
              <a:t>Critical rule: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Must close unused pipe ends! If the write end stays open anywhere, the reader never sees EOF and hangs forever.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8A6FF"/>
                </a:solidFill>
                <a:latin typeface="Helvetica Neue"/>
              </a:defRPr>
            </a:pPr>
            <a:r>
              <a:t>Step 6:  Multi-Pipe Chaining  (ls | grep .c | wc -l)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6858000" cy="53035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Iteration 1: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pipe() → fd[3]=read, fd[4]=write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fork child 1 (ls):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stdout → fd[4] (pipe write end)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execvp("ls")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Parent: close fd[4], save fd[3] as prev_fd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Iteration 2: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pipe() → fd[5]=read, fd[6]=write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fork child 2 (grep):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stdin  ← prev_fd (fd[3], reads ls output)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stdout → fd[6] (new pipe write end)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execvp("grep", [".c"])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Parent: close prev_fd, close fd[6]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      prev_fd = fd[5]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Iteration 3 (last command, no new pipe):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fork child 3 (wc):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stdin ← prev_fd (fd[5], reads grep output)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  execvp("wc", ["-l"])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  Parent: close prev_fd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waitpid() for all 3 children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Return last child's exit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83E"/>
                </a:solidFill>
                <a:latin typeface="Helvetica Neue"/>
              </a:defRPr>
            </a:pPr>
            <a:r>
              <a:t>The prev_fd trick: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10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Each iteration saves the read end of the current pipe as prev_fd.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The next command reads from prev_fd and writes to a brand new pipe.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This chains any number of commands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8A6FF"/>
                </a:solidFill>
                <a:latin typeface="Helvetica Neue"/>
              </a:defRPr>
            </a:pPr>
            <a:r>
              <a:t>Step 7:  Operators  ( ;  &amp;&amp;  || 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76200" wrap="square"/>
          <a:lstStyle/>
          <a:p>
            <a:pPr algn="l">
              <a:defRPr sz="1600" b="0">
                <a:solidFill>
                  <a:srgbClr val="C9D1D9"/>
                </a:solidFill>
                <a:latin typeface="Menlo"/>
              </a:defRPr>
            </a:pPr>
            <a:r>
              <a:t>  ;    Always run the next command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20"/>
            <a:ext cx="50292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76200" wrap="square"/>
          <a:lstStyle/>
          <a:p>
            <a:pPr algn="l">
              <a:defRPr sz="1600" b="0">
                <a:solidFill>
                  <a:srgbClr val="C9D1D9"/>
                </a:solidFill>
                <a:latin typeface="Menlo"/>
              </a:defRPr>
            </a:pPr>
            <a:r>
              <a:t>  &amp;&amp;    Run next only if previous succeeded (exit 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0292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76200" wrap="square"/>
          <a:lstStyle/>
          <a:p>
            <a:pPr algn="l">
              <a:defRPr sz="1600" b="0">
                <a:solidFill>
                  <a:srgbClr val="C9D1D9"/>
                </a:solidFill>
                <a:latin typeface="Menlo"/>
              </a:defRPr>
            </a:pPr>
            <a:r>
              <a:t>  ||    Run next only if previous failed (exit ≠ 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27432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gcc main.c &amp;&amp; ./a.out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→ runs a.out only if gcc succeeded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gcc main.c || echo FAIL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→ echoes FAIL only if gcc failed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echo hi ; ls ; pwd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→ all three run no matter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83E"/>
                </a:solidFill>
                <a:latin typeface="Helvetica Neue"/>
              </a:defRPr>
            </a:pPr>
            <a:r>
              <a:t>How it works in run_command_line():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8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1.  Walk tokens left to right, scanning for operators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2.  Each operator marks the end of a segment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3.  Before running a segment, check: should we skip?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8B949E"/>
                </a:solidFill>
                <a:latin typeface="Helvetica Neue"/>
              </a:defRPr>
            </a:pPr>
            <a:r>
              <a:t>     •  Previous was &amp;&amp;  but last command failed  →  skip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8B949E"/>
                </a:solidFill>
                <a:latin typeface="Helvetica Neue"/>
              </a:defRPr>
            </a:pPr>
            <a:r>
              <a:t>     •  Previous was ||  but last command succeeded  →  skip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4.  Otherwise: expand globs → check for pipes → check builtins → execute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8A6FF"/>
                </a:solidFill>
                <a:latin typeface="Helvetica Neue"/>
              </a:defRPr>
            </a:pPr>
            <a:r>
              <a:t>Step 7:  Glob Expansion  ( *.c  and  ? 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Helvetica Neue"/>
              </a:defRPr>
            </a:pPr>
            <a:r>
              <a:t>The shell expands wildcards before the command ever sees them: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943600" cy="13716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ls *.c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→ the shell expands this to: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ls main.c pipes.c executor.c tokenizer.c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83E"/>
                </a:solidFill>
                <a:latin typeface="Helvetica Neue"/>
              </a:defRPr>
            </a:pPr>
            <a:r>
              <a:t>Algorithm: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8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1.  For each token, check:  does it contain * or ?     (strchr)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2.  If yes → call glob() to find all matching filenames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3.  Splice the matches into a new token array, replacing the wildcard token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4.  If no matches → keep the original token as-is (same as bash)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9D1D9"/>
                </a:solidFill>
                <a:latin typeface="Helvetica Neue"/>
              </a:defRPr>
            </a:pPr>
            <a:r>
              <a:t>5.  Free the old array, use the expanded one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400"/>
              </a:spcBef>
              <a:defRPr sz="1700" b="0">
                <a:solidFill>
                  <a:srgbClr val="8B949E"/>
                </a:solidFill>
                <a:latin typeface="Helvetica Neue"/>
              </a:defRPr>
            </a:pPr>
            <a:r>
              <a:t>Called in operators.c before dispatching each segment. Each token is checked independently.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8A6FF"/>
                </a:solidFill>
                <a:latin typeface="Helvetica Neue"/>
              </a:defRPr>
            </a:pPr>
            <a:r>
              <a:t>Step 8:  Raw-Mode Line Editor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Helvetica Neue"/>
              </a:defRPr>
            </a:pPr>
            <a:r>
              <a:t>Problem:  getline() uses "cooked mode" — no control over arrow keys, history, or display.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C9D1D9"/>
                </a:solidFill>
                <a:latin typeface="Helvetica Neue"/>
              </a:defRPr>
            </a:pPr>
            <a:r>
              <a:t>Solution:  Switch to raw mode using the termios API.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029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2000" b="1">
                <a:solidFill>
                  <a:srgbClr val="58A6FF"/>
                </a:solidFill>
                <a:latin typeface="Helvetica Neue"/>
              </a:defRPr>
            </a:pPr>
            <a:r>
              <a:t>termios settings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0883E"/>
                </a:solidFill>
                <a:latin typeface="Menlo"/>
              </a:defRPr>
            </a:pPr>
            <a:r>
              <a:t>tcgetattr() — save current settings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0883E"/>
                </a:solidFill>
                <a:latin typeface="Menlo"/>
              </a:defRPr>
            </a:pPr>
            <a:r>
              <a:t>tcsetattr() — apply raw mode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C9D1D9"/>
                </a:solidFill>
                <a:latin typeface="Helvetica Neue"/>
              </a:defRPr>
            </a:pPr>
            <a:r>
              <a:t>Disable ECHO: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8B949E"/>
                </a:solidFill>
                <a:latin typeface="Helvetica Neue"/>
              </a:defRPr>
            </a:pPr>
            <a:r>
              <a:t>Typed characters are NOT auto-printed. We manually write() each one to the screen.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C9D1D9"/>
                </a:solidFill>
                <a:latin typeface="Helvetica Neue"/>
              </a:defRPr>
            </a:pPr>
            <a:r>
              <a:t>Disable ICANON: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8B949E"/>
                </a:solidFill>
                <a:latin typeface="Helvetica Neue"/>
              </a:defRPr>
            </a:pPr>
            <a:r>
              <a:t>Input is delivered one character at a time, instead of waiting for Enter.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C9D1D9"/>
                </a:solidFill>
                <a:latin typeface="Helvetica Neue"/>
              </a:defRPr>
            </a:pPr>
            <a:r>
              <a:t>VMIN=1, VTIME=0: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8B949E"/>
                </a:solidFill>
                <a:latin typeface="Helvetica Neue"/>
              </a:defRPr>
            </a:pPr>
            <a:r>
              <a:t>read() blocks until at least 1 byte arrives.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94560"/>
            <a:ext cx="530352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2000" b="1">
                <a:solidFill>
                  <a:srgbClr val="58A6FF"/>
                </a:solidFill>
                <a:latin typeface="Helvetica Neue"/>
              </a:defRPr>
            </a:pPr>
            <a:r>
              <a:t>Character handling loop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F0883E"/>
                </a:solidFill>
                <a:latin typeface="Helvetica Neue"/>
              </a:defRPr>
            </a:pPr>
            <a:r>
              <a:t>Printable (32–126):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9D1D9"/>
                </a:solidFill>
                <a:latin typeface="Helvetica Neue"/>
              </a:defRPr>
            </a:pPr>
            <a:r>
              <a:t>Append to buffer + echo to screen</a:t>
            </a:r>
          </a:p>
          <a:p>
            <a:pPr algn="l">
              <a:spcBef>
                <a:spcPts val="800"/>
              </a:spcBef>
              <a:defRPr sz="1700" b="1">
                <a:solidFill>
                  <a:srgbClr val="F0883E"/>
                </a:solidFill>
                <a:latin typeface="Helvetica Neue"/>
              </a:defRPr>
            </a:pPr>
            <a:r>
              <a:t>Enter: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9D1D9"/>
                </a:solidFill>
                <a:latin typeface="Helvetica Neue"/>
              </a:defRPr>
            </a:pPr>
            <a:r>
              <a:t>Null-terminate, save to history, return</a:t>
            </a:r>
          </a:p>
          <a:p>
            <a:pPr algn="l">
              <a:spcBef>
                <a:spcPts val="800"/>
              </a:spcBef>
              <a:defRPr sz="1700" b="1">
                <a:solidFill>
                  <a:srgbClr val="F0883E"/>
                </a:solidFill>
                <a:latin typeface="Helvetica Neue"/>
              </a:defRPr>
            </a:pPr>
            <a:r>
              <a:t>Backspace (127):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9D1D9"/>
                </a:solidFill>
                <a:latin typeface="Helvetica Neue"/>
              </a:defRPr>
            </a:pPr>
            <a:r>
              <a:t>Erase last char from buffer + screen</a:t>
            </a:r>
          </a:p>
          <a:p>
            <a:pPr algn="l">
              <a:spcBef>
                <a:spcPts val="800"/>
              </a:spcBef>
              <a:defRPr sz="1700" b="1">
                <a:solidFill>
                  <a:srgbClr val="F0883E"/>
                </a:solidFill>
                <a:latin typeface="Helvetica Neue"/>
              </a:defRPr>
            </a:pPr>
            <a:r>
              <a:t>Arrow keys (escape sequences):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9D1D9"/>
                </a:solidFill>
                <a:latin typeface="Helvetica Neue"/>
              </a:defRPr>
            </a:pPr>
            <a:r>
              <a:t>Up/Down: cycle through history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9D1D9"/>
                </a:solidFill>
                <a:latin typeface="Helvetica Neue"/>
              </a:defRPr>
            </a:pPr>
            <a:r>
              <a:t>Left/Right: move cursor position</a:t>
            </a:r>
          </a:p>
          <a:p>
            <a:pPr algn="l">
              <a:spcBef>
                <a:spcPts val="800"/>
              </a:spcBef>
              <a:defRPr sz="1700" b="1">
                <a:solidFill>
                  <a:srgbClr val="F0883E"/>
                </a:solidFill>
                <a:latin typeface="Helvetica Neue"/>
              </a:defRPr>
            </a:pPr>
            <a:r>
              <a:t>Ctrl+D (byte 4):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9D1D9"/>
                </a:solidFill>
                <a:latin typeface="Helvetica Neue"/>
              </a:defRPr>
            </a:pPr>
            <a:r>
              <a:t>Free buffer, return NULL (EOF signal)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8A6FF"/>
                </a:solidFill>
                <a:latin typeface="Helvetica Neue"/>
              </a:defRPr>
            </a:pPr>
            <a:r>
              <a:t>Step 8:  Command History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2000" b="1">
                <a:solidFill>
                  <a:srgbClr val="58A6FF"/>
                </a:solidFill>
                <a:latin typeface="Helvetica Neue"/>
              </a:defRPr>
            </a:pPr>
            <a:r>
              <a:t>History implementation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8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Static array of strdup'd strings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Up to 100 entries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add_to_history() saves non-empty lines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When full: free oldest, memmove all down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Up/Down arrows adjust history_index</a:t>
            </a:r>
          </a:p>
          <a:p>
            <a:pPr algn="l">
              <a:spcBef>
                <a:spcPts val="1000"/>
              </a:spcBef>
              <a:defRPr sz="10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0883E"/>
                </a:solidFill>
                <a:latin typeface="Helvetica Neue"/>
              </a:defRPr>
            </a:pPr>
            <a:r>
              <a:t>Redrawing on navigation: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9D1D9"/>
                </a:solidFill>
                <a:latin typeface="Menlo"/>
              </a:defRPr>
            </a:pPr>
            <a:r>
              <a:t>write("\r")     → cursor to column 0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Menlo"/>
              </a:defRPr>
            </a:pPr>
            <a:r>
              <a:t>write("\033[K") → erase to end of line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Menlo"/>
              </a:defRPr>
            </a:pPr>
            <a:r>
              <a:t>write("jsh $ ") → reprint prompt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9D1D9"/>
                </a:solidFill>
                <a:latin typeface="Menlo"/>
              </a:defRPr>
            </a:pPr>
            <a:r>
              <a:t>write(buffer)   → print history entry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30352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2000" b="1">
                <a:solidFill>
                  <a:srgbClr val="58A6FF"/>
                </a:solidFill>
                <a:latin typeface="Helvetica Neue"/>
              </a:defRPr>
            </a:pPr>
            <a:r>
              <a:t>Arrow key escape sequences</a:t>
            </a:r>
          </a:p>
          <a:p>
            <a:pPr algn="l">
              <a:spcBef>
                <a:spcPts val="800"/>
              </a:spcBef>
              <a:defRPr sz="1700" b="0">
                <a:solidFill>
                  <a:srgbClr val="8B949E"/>
                </a:solidFill>
                <a:latin typeface="Helvetica Neue"/>
              </a:defRPr>
            </a:pPr>
            <a:r>
              <a:t>Arrow keys send 3 bytes each: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F0883E"/>
                </a:solidFill>
                <a:latin typeface="Menlo"/>
              </a:defRPr>
            </a:pPr>
            <a:r>
              <a:t>\033 [ A  =  Up arrow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0883E"/>
                </a:solidFill>
                <a:latin typeface="Menlo"/>
              </a:defRPr>
            </a:pPr>
            <a:r>
              <a:t>\033 [ B  =  Down arrow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0883E"/>
                </a:solidFill>
                <a:latin typeface="Menlo"/>
              </a:defRPr>
            </a:pPr>
            <a:r>
              <a:t>\033 [ C  =  Right arrow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0883E"/>
                </a:solidFill>
                <a:latin typeface="Menlo"/>
              </a:defRPr>
            </a:pPr>
            <a:r>
              <a:t>\033 [ D  =  Left arrow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C9D1D9"/>
                </a:solidFill>
                <a:latin typeface="Helvetica Neue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8B949E"/>
                </a:solidFill>
                <a:latin typeface="Helvetica Neue"/>
              </a:defRPr>
            </a:pPr>
            <a:r>
              <a:t>When \033 is detected, read 2 more bytes to identify which arrow key was pressed.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663440"/>
            <a:ext cx="530352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1800" b="1">
                <a:solidFill>
                  <a:srgbClr val="58A6FF"/>
                </a:solidFill>
                <a:latin typeface="Helvetica Neue"/>
              </a:defRPr>
            </a:pPr>
            <a:r>
              <a:t>ensure_newline()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8B949E"/>
                </a:solidFill>
                <a:latin typeface="Helvetica Neue"/>
              </a:defRPr>
            </a:pPr>
            <a:r>
              <a:t>Queries cursor column via \033[6n (Device Status Report). If cursor is not at column 1, prints a newline so the prompt starts on a fresh 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Helvetica Neue"/>
              </a:defRPr>
            </a:pPr>
            <a:r>
              <a:t>Key System Calls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50292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76200" wrap="square"/>
          <a:lstStyle/>
          <a:p>
            <a:pPr algn="l">
              <a:defRPr sz="1500" b="1">
                <a:solidFill>
                  <a:srgbClr val="58A6FF"/>
                </a:solidFill>
                <a:latin typeface="Menlo"/>
              </a:defRPr>
            </a:pPr>
            <a:r>
              <a:t>System Call                      What It Does                              Used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50800" wrap="square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fork()                          Clone the current process                 executor, pipes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04288"/>
            <a:ext cx="1051560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50800" wrap="square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execvp()                        Replace process with a command            executor, pipes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79776"/>
            <a:ext cx="1051560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50800" wrap="square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waitpid()                       Wait for a child to finish                executor, pipes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55264"/>
            <a:ext cx="1051560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50800" wrap="square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pipe()                          Create a one-way data channel             pipes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30752"/>
            <a:ext cx="1051560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50800" wrap="square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dup2()                          Retune a file descriptor                  redirections, pipes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1051560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50800" wrap="square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open()                          Open a file, get an fd                    redirections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81728"/>
            <a:ext cx="1051560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50800" wrap="square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signal()                        Set signal handler (IGN/DFL)              main, executor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57216"/>
            <a:ext cx="1051560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50800" wrap="square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tcgetattr / tcsetattr           Get / set terminal mode                   terminal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32704"/>
            <a:ext cx="1051560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50800" wrap="square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glob()                          Expand wildcard patterns                  globbing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108192"/>
            <a:ext cx="1051560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50800" wrap="square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chdir() / getcwd()              Change / get working dir                  builtins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Helvetica Neue"/>
              </a:defRPr>
            </a:pPr>
            <a:r>
              <a:t>Difficulties &amp; Design Choices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>
              <a:defRPr sz="1700" b="1">
                <a:solidFill>
                  <a:srgbClr val="F0883E"/>
                </a:solidFill>
                <a:latin typeface="Helvetica Neue"/>
              </a:defRPr>
            </a:pPr>
            <a:r>
              <a:t>Pipe fd leaks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8B949E"/>
                </a:solidFill>
                <a:latin typeface="Helvetica Neue"/>
              </a:defRPr>
            </a:pPr>
            <a:r>
              <a:t>Forgetting to close unused pipe ends caused children to hang forever waiting for EOF. Every fd must be closed in every process that doesn't use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1051560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>
              <a:defRPr sz="1700" b="1">
                <a:solidFill>
                  <a:srgbClr val="F0883E"/>
                </a:solidFill>
                <a:latin typeface="Helvetica Neue"/>
              </a:defRPr>
            </a:pPr>
            <a:r>
              <a:t>cd must be a builtin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8B949E"/>
                </a:solidFill>
                <a:latin typeface="Helvetica Neue"/>
              </a:defRPr>
            </a:pPr>
            <a:r>
              <a:t>Running cd in a forked child changes the child's directory — which is useless because the child exits immediately. cd must call chdir() in the parent.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51560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>
              <a:defRPr sz="1700" b="1">
                <a:solidFill>
                  <a:srgbClr val="F0883E"/>
                </a:solidFill>
                <a:latin typeface="Helvetica Neue"/>
              </a:defRPr>
            </a:pPr>
            <a:r>
              <a:t>Redirections in the child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8B949E"/>
                </a:solidFill>
                <a:latin typeface="Helvetica Neue"/>
              </a:defRPr>
            </a:pPr>
            <a:r>
              <a:t>Redirections must run after fork() but before execvp(), so the parent's file descriptors stay untouched for the next 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51560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>
              <a:defRPr sz="1700" b="1">
                <a:solidFill>
                  <a:srgbClr val="F0883E"/>
                </a:solidFill>
                <a:latin typeface="Helvetica Neue"/>
              </a:defRPr>
            </a:pPr>
            <a:r>
              <a:t>Raw mode complexity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8B949E"/>
                </a:solidFill>
                <a:latin typeface="Helvetica Neue"/>
              </a:defRPr>
            </a:pPr>
            <a:r>
              <a:t>Had to handle every character manually: printable chars, backspace, escape sequences (3-byte arrow keys), Ctrl+D. Plus restore terminal settings on every exit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94960"/>
            <a:ext cx="1051560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>
              <a:defRPr sz="1700" b="1">
                <a:solidFill>
                  <a:srgbClr val="F0883E"/>
                </a:solidFill>
                <a:latin typeface="Helvetica Neue"/>
              </a:defRPr>
            </a:pPr>
            <a:r>
              <a:t>Memory discipline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8B949E"/>
                </a:solidFill>
                <a:latin typeface="Helvetica Neue"/>
              </a:defRPr>
            </a:pPr>
            <a:r>
              <a:t>Every malloc has a matching free. Token arrays, line buffers, glob results, history entries — all freed after use. No leaks in normal flow.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Helvetica Neue"/>
              </a:defRPr>
            </a:pPr>
            <a:r>
              <a:t>Code Quality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2000" b="1">
                <a:solidFill>
                  <a:srgbClr val="58A6FF"/>
                </a:solidFill>
                <a:latin typeface="Helvetica Neue"/>
              </a:defRPr>
            </a:pPr>
            <a:r>
              <a:t>Structure</a:t>
            </a:r>
          </a:p>
          <a:p>
            <a:pPr algn="l">
              <a:spcBef>
                <a:spcPts val="8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9 source files, each with one job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One shared header: shell.h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Clean separation of concerns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No global state (except history)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502920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2000" b="1">
                <a:solidFill>
                  <a:srgbClr val="58A6FF"/>
                </a:solidFill>
                <a:latin typeface="Helvetica Neue"/>
              </a:defRPr>
            </a:pPr>
            <a:r>
              <a:t>Build</a:t>
            </a:r>
          </a:p>
          <a:p>
            <a:pPr algn="l">
              <a:spcBef>
                <a:spcPts val="8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Makefile with all, clean, re targets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Compiles with -Wall -Wextra -Werror</a:t>
            </a:r>
          </a:p>
          <a:p>
            <a:pPr algn="l">
              <a:spcBef>
                <a:spcPts val="600"/>
              </a:spcBef>
              <a:defRPr sz="1700" b="1">
                <a:solidFill>
                  <a:srgbClr val="F0883E"/>
                </a:solidFill>
                <a:latin typeface="Helvetica Neue"/>
              </a:defRPr>
            </a:pPr>
            <a:r>
              <a:t>•  Zero warnings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C99 standard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2000" b="1">
                <a:solidFill>
                  <a:srgbClr val="58A6FF"/>
                </a:solidFill>
                <a:latin typeface="Helvetica Neue"/>
              </a:defRPr>
            </a:pPr>
            <a:r>
              <a:t>Style</a:t>
            </a:r>
          </a:p>
          <a:p>
            <a:pPr algn="l">
              <a:spcBef>
                <a:spcPts val="8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Consistent brace style throughout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Every function has a doc comment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Inline comments explain the "why"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~900 lines total — no bloat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30352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l">
              <a:defRPr sz="2000" b="1">
                <a:solidFill>
                  <a:srgbClr val="58A6FF"/>
                </a:solidFill>
                <a:latin typeface="Helvetica Neue"/>
              </a:defRPr>
            </a:pPr>
            <a:r>
              <a:t>Safety</a:t>
            </a:r>
          </a:p>
          <a:p>
            <a:pPr algn="l">
              <a:spcBef>
                <a:spcPts val="8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All malloc/realloc checked for NULL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All fork/pipe/open errors handled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perror() on every failure path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C9D1D9"/>
                </a:solidFill>
                <a:latin typeface="Helvetica Neue"/>
              </a:defRPr>
            </a:pPr>
            <a:r>
              <a:t>•  No memory leaks in normal flow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Helvetica Neue"/>
              </a:defRPr>
            </a:pPr>
            <a:r>
              <a:t>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144000" cy="45720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l">
              <a:defRPr sz="1400" b="0">
                <a:solidFill>
                  <a:srgbClr val="C9D1D9"/>
                </a:solidFill>
                <a:latin typeface="Menlo"/>
              </a:defRPr>
            </a:pPr>
            <a:r>
              <a:t>$ make &amp;&amp; ./jsh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jsh $ echo hello world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jsh $ ls -la | grep .c | wc -l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jsh $ echo hi &gt; out.txt &amp;&amp; cat out.txt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jsh $ gcc main.c || echo "compilation failed"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jsh $ cd /tmp ; pwd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jsh $ ls *.c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jsh $ ↑ ↓  (arrow keys for history)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jsh $ Ctrl+C  (kills running command, not the shell)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C9D1D9"/>
                </a:solidFill>
                <a:latin typeface="Menlo"/>
              </a:defRPr>
            </a:pPr>
            <a:r>
              <a:t>jsh $ Ctrl+D  (exits)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58A6FF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79C0FF"/>
                </a:solidFill>
                <a:latin typeface="Helvetica Neue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