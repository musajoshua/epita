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6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charts/chart1.xml" ContentType="application/vnd.openxmlformats-officedocument.drawingml.char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70"/>
  </p:notesMasterIdLst>
  <p:handoutMasterIdLst>
    <p:handoutMasterId r:id="rId71"/>
  </p:handoutMasterIdLst>
  <p:sldIdLst>
    <p:sldId id="256" r:id="rId2"/>
    <p:sldId id="541" r:id="rId3"/>
    <p:sldId id="567" r:id="rId4"/>
    <p:sldId id="568" r:id="rId5"/>
    <p:sldId id="934" r:id="rId6"/>
    <p:sldId id="460" r:id="rId7"/>
    <p:sldId id="261" r:id="rId8"/>
    <p:sldId id="392" r:id="rId9"/>
    <p:sldId id="548" r:id="rId10"/>
    <p:sldId id="914" r:id="rId11"/>
    <p:sldId id="487" r:id="rId12"/>
    <p:sldId id="915" r:id="rId13"/>
    <p:sldId id="917" r:id="rId14"/>
    <p:sldId id="916" r:id="rId15"/>
    <p:sldId id="538" r:id="rId16"/>
    <p:sldId id="496" r:id="rId17"/>
    <p:sldId id="498" r:id="rId18"/>
    <p:sldId id="497" r:id="rId19"/>
    <p:sldId id="935" r:id="rId20"/>
    <p:sldId id="503" r:id="rId21"/>
    <p:sldId id="501" r:id="rId22"/>
    <p:sldId id="919" r:id="rId23"/>
    <p:sldId id="550" r:id="rId24"/>
    <p:sldId id="502" r:id="rId25"/>
    <p:sldId id="488" r:id="rId26"/>
    <p:sldId id="936" r:id="rId27"/>
    <p:sldId id="938" r:id="rId28"/>
    <p:sldId id="937" r:id="rId29"/>
    <p:sldId id="544" r:id="rId30"/>
    <p:sldId id="545" r:id="rId31"/>
    <p:sldId id="932" r:id="rId32"/>
    <p:sldId id="493" r:id="rId33"/>
    <p:sldId id="494" r:id="rId34"/>
    <p:sldId id="489" r:id="rId35"/>
    <p:sldId id="522" r:id="rId36"/>
    <p:sldId id="519" r:id="rId37"/>
    <p:sldId id="520" r:id="rId38"/>
    <p:sldId id="521" r:id="rId39"/>
    <p:sldId id="525" r:id="rId40"/>
    <p:sldId id="526" r:id="rId41"/>
    <p:sldId id="505" r:id="rId42"/>
    <p:sldId id="506" r:id="rId43"/>
    <p:sldId id="529" r:id="rId44"/>
    <p:sldId id="530" r:id="rId45"/>
    <p:sldId id="531" r:id="rId46"/>
    <p:sldId id="532" r:id="rId47"/>
    <p:sldId id="533" r:id="rId48"/>
    <p:sldId id="534" r:id="rId49"/>
    <p:sldId id="536" r:id="rId50"/>
    <p:sldId id="535" r:id="rId51"/>
    <p:sldId id="476" r:id="rId52"/>
    <p:sldId id="920" r:id="rId53"/>
    <p:sldId id="482" r:id="rId54"/>
    <p:sldId id="921" r:id="rId55"/>
    <p:sldId id="922" r:id="rId56"/>
    <p:sldId id="418" r:id="rId57"/>
    <p:sldId id="495" r:id="rId58"/>
    <p:sldId id="564" r:id="rId59"/>
    <p:sldId id="517" r:id="rId60"/>
    <p:sldId id="518" r:id="rId61"/>
    <p:sldId id="923" r:id="rId62"/>
    <p:sldId id="924" r:id="rId63"/>
    <p:sldId id="925" r:id="rId64"/>
    <p:sldId id="929" r:id="rId65"/>
    <p:sldId id="798" r:id="rId66"/>
    <p:sldId id="927" r:id="rId67"/>
    <p:sldId id="928" r:id="rId68"/>
    <p:sldId id="315"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11"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clrMru>
    <a:srgbClr val="185CB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846" autoAdjust="0"/>
  </p:normalViewPr>
  <p:slideViewPr>
    <p:cSldViewPr snapToGrid="0" snapToObjects="1">
      <p:cViewPr varScale="1">
        <p:scale>
          <a:sx n="103" d="100"/>
          <a:sy n="103" d="100"/>
        </p:scale>
        <p:origin x="1808" y="480"/>
      </p:cViewPr>
      <p:guideLst>
        <p:guide orient="horz" pos="1911"/>
        <p:guide pos="2880"/>
      </p:guideLst>
    </p:cSldViewPr>
  </p:slideViewPr>
  <p:notesTextViewPr>
    <p:cViewPr>
      <p:scale>
        <a:sx n="100" d="100"/>
        <a:sy n="100" d="100"/>
      </p:scale>
      <p:origin x="0" y="0"/>
    </p:cViewPr>
  </p:notesTextViewPr>
  <p:sorterViewPr>
    <p:cViewPr>
      <p:scale>
        <a:sx n="141" d="100"/>
        <a:sy n="141" d="100"/>
      </p:scale>
      <p:origin x="0" y="651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78"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sylvieappriou:Documents:Spano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pieChart>
        <c:varyColors val="1"/>
        <c:ser>
          <c:idx val="0"/>
          <c:order val="0"/>
          <c:explosion val="25"/>
          <c:cat>
            <c:strRef>
              <c:f>Sheet2!$A$2:$A$3</c:f>
              <c:strCache>
                <c:ptCount val="2"/>
                <c:pt idx="0">
                  <c:v>Operational support</c:v>
                </c:pt>
                <c:pt idx="1">
                  <c:v>Projects</c:v>
                </c:pt>
              </c:strCache>
            </c:strRef>
          </c:cat>
          <c:val>
            <c:numRef>
              <c:f>Sheet2!$B$2:$B$3</c:f>
              <c:numCache>
                <c:formatCode>0%</c:formatCode>
                <c:ptCount val="2"/>
                <c:pt idx="0">
                  <c:v>0.8</c:v>
                </c:pt>
                <c:pt idx="1">
                  <c:v>0.2</c:v>
                </c:pt>
              </c:numCache>
            </c:numRef>
          </c:val>
          <c:extLst>
            <c:ext xmlns:c16="http://schemas.microsoft.com/office/drawing/2014/chart" uri="{C3380CC4-5D6E-409C-BE32-E72D297353CC}">
              <c16:uniqueId val="{00000000-AC43-E047-9A7D-2F0488301A90}"/>
            </c:ext>
          </c:extLst>
        </c:ser>
        <c:dLbls>
          <c:showLegendKey val="0"/>
          <c:showVal val="0"/>
          <c:showCatName val="0"/>
          <c:showSerName val="0"/>
          <c:showPercent val="0"/>
          <c:showBubbleSize val="0"/>
          <c:showLeaderLines val="1"/>
        </c:dLbls>
        <c:firstSliceAng val="0"/>
      </c:pieChart>
    </c:plotArea>
    <c:legend>
      <c:legendPos val="r"/>
      <c:overlay val="0"/>
    </c:legend>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D9F7FC8-EDF1-B745-B794-DEBC2B28F3A5}" type="datetimeFigureOut">
              <a:rPr lang="en-US" smtClean="0"/>
              <a:t>9/17/25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CC7BF8-8EEA-E746-B6B1-70A030903C56}" type="slidenum">
              <a:rPr lang="en-US" smtClean="0"/>
              <a:t>‹#›</a:t>
            </a:fld>
            <a:endParaRPr lang="en-US"/>
          </a:p>
        </p:txBody>
      </p:sp>
    </p:spTree>
    <p:extLst>
      <p:ext uri="{BB962C8B-B14F-4D97-AF65-F5344CB8AC3E}">
        <p14:creationId xmlns:p14="http://schemas.microsoft.com/office/powerpoint/2010/main" val="2816195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97C15C-9360-D846-82FF-FB09835C3991}" type="datetimeFigureOut">
              <a:rPr lang="en-US" smtClean="0"/>
              <a:t>9/17/25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098D7-F03D-454D-A4F0-32B46C79E6C0}" type="slidenum">
              <a:rPr lang="en-US" smtClean="0"/>
              <a:t>‹#›</a:t>
            </a:fld>
            <a:endParaRPr lang="en-US"/>
          </a:p>
        </p:txBody>
      </p:sp>
    </p:spTree>
    <p:extLst>
      <p:ext uri="{BB962C8B-B14F-4D97-AF65-F5344CB8AC3E}">
        <p14:creationId xmlns:p14="http://schemas.microsoft.com/office/powerpoint/2010/main" val="106201930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fr-FR"/>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Click to edit Master subtitle style</a:t>
            </a:r>
            <a:endParaRPr lang="en-US" dirty="0"/>
          </a:p>
        </p:txBody>
      </p:sp>
      <p:sp>
        <p:nvSpPr>
          <p:cNvPr id="4" name="Date Placeholder 3"/>
          <p:cNvSpPr>
            <a:spLocks noGrp="1"/>
          </p:cNvSpPr>
          <p:nvPr>
            <p:ph type="dt" sz="half" idx="10"/>
          </p:nvPr>
        </p:nvSpPr>
        <p:spPr/>
        <p:txBody>
          <a:bodyPr/>
          <a:lstStyle/>
          <a:p>
            <a:fld id="{E30E2307-1E40-4E12-8716-25BFDA8E7013}"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p>
            <a:fld id="{61FD9D02-426E-46C9-9EE9-0DE1EF8B2838}"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
        <p:nvSpPr>
          <p:cNvPr id="7" name="Title 6"/>
          <p:cNvSpPr>
            <a:spLocks noGrp="1"/>
          </p:cNvSpPr>
          <p:nvPr>
            <p:ph type="title"/>
          </p:nvPr>
        </p:nvSpPr>
        <p:spPr/>
        <p:txBody>
          <a:bodyPr/>
          <a:lstStyle/>
          <a:p>
            <a:r>
              <a:rPr lang="fr-FR"/>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fr-FR"/>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Click to edit Master text styles</a:t>
            </a:r>
          </a:p>
        </p:txBody>
      </p:sp>
      <p:sp>
        <p:nvSpPr>
          <p:cNvPr id="4" name="Date Placeholder 3"/>
          <p:cNvSpPr>
            <a:spLocks noGrp="1"/>
          </p:cNvSpPr>
          <p:nvPr>
            <p:ph type="dt" sz="half" idx="10"/>
          </p:nvPr>
        </p:nvSpPr>
        <p:spPr/>
        <p:txBody>
          <a:bodyPr/>
          <a:lstStyle/>
          <a:p>
            <a:fld id="{7B8AEBBE-F8B2-42CF-9895-E86A608384EB}"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5" name="Date Placeholder 4"/>
          <p:cNvSpPr>
            <a:spLocks noGrp="1"/>
          </p:cNvSpPr>
          <p:nvPr>
            <p:ph type="dt" sz="half" idx="10"/>
          </p:nvPr>
        </p:nvSpPr>
        <p:spPr/>
        <p:txBody>
          <a:bodyPr/>
          <a:lstStyle/>
          <a:p>
            <a:fld id="{E1FAA6B6-10E5-4810-BC9F-DA72D8452E73}" type="datetime1">
              <a:rPr lang="en-US" smtClean="0"/>
              <a:pPr/>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7" name="Date Placeholder 6"/>
          <p:cNvSpPr>
            <a:spLocks noGrp="1"/>
          </p:cNvSpPr>
          <p:nvPr>
            <p:ph type="dt" sz="half" idx="10"/>
          </p:nvPr>
        </p:nvSpPr>
        <p:spPr/>
        <p:txBody>
          <a:bodyPr/>
          <a:lstStyle/>
          <a:p>
            <a:fld id="{6D18D072-EF12-4AA2-BD71-ABC68B06D0E2}" type="datetime1">
              <a:rPr lang="en-US" smtClean="0"/>
              <a:pPr/>
              <a:t>9/17/25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Date Placeholder 2"/>
          <p:cNvSpPr>
            <a:spLocks noGrp="1"/>
          </p:cNvSpPr>
          <p:nvPr>
            <p:ph type="dt" sz="half" idx="10"/>
          </p:nvPr>
        </p:nvSpPr>
        <p:spPr/>
        <p:txBody>
          <a:bodyPr/>
          <a:lstStyle/>
          <a:p>
            <a:fld id="{B8CDBF60-6CC3-4B74-A60D-3486985E4346}" type="datetime1">
              <a:rPr lang="en-US" smtClean="0"/>
              <a:pPr/>
              <a:t>9/17/25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22714818-984F-4759-BF72-A33BDC1963BD}" type="datetime1">
              <a:rPr lang="en-US" smtClean="0"/>
              <a:pPr/>
              <a:t>9/17/25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9EA7E191-5F94-4FC1-B823-BD7CABF7FA06}" type="datetime1">
              <a:rPr lang="en-US" smtClean="0"/>
              <a:pPr/>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fr-FR"/>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fr-FR"/>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4"/>
          <p:cNvSpPr>
            <a:spLocks noGrp="1"/>
          </p:cNvSpPr>
          <p:nvPr>
            <p:ph type="dt" sz="half" idx="10"/>
          </p:nvPr>
        </p:nvSpPr>
        <p:spPr/>
        <p:txBody>
          <a:bodyPr/>
          <a:lstStyle/>
          <a:p>
            <a:fld id="{88856D55-EFBE-4F9B-8A5F-09D42CA22A9B}" type="datetime1">
              <a:rPr lang="en-US" smtClean="0"/>
              <a:pPr/>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Drag picture to placeholder or click icon to add</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p>
            <a:fld id="{E5CFCF5A-EA79-452C-A52C-1A2668C2E7DF}"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E5C4C28-BD4B-4892-9A2D-6E19BD753A9A}" type="datetime1">
              <a:rPr lang="en-US" smtClean="0"/>
              <a:pPr/>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fr-FR"/>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fr-FR"/>
              <a:t>Click to edit Master title style</a:t>
            </a:r>
            <a:endParaRPr lang="en-US"/>
          </a:p>
        </p:txBody>
      </p:sp>
      <p:sp>
        <p:nvSpPr>
          <p:cNvPr id="3" name="Table Placeholder 2"/>
          <p:cNvSpPr>
            <a:spLocks noGrp="1"/>
          </p:cNvSpPr>
          <p:nvPr>
            <p:ph type="tbl" idx="1"/>
          </p:nvPr>
        </p:nvSpPr>
        <p:spPr>
          <a:xfrm>
            <a:off x="655638" y="1781175"/>
            <a:ext cx="7940675" cy="3571875"/>
          </a:xfrm>
        </p:spPr>
        <p:txBody>
          <a:bodyPr/>
          <a:lstStyle/>
          <a:p>
            <a:pPr lvl="0"/>
            <a:endParaRPr lang="en-US" noProof="0"/>
          </a:p>
        </p:txBody>
      </p:sp>
    </p:spTree>
    <p:extLst>
      <p:ext uri="{BB962C8B-B14F-4D97-AF65-F5344CB8AC3E}">
        <p14:creationId xmlns:p14="http://schemas.microsoft.com/office/powerpoint/2010/main" val="113855518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fr-FR"/>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D1D110F-3F4E-48D9-B8AA-5D0E825AFDBA}" type="datetime1">
              <a:rPr lang="en-US" smtClean="0"/>
              <a:pPr/>
              <a:t>9/17/25</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687D7A59-36E2-48B9-B146-C1E59501F63F}"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Lst>
  <p:hf sldNum="0"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3659"/>
            <a:ext cx="7772400" cy="1780108"/>
          </a:xfrm>
        </p:spPr>
        <p:txBody>
          <a:bodyPr>
            <a:normAutofit fontScale="90000"/>
          </a:bodyPr>
          <a:lstStyle/>
          <a:p>
            <a:r>
              <a:rPr lang="en-US" b="1" dirty="0"/>
              <a:t>Corporate Finance</a:t>
            </a:r>
            <a:br>
              <a:rPr lang="en-US" b="1" dirty="0"/>
            </a:br>
            <a:r>
              <a:rPr lang="en-US" sz="3100" b="1" dirty="0"/>
              <a:t>2. Planning and Budgeting</a:t>
            </a:r>
            <a:br>
              <a:rPr lang="en-US" sz="3600" dirty="0"/>
            </a:br>
            <a:br>
              <a:rPr lang="en-US" sz="3600" dirty="0"/>
            </a:br>
            <a:endParaRPr lang="en-US" dirty="0"/>
          </a:p>
        </p:txBody>
      </p:sp>
      <p:sp>
        <p:nvSpPr>
          <p:cNvPr id="3" name="Subtitle 2"/>
          <p:cNvSpPr>
            <a:spLocks noGrp="1"/>
          </p:cNvSpPr>
          <p:nvPr>
            <p:ph type="subTitle" idx="1"/>
          </p:nvPr>
        </p:nvSpPr>
        <p:spPr/>
        <p:txBody>
          <a:bodyPr/>
          <a:lstStyle/>
          <a:p>
            <a:r>
              <a:rPr lang="en-US" dirty="0"/>
              <a:t>International Masters </a:t>
            </a:r>
          </a:p>
          <a:p>
            <a:r>
              <a:rPr lang="en-US" dirty="0"/>
              <a:t>Fall 2025 program</a:t>
            </a:r>
          </a:p>
        </p:txBody>
      </p:sp>
      <p:pic>
        <p:nvPicPr>
          <p:cNvPr id="4" name="Image 3" descr="\\shares.ionis.epitech.net\EPITA_MASTER_INTERNATIONAUX\Logos\EPITA GRADUATE.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533" y="5798820"/>
            <a:ext cx="1869440" cy="1059180"/>
          </a:xfrm>
          <a:prstGeom prst="rect">
            <a:avLst/>
          </a:prstGeom>
          <a:noFill/>
          <a:ln w="9525">
            <a:noFill/>
            <a:miter lim="800000"/>
            <a:headEnd/>
            <a:tailEnd/>
          </a:ln>
        </p:spPr>
      </p:pic>
      <p:sp>
        <p:nvSpPr>
          <p:cNvPr id="5" name="TextBox 4"/>
          <p:cNvSpPr txBox="1"/>
          <p:nvPr/>
        </p:nvSpPr>
        <p:spPr>
          <a:xfrm>
            <a:off x="6481638" y="6338125"/>
            <a:ext cx="2433563" cy="369332"/>
          </a:xfrm>
          <a:prstGeom prst="rect">
            <a:avLst/>
          </a:prstGeom>
          <a:noFill/>
        </p:spPr>
        <p:txBody>
          <a:bodyPr wrap="square" rtlCol="0">
            <a:spAutoFit/>
          </a:bodyPr>
          <a:lstStyle/>
          <a:p>
            <a:pPr algn="r"/>
            <a:r>
              <a:rPr lang="en-US" b="1" dirty="0">
                <a:solidFill>
                  <a:srgbClr val="185CB9"/>
                </a:solidFill>
              </a:rPr>
              <a:t>©</a:t>
            </a:r>
            <a:r>
              <a:rPr lang="en-US" dirty="0"/>
              <a:t> </a:t>
            </a:r>
            <a:r>
              <a:rPr lang="en-US" b="1" dirty="0">
                <a:solidFill>
                  <a:srgbClr val="185CB9"/>
                </a:solidFill>
              </a:rPr>
              <a:t>Sylvie Appriou</a:t>
            </a:r>
          </a:p>
        </p:txBody>
      </p:sp>
    </p:spTree>
    <p:extLst>
      <p:ext uri="{BB962C8B-B14F-4D97-AF65-F5344CB8AC3E}">
        <p14:creationId xmlns:p14="http://schemas.microsoft.com/office/powerpoint/2010/main" val="861334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Sessions calendar</a:t>
            </a:r>
            <a:br>
              <a:rPr lang="en-US" dirty="0"/>
            </a:br>
            <a:r>
              <a:rPr lang="en-US" sz="3600" dirty="0"/>
              <a:t>Group 1</a:t>
            </a:r>
            <a:endParaRPr lang="en-US" dirty="0"/>
          </a:p>
        </p:txBody>
      </p:sp>
      <p:graphicFrame>
        <p:nvGraphicFramePr>
          <p:cNvPr id="4" name="Table 3"/>
          <p:cNvGraphicFramePr>
            <a:graphicFrameLocks noGrp="1"/>
          </p:cNvGraphicFramePr>
          <p:nvPr/>
        </p:nvGraphicFramePr>
        <p:xfrm>
          <a:off x="355600" y="2854960"/>
          <a:ext cx="8445502" cy="3441884"/>
        </p:xfrm>
        <a:graphic>
          <a:graphicData uri="http://schemas.openxmlformats.org/drawingml/2006/table">
            <a:tbl>
              <a:tblPr firstRow="1" bandRow="1">
                <a:tableStyleId>{6E25E649-3F16-4E02-A733-19D2CDBF48F0}</a:tableStyleId>
              </a:tblPr>
              <a:tblGrid>
                <a:gridCol w="831517">
                  <a:extLst>
                    <a:ext uri="{9D8B030D-6E8A-4147-A177-3AD203B41FA5}">
                      <a16:colId xmlns:a16="http://schemas.microsoft.com/office/drawing/2014/main" val="20000"/>
                    </a:ext>
                  </a:extLst>
                </a:gridCol>
                <a:gridCol w="2262560">
                  <a:extLst>
                    <a:ext uri="{9D8B030D-6E8A-4147-A177-3AD203B41FA5}">
                      <a16:colId xmlns:a16="http://schemas.microsoft.com/office/drawing/2014/main" val="20001"/>
                    </a:ext>
                  </a:extLst>
                </a:gridCol>
                <a:gridCol w="1814219">
                  <a:extLst>
                    <a:ext uri="{9D8B030D-6E8A-4147-A177-3AD203B41FA5}">
                      <a16:colId xmlns:a16="http://schemas.microsoft.com/office/drawing/2014/main" val="20002"/>
                    </a:ext>
                  </a:extLst>
                </a:gridCol>
                <a:gridCol w="907109">
                  <a:extLst>
                    <a:ext uri="{9D8B030D-6E8A-4147-A177-3AD203B41FA5}">
                      <a16:colId xmlns:a16="http://schemas.microsoft.com/office/drawing/2014/main" val="792141374"/>
                    </a:ext>
                  </a:extLst>
                </a:gridCol>
                <a:gridCol w="2630097">
                  <a:extLst>
                    <a:ext uri="{9D8B030D-6E8A-4147-A177-3AD203B41FA5}">
                      <a16:colId xmlns:a16="http://schemas.microsoft.com/office/drawing/2014/main" val="20003"/>
                    </a:ext>
                  </a:extLst>
                </a:gridCol>
              </a:tblGrid>
              <a:tr h="592712">
                <a:tc>
                  <a:txBody>
                    <a:bodyPr/>
                    <a:lstStyle/>
                    <a:p>
                      <a:pPr algn="ctr"/>
                      <a:r>
                        <a:rPr lang="en-US" sz="1400" dirty="0"/>
                        <a:t>Session</a:t>
                      </a:r>
                    </a:p>
                    <a:p>
                      <a:pPr algn="ctr"/>
                      <a:r>
                        <a:rPr lang="en-US" sz="1400" dirty="0" err="1"/>
                        <a:t>nb</a:t>
                      </a:r>
                      <a:endParaRPr lang="en-US" sz="1400" dirty="0"/>
                    </a:p>
                  </a:txBody>
                  <a:tcPr>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Date</a:t>
                      </a:r>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Time</a:t>
                      </a:r>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endParaRPr lang="en-US" sz="1400" dirty="0"/>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Contents</a:t>
                      </a:r>
                    </a:p>
                  </a:txBody>
                  <a:tcP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0"/>
                  </a:ext>
                </a:extLst>
              </a:tr>
              <a:tr h="414204">
                <a:tc>
                  <a:txBody>
                    <a:bodyPr/>
                    <a:lstStyle/>
                    <a:p>
                      <a:pPr algn="ctr"/>
                      <a:r>
                        <a:rPr lang="en-US" sz="1400" dirty="0"/>
                        <a:t>1</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October 22nd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09:00 - 11:00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KB404</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Introduction</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1"/>
                  </a:ext>
                </a:extLst>
              </a:tr>
              <a:tr h="414204">
                <a:tc>
                  <a:txBody>
                    <a:bodyPr/>
                    <a:lstStyle/>
                    <a:p>
                      <a:pPr algn="ctr"/>
                      <a:r>
                        <a:rPr lang="en-US" sz="1400" dirty="0"/>
                        <a:t>2</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October 29th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11:15 – 13:15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KB602</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2"/>
                  </a:ext>
                </a:extLst>
              </a:tr>
              <a:tr h="414204">
                <a:tc>
                  <a:txBody>
                    <a:bodyPr/>
                    <a:lstStyle/>
                    <a:p>
                      <a:pPr algn="ctr"/>
                      <a:r>
                        <a:rPr lang="en-US" sz="1400" dirty="0"/>
                        <a:t>3</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5th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09:00 - 11:00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KB305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3"/>
                  </a:ext>
                </a:extLst>
              </a:tr>
              <a:tr h="414204">
                <a:tc>
                  <a:txBody>
                    <a:bodyPr/>
                    <a:lstStyle/>
                    <a:p>
                      <a:pPr algn="ctr"/>
                      <a:r>
                        <a:rPr lang="en-US" sz="1400" dirty="0"/>
                        <a:t>4</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19th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10:00 – 12:00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KB305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210109926"/>
                  </a:ext>
                </a:extLst>
              </a:tr>
              <a:tr h="414204">
                <a:tc>
                  <a:txBody>
                    <a:bodyPr/>
                    <a:lstStyle/>
                    <a:p>
                      <a:pPr algn="ctr"/>
                      <a:r>
                        <a:rPr lang="en-US" sz="1400" dirty="0"/>
                        <a:t>5</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19th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15:30 – 17:30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KB302</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4268007003"/>
                  </a:ext>
                </a:extLst>
              </a:tr>
              <a:tr h="363948">
                <a:tc>
                  <a:txBody>
                    <a:bodyPr/>
                    <a:lstStyle/>
                    <a:p>
                      <a:pPr algn="ctr"/>
                      <a:r>
                        <a:rPr lang="en-US" sz="1400" dirty="0"/>
                        <a:t>6</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December 3rd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09:30 - 11:30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KB305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763352896"/>
                  </a:ext>
                </a:extLst>
              </a:tr>
              <a:tr h="414204">
                <a:tc>
                  <a:txBody>
                    <a:bodyPr/>
                    <a:lstStyle/>
                    <a:p>
                      <a:pPr algn="ctr"/>
                      <a:r>
                        <a:rPr lang="en-US" sz="1400" dirty="0"/>
                        <a:t>7</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Exam</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75358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382DE-D195-3CCE-FCE8-F2C763F80F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C4CD4F-510F-AA6F-2236-BC2B8B21F3C9}"/>
              </a:ext>
            </a:extLst>
          </p:cNvPr>
          <p:cNvSpPr>
            <a:spLocks noGrp="1"/>
          </p:cNvSpPr>
          <p:nvPr>
            <p:ph type="title"/>
          </p:nvPr>
        </p:nvSpPr>
        <p:spPr/>
        <p:txBody>
          <a:bodyPr>
            <a:normAutofit fontScale="90000"/>
          </a:bodyPr>
          <a:lstStyle/>
          <a:p>
            <a:r>
              <a:rPr lang="en-US" dirty="0"/>
              <a:t>Sessions calendar</a:t>
            </a:r>
            <a:br>
              <a:rPr lang="en-US" dirty="0"/>
            </a:br>
            <a:r>
              <a:rPr lang="en-US" sz="3600" dirty="0"/>
              <a:t>Group 2</a:t>
            </a:r>
            <a:endParaRPr lang="en-US" dirty="0"/>
          </a:p>
        </p:txBody>
      </p:sp>
      <p:graphicFrame>
        <p:nvGraphicFramePr>
          <p:cNvPr id="4" name="Table 3">
            <a:extLst>
              <a:ext uri="{FF2B5EF4-FFF2-40B4-BE49-F238E27FC236}">
                <a16:creationId xmlns:a16="http://schemas.microsoft.com/office/drawing/2014/main" id="{9DBBD006-79B5-4C59-A92D-8AD0B76EE9F1}"/>
              </a:ext>
            </a:extLst>
          </p:cNvPr>
          <p:cNvGraphicFramePr>
            <a:graphicFrameLocks noGrp="1"/>
          </p:cNvGraphicFramePr>
          <p:nvPr/>
        </p:nvGraphicFramePr>
        <p:xfrm>
          <a:off x="355600" y="2854960"/>
          <a:ext cx="8445502" cy="3441884"/>
        </p:xfrm>
        <a:graphic>
          <a:graphicData uri="http://schemas.openxmlformats.org/drawingml/2006/table">
            <a:tbl>
              <a:tblPr firstRow="1" bandRow="1">
                <a:tableStyleId>{6E25E649-3F16-4E02-A733-19D2CDBF48F0}</a:tableStyleId>
              </a:tblPr>
              <a:tblGrid>
                <a:gridCol w="831517">
                  <a:extLst>
                    <a:ext uri="{9D8B030D-6E8A-4147-A177-3AD203B41FA5}">
                      <a16:colId xmlns:a16="http://schemas.microsoft.com/office/drawing/2014/main" val="20000"/>
                    </a:ext>
                  </a:extLst>
                </a:gridCol>
                <a:gridCol w="2318083">
                  <a:extLst>
                    <a:ext uri="{9D8B030D-6E8A-4147-A177-3AD203B41FA5}">
                      <a16:colId xmlns:a16="http://schemas.microsoft.com/office/drawing/2014/main" val="20001"/>
                    </a:ext>
                  </a:extLst>
                </a:gridCol>
                <a:gridCol w="1758696">
                  <a:extLst>
                    <a:ext uri="{9D8B030D-6E8A-4147-A177-3AD203B41FA5}">
                      <a16:colId xmlns:a16="http://schemas.microsoft.com/office/drawing/2014/main" val="20002"/>
                    </a:ext>
                  </a:extLst>
                </a:gridCol>
                <a:gridCol w="907109">
                  <a:extLst>
                    <a:ext uri="{9D8B030D-6E8A-4147-A177-3AD203B41FA5}">
                      <a16:colId xmlns:a16="http://schemas.microsoft.com/office/drawing/2014/main" val="792141374"/>
                    </a:ext>
                  </a:extLst>
                </a:gridCol>
                <a:gridCol w="2630097">
                  <a:extLst>
                    <a:ext uri="{9D8B030D-6E8A-4147-A177-3AD203B41FA5}">
                      <a16:colId xmlns:a16="http://schemas.microsoft.com/office/drawing/2014/main" val="20003"/>
                    </a:ext>
                  </a:extLst>
                </a:gridCol>
              </a:tblGrid>
              <a:tr h="592712">
                <a:tc>
                  <a:txBody>
                    <a:bodyPr/>
                    <a:lstStyle/>
                    <a:p>
                      <a:pPr algn="ctr"/>
                      <a:r>
                        <a:rPr lang="en-US" sz="1400" dirty="0"/>
                        <a:t>Session</a:t>
                      </a:r>
                    </a:p>
                    <a:p>
                      <a:pPr algn="ctr"/>
                      <a:r>
                        <a:rPr lang="en-US" sz="1400" dirty="0" err="1"/>
                        <a:t>nb</a:t>
                      </a:r>
                      <a:endParaRPr lang="en-US" sz="1400" dirty="0"/>
                    </a:p>
                  </a:txBody>
                  <a:tcPr>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Date</a:t>
                      </a:r>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Time</a:t>
                      </a:r>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endParaRPr lang="en-US" sz="1400" dirty="0"/>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Contents</a:t>
                      </a:r>
                    </a:p>
                  </a:txBody>
                  <a:tcP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0"/>
                  </a:ext>
                </a:extLst>
              </a:tr>
              <a:tr h="414204">
                <a:tc>
                  <a:txBody>
                    <a:bodyPr/>
                    <a:lstStyle/>
                    <a:p>
                      <a:pPr algn="ctr"/>
                      <a:r>
                        <a:rPr lang="en-US" sz="1400" dirty="0"/>
                        <a:t>1</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October 22nd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14:15- 16:15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KB403</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Introduction</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1"/>
                  </a:ext>
                </a:extLst>
              </a:tr>
              <a:tr h="414204">
                <a:tc>
                  <a:txBody>
                    <a:bodyPr/>
                    <a:lstStyle/>
                    <a:p>
                      <a:pPr algn="ctr"/>
                      <a:r>
                        <a:rPr lang="en-US" sz="1400" dirty="0"/>
                        <a:t>2</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5th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11:15 – 13:15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KB602</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2"/>
                  </a:ext>
                </a:extLst>
              </a:tr>
              <a:tr h="414204">
                <a:tc>
                  <a:txBody>
                    <a:bodyPr/>
                    <a:lstStyle/>
                    <a:p>
                      <a:pPr algn="ctr"/>
                      <a:r>
                        <a:rPr lang="en-US" sz="1400" dirty="0"/>
                        <a:t>3</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12th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14:00 - 16:00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KB301</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3"/>
                  </a:ext>
                </a:extLst>
              </a:tr>
              <a:tr h="414204">
                <a:tc>
                  <a:txBody>
                    <a:bodyPr/>
                    <a:lstStyle/>
                    <a:p>
                      <a:pPr algn="ctr"/>
                      <a:r>
                        <a:rPr lang="en-US" sz="1400" dirty="0"/>
                        <a:t>4</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26th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13:30 – 15:30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KB302</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210109926"/>
                  </a:ext>
                </a:extLst>
              </a:tr>
              <a:tr h="414204">
                <a:tc>
                  <a:txBody>
                    <a:bodyPr/>
                    <a:lstStyle/>
                    <a:p>
                      <a:pPr algn="ctr"/>
                      <a:r>
                        <a:rPr lang="en-US" sz="1400" dirty="0"/>
                        <a:t>5</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December 3rd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14:45 – 16:45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KB301</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4268007003"/>
                  </a:ext>
                </a:extLst>
              </a:tr>
              <a:tr h="363948">
                <a:tc>
                  <a:txBody>
                    <a:bodyPr/>
                    <a:lstStyle/>
                    <a:p>
                      <a:pPr algn="ctr"/>
                      <a:r>
                        <a:rPr lang="en-US" sz="1400" dirty="0"/>
                        <a:t>6</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December 10th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09:00 - 11:00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KB403</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763352896"/>
                  </a:ext>
                </a:extLst>
              </a:tr>
              <a:tr h="414204">
                <a:tc>
                  <a:txBody>
                    <a:bodyPr/>
                    <a:lstStyle/>
                    <a:p>
                      <a:pPr algn="ctr"/>
                      <a:r>
                        <a:rPr lang="en-US" sz="1400" dirty="0"/>
                        <a:t>7</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Exam</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49854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C99C-FFFB-66AE-A998-D61F48F9A82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C79F37B-B3DB-00B4-F401-9DE87FF541DF}"/>
              </a:ext>
            </a:extLst>
          </p:cNvPr>
          <p:cNvSpPr>
            <a:spLocks noGrp="1"/>
          </p:cNvSpPr>
          <p:nvPr>
            <p:ph type="title"/>
          </p:nvPr>
        </p:nvSpPr>
        <p:spPr/>
        <p:txBody>
          <a:bodyPr>
            <a:normAutofit fontScale="90000"/>
          </a:bodyPr>
          <a:lstStyle/>
          <a:p>
            <a:r>
              <a:rPr lang="en-US" dirty="0"/>
              <a:t>Sessions calendar</a:t>
            </a:r>
            <a:br>
              <a:rPr lang="en-US" dirty="0"/>
            </a:br>
            <a:r>
              <a:rPr lang="en-US" sz="3600" dirty="0"/>
              <a:t>Group 3</a:t>
            </a:r>
            <a:endParaRPr lang="en-US" dirty="0"/>
          </a:p>
        </p:txBody>
      </p:sp>
      <p:graphicFrame>
        <p:nvGraphicFramePr>
          <p:cNvPr id="4" name="Table 3">
            <a:extLst>
              <a:ext uri="{FF2B5EF4-FFF2-40B4-BE49-F238E27FC236}">
                <a16:creationId xmlns:a16="http://schemas.microsoft.com/office/drawing/2014/main" id="{1AF2B5CB-C2A3-371C-9EFB-9F68E6E7D451}"/>
              </a:ext>
            </a:extLst>
          </p:cNvPr>
          <p:cNvGraphicFramePr>
            <a:graphicFrameLocks noGrp="1"/>
          </p:cNvGraphicFramePr>
          <p:nvPr/>
        </p:nvGraphicFramePr>
        <p:xfrm>
          <a:off x="355600" y="2854960"/>
          <a:ext cx="8445502" cy="3441884"/>
        </p:xfrm>
        <a:graphic>
          <a:graphicData uri="http://schemas.openxmlformats.org/drawingml/2006/table">
            <a:tbl>
              <a:tblPr firstRow="1" bandRow="1">
                <a:tableStyleId>{6E25E649-3F16-4E02-A733-19D2CDBF48F0}</a:tableStyleId>
              </a:tblPr>
              <a:tblGrid>
                <a:gridCol w="831517">
                  <a:extLst>
                    <a:ext uri="{9D8B030D-6E8A-4147-A177-3AD203B41FA5}">
                      <a16:colId xmlns:a16="http://schemas.microsoft.com/office/drawing/2014/main" val="20000"/>
                    </a:ext>
                  </a:extLst>
                </a:gridCol>
                <a:gridCol w="2504350">
                  <a:extLst>
                    <a:ext uri="{9D8B030D-6E8A-4147-A177-3AD203B41FA5}">
                      <a16:colId xmlns:a16="http://schemas.microsoft.com/office/drawing/2014/main" val="20001"/>
                    </a:ext>
                  </a:extLst>
                </a:gridCol>
                <a:gridCol w="1572429">
                  <a:extLst>
                    <a:ext uri="{9D8B030D-6E8A-4147-A177-3AD203B41FA5}">
                      <a16:colId xmlns:a16="http://schemas.microsoft.com/office/drawing/2014/main" val="20002"/>
                    </a:ext>
                  </a:extLst>
                </a:gridCol>
                <a:gridCol w="907109">
                  <a:extLst>
                    <a:ext uri="{9D8B030D-6E8A-4147-A177-3AD203B41FA5}">
                      <a16:colId xmlns:a16="http://schemas.microsoft.com/office/drawing/2014/main" val="792141374"/>
                    </a:ext>
                  </a:extLst>
                </a:gridCol>
                <a:gridCol w="2630097">
                  <a:extLst>
                    <a:ext uri="{9D8B030D-6E8A-4147-A177-3AD203B41FA5}">
                      <a16:colId xmlns:a16="http://schemas.microsoft.com/office/drawing/2014/main" val="20003"/>
                    </a:ext>
                  </a:extLst>
                </a:gridCol>
              </a:tblGrid>
              <a:tr h="592712">
                <a:tc>
                  <a:txBody>
                    <a:bodyPr/>
                    <a:lstStyle/>
                    <a:p>
                      <a:pPr algn="ctr"/>
                      <a:r>
                        <a:rPr lang="en-US" sz="1400" dirty="0"/>
                        <a:t>Session</a:t>
                      </a:r>
                    </a:p>
                    <a:p>
                      <a:pPr algn="ctr"/>
                      <a:r>
                        <a:rPr lang="en-US" sz="1400" dirty="0" err="1"/>
                        <a:t>nb</a:t>
                      </a:r>
                      <a:endParaRPr lang="en-US" sz="1400" dirty="0"/>
                    </a:p>
                  </a:txBody>
                  <a:tcPr>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Date</a:t>
                      </a:r>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Time</a:t>
                      </a:r>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endParaRPr lang="en-US" sz="1400" dirty="0"/>
                    </a:p>
                  </a:txBody>
                  <a:tcP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Contents</a:t>
                      </a:r>
                    </a:p>
                  </a:txBody>
                  <a:tcP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0"/>
                  </a:ext>
                </a:extLst>
              </a:tr>
              <a:tr h="414204">
                <a:tc>
                  <a:txBody>
                    <a:bodyPr/>
                    <a:lstStyle/>
                    <a:p>
                      <a:pPr algn="ctr"/>
                      <a:r>
                        <a:rPr lang="en-US" sz="1400" dirty="0"/>
                        <a:t>1</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October 22nd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11:15- 13:15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KB404</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Introduction</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1"/>
                  </a:ext>
                </a:extLst>
              </a:tr>
              <a:tr h="414204">
                <a:tc>
                  <a:txBody>
                    <a:bodyPr/>
                    <a:lstStyle/>
                    <a:p>
                      <a:pPr algn="ctr"/>
                      <a:r>
                        <a:rPr lang="en-US" sz="1400" dirty="0"/>
                        <a:t>2</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October 29th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09:00 - 11:00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KB304</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2"/>
                  </a:ext>
                </a:extLst>
              </a:tr>
              <a:tr h="414204">
                <a:tc>
                  <a:txBody>
                    <a:bodyPr/>
                    <a:lstStyle/>
                    <a:p>
                      <a:pPr algn="ctr"/>
                      <a:r>
                        <a:rPr lang="en-US" sz="1400" dirty="0"/>
                        <a:t>3</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12th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11:45 – 13:45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KB301</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3"/>
                  </a:ext>
                </a:extLst>
              </a:tr>
              <a:tr h="414204">
                <a:tc>
                  <a:txBody>
                    <a:bodyPr/>
                    <a:lstStyle/>
                    <a:p>
                      <a:pPr algn="ctr"/>
                      <a:r>
                        <a:rPr lang="en-US" sz="1400" dirty="0"/>
                        <a:t>4</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November 19th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13:00 – 15:00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KB606</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210109926"/>
                  </a:ext>
                </a:extLst>
              </a:tr>
              <a:tr h="414204">
                <a:tc>
                  <a:txBody>
                    <a:bodyPr/>
                    <a:lstStyle/>
                    <a:p>
                      <a:pPr algn="ctr"/>
                      <a:r>
                        <a:rPr lang="en-US" sz="1400" dirty="0"/>
                        <a:t>5</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December 3rd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12:30 – 14:30</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KB301</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4268007003"/>
                  </a:ext>
                </a:extLst>
              </a:tr>
              <a:tr h="363948">
                <a:tc>
                  <a:txBody>
                    <a:bodyPr/>
                    <a:lstStyle/>
                    <a:p>
                      <a:pPr algn="ctr"/>
                      <a:r>
                        <a:rPr lang="en-US" sz="1400" dirty="0"/>
                        <a:t>6</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Wednesday December 10th</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11:15- 13:15</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KB403</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Home work review + class</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763352896"/>
                  </a:ext>
                </a:extLst>
              </a:tr>
              <a:tr h="414204">
                <a:tc>
                  <a:txBody>
                    <a:bodyPr/>
                    <a:lstStyle/>
                    <a:p>
                      <a:pPr algn="ctr"/>
                      <a:r>
                        <a:rPr lang="en-US" sz="1400" dirty="0"/>
                        <a:t>7</a:t>
                      </a:r>
                    </a:p>
                  </a:txBody>
                  <a:tcPr anchor="ctr">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TBD</a:t>
                      </a:r>
                    </a:p>
                  </a:txBody>
                  <a:tcPr anchor="ctr">
                    <a:lnL w="12700" cap="flat" cmpd="sng" algn="ctr">
                      <a:solidFill>
                        <a:prstClr val="white">
                          <a:lumMod val="75000"/>
                        </a:prstClr>
                      </a:solidFill>
                      <a:prstDash val="solid"/>
                      <a:round/>
                      <a:headEnd type="none" w="med" len="med"/>
                      <a:tailEnd type="none" w="med" len="med"/>
                    </a:lnL>
                    <a:lnR w="12700" cap="flat" cmpd="sng" algn="ctr">
                      <a:solidFill>
                        <a:prstClr val="white">
                          <a:lumMod val="75000"/>
                        </a:prstClr>
                      </a:solidFill>
                      <a:prstDash val="solid"/>
                      <a:round/>
                      <a:headEnd type="none" w="med" len="med"/>
                      <a:tailEnd type="none" w="med" len="med"/>
                    </a:lnR>
                  </a:tcPr>
                </a:tc>
                <a:tc>
                  <a:txBody>
                    <a:bodyPr/>
                    <a:lstStyle/>
                    <a:p>
                      <a:pPr algn="ctr"/>
                      <a:r>
                        <a:rPr lang="en-US" sz="1400" dirty="0"/>
                        <a:t>Exam</a:t>
                      </a:r>
                    </a:p>
                  </a:txBody>
                  <a:tcPr anchor="ctr">
                    <a:lnL w="12700" cap="flat" cmpd="sng" algn="ctr">
                      <a:solidFill>
                        <a:prstClr val="white">
                          <a:lumMod val="75000"/>
                        </a:prstClr>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47333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A4501-3CE4-DF97-4ADB-06A9802B4FE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E894F50E-DB9E-4144-A312-0A9BDEAFF9DE}"/>
              </a:ext>
            </a:extLst>
          </p:cNvPr>
          <p:cNvSpPr/>
          <p:nvPr/>
        </p:nvSpPr>
        <p:spPr>
          <a:xfrm>
            <a:off x="263744" y="4838775"/>
            <a:ext cx="4308256" cy="50611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srgbClr val="FFFFFF"/>
              </a:solidFill>
            </a:endParaRPr>
          </a:p>
        </p:txBody>
      </p:sp>
      <p:sp>
        <p:nvSpPr>
          <p:cNvPr id="3" name="Title 2">
            <a:extLst>
              <a:ext uri="{FF2B5EF4-FFF2-40B4-BE49-F238E27FC236}">
                <a16:creationId xmlns:a16="http://schemas.microsoft.com/office/drawing/2014/main" id="{432EB4C2-A605-15D6-54F9-52768EF02EB5}"/>
              </a:ext>
            </a:extLst>
          </p:cNvPr>
          <p:cNvSpPr>
            <a:spLocks noGrp="1"/>
          </p:cNvSpPr>
          <p:nvPr>
            <p:ph type="title"/>
          </p:nvPr>
        </p:nvSpPr>
        <p:spPr/>
        <p:txBody>
          <a:bodyPr/>
          <a:lstStyle/>
          <a:p>
            <a:r>
              <a:rPr lang="en-US" dirty="0"/>
              <a:t>Course schedule and contents</a:t>
            </a:r>
          </a:p>
        </p:txBody>
      </p:sp>
      <p:sp>
        <p:nvSpPr>
          <p:cNvPr id="4" name="Content Placeholder 1">
            <a:extLst>
              <a:ext uri="{FF2B5EF4-FFF2-40B4-BE49-F238E27FC236}">
                <a16:creationId xmlns:a16="http://schemas.microsoft.com/office/drawing/2014/main" id="{5FACE9FC-3179-28DB-7AF1-47D32626164C}"/>
              </a:ext>
            </a:extLst>
          </p:cNvPr>
          <p:cNvSpPr txBox="1">
            <a:spLocks/>
          </p:cNvSpPr>
          <p:nvPr/>
        </p:nvSpPr>
        <p:spPr>
          <a:xfrm>
            <a:off x="339946" y="2187419"/>
            <a:ext cx="4093800" cy="3718517"/>
          </a:xfrm>
          <a:prstGeom prst="rect">
            <a:avLst/>
          </a:prstGeom>
        </p:spPr>
        <p:txBody>
          <a:bodyPr vert="horz" lIns="91440" tIns="45720" rIns="91440" bIns="45720" rtlCol="0">
            <a:no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0" indent="0">
              <a:buFont typeface="Symbol" pitchFamily="18" charset="2"/>
              <a:buNone/>
            </a:pPr>
            <a:r>
              <a:rPr lang="en-US" sz="1800" b="1" dirty="0"/>
              <a:t>Session 1 </a:t>
            </a:r>
          </a:p>
          <a:p>
            <a:pPr>
              <a:buFont typeface="Arial"/>
              <a:buChar char="•"/>
            </a:pPr>
            <a:r>
              <a:rPr lang="en-US" sz="1800" dirty="0"/>
              <a:t>Introduction</a:t>
            </a:r>
          </a:p>
          <a:p>
            <a:pPr>
              <a:buFont typeface="Arial"/>
              <a:buChar char="•"/>
            </a:pPr>
            <a:r>
              <a:rPr lang="en-US" sz="1800" dirty="0"/>
              <a:t>Corporate Finance general concepts</a:t>
            </a:r>
          </a:p>
          <a:p>
            <a:pPr>
              <a:buFont typeface="Arial"/>
              <a:buChar char="•"/>
            </a:pPr>
            <a:r>
              <a:rPr lang="en-US" sz="1800" dirty="0"/>
              <a:t>Review of key Financial statements</a:t>
            </a:r>
          </a:p>
          <a:p>
            <a:pPr>
              <a:buFont typeface="Arial"/>
              <a:buChar char="•"/>
            </a:pPr>
            <a:endParaRPr lang="en-US" sz="1800" b="1" dirty="0"/>
          </a:p>
          <a:p>
            <a:pPr marL="0" indent="0">
              <a:buFont typeface="Symbol" pitchFamily="18" charset="2"/>
              <a:buNone/>
            </a:pPr>
            <a:r>
              <a:rPr lang="en-US" sz="1800" b="1" dirty="0"/>
              <a:t>Session 2 </a:t>
            </a:r>
          </a:p>
          <a:p>
            <a:pPr>
              <a:buFont typeface="Arial"/>
              <a:buChar char="•"/>
            </a:pPr>
            <a:r>
              <a:rPr lang="en-US" sz="1800" dirty="0"/>
              <a:t>Cash vs Profit</a:t>
            </a:r>
          </a:p>
          <a:p>
            <a:pPr>
              <a:buFont typeface="Arial"/>
              <a:buChar char="•"/>
            </a:pPr>
            <a:r>
              <a:rPr lang="en-US" sz="1800" dirty="0"/>
              <a:t>Key Financial indicators</a:t>
            </a:r>
          </a:p>
          <a:p>
            <a:pPr>
              <a:buFont typeface="Arial"/>
              <a:buChar char="•"/>
            </a:pPr>
            <a:r>
              <a:rPr lang="en-US" sz="1800" dirty="0"/>
              <a:t>Planning and Budgeting introduction</a:t>
            </a:r>
          </a:p>
          <a:p>
            <a:pPr marL="0" indent="0">
              <a:buFont typeface="Symbol" pitchFamily="18" charset="2"/>
              <a:buNone/>
            </a:pPr>
            <a:endParaRPr lang="en-US" sz="1800" b="1" dirty="0"/>
          </a:p>
          <a:p>
            <a:pPr marL="0" indent="0">
              <a:buFont typeface="Symbol" pitchFamily="18" charset="2"/>
              <a:buNone/>
            </a:pPr>
            <a:r>
              <a:rPr lang="en-US" sz="1800" b="1" dirty="0"/>
              <a:t>Session 3 </a:t>
            </a:r>
          </a:p>
          <a:p>
            <a:pPr>
              <a:buFont typeface="Arial"/>
              <a:buChar char="•"/>
            </a:pPr>
            <a:r>
              <a:rPr lang="en-US" sz="1800" dirty="0"/>
              <a:t>Planning and budgeting continuation</a:t>
            </a:r>
          </a:p>
          <a:p>
            <a:pPr>
              <a:buFont typeface="Arial"/>
              <a:buChar char="•"/>
            </a:pPr>
            <a:r>
              <a:rPr lang="en-US" sz="1800" dirty="0"/>
              <a:t>Budgeting Case study</a:t>
            </a:r>
          </a:p>
          <a:p>
            <a:pPr>
              <a:buFont typeface="Arial"/>
              <a:buChar char="•"/>
            </a:pPr>
            <a:endParaRPr lang="en-US" sz="1800" dirty="0"/>
          </a:p>
          <a:p>
            <a:pPr marL="0" indent="0">
              <a:buNone/>
            </a:pPr>
            <a:endParaRPr lang="en-US" sz="1800" dirty="0"/>
          </a:p>
        </p:txBody>
      </p:sp>
      <p:sp>
        <p:nvSpPr>
          <p:cNvPr id="6" name="Content Placeholder 1">
            <a:extLst>
              <a:ext uri="{FF2B5EF4-FFF2-40B4-BE49-F238E27FC236}">
                <a16:creationId xmlns:a16="http://schemas.microsoft.com/office/drawing/2014/main" id="{9703AAF3-9A3B-F2DF-06D7-AADE969AB128}"/>
              </a:ext>
            </a:extLst>
          </p:cNvPr>
          <p:cNvSpPr txBox="1">
            <a:spLocks/>
          </p:cNvSpPr>
          <p:nvPr/>
        </p:nvSpPr>
        <p:spPr>
          <a:xfrm>
            <a:off x="4786456" y="2699213"/>
            <a:ext cx="4093800" cy="3718517"/>
          </a:xfrm>
          <a:prstGeom prst="rect">
            <a:avLst/>
          </a:prstGeom>
        </p:spPr>
        <p:txBody>
          <a:bodyPr vert="horz" lIns="91440" tIns="45720" rIns="91440" bIns="45720" rtlCol="0">
            <a:no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0" indent="0">
              <a:buFont typeface="Symbol" pitchFamily="18" charset="2"/>
              <a:buNone/>
            </a:pPr>
            <a:r>
              <a:rPr lang="en-US" sz="1800" b="1" dirty="0"/>
              <a:t>Session 4</a:t>
            </a:r>
            <a:endParaRPr lang="en-US" sz="1800" dirty="0"/>
          </a:p>
          <a:p>
            <a:pPr>
              <a:buFont typeface="Arial"/>
              <a:buChar char="•"/>
            </a:pPr>
            <a:r>
              <a:rPr lang="en-US" sz="1800" dirty="0"/>
              <a:t>Case study correction</a:t>
            </a:r>
          </a:p>
          <a:p>
            <a:pPr>
              <a:buFont typeface="Arial"/>
              <a:buChar char="•"/>
            </a:pPr>
            <a:r>
              <a:rPr lang="en-US" sz="1800" dirty="0"/>
              <a:t>Cost Management</a:t>
            </a:r>
          </a:p>
          <a:p>
            <a:pPr>
              <a:buFont typeface="Arial"/>
              <a:buChar char="•"/>
            </a:pPr>
            <a:r>
              <a:rPr lang="en-US" sz="1800" dirty="0"/>
              <a:t>Capital investment introduction</a:t>
            </a:r>
          </a:p>
          <a:p>
            <a:pPr marL="0" indent="0">
              <a:buNone/>
            </a:pPr>
            <a:endParaRPr lang="en-US" sz="1800" b="1" dirty="0"/>
          </a:p>
          <a:p>
            <a:pPr marL="0" indent="0">
              <a:buNone/>
            </a:pPr>
            <a:r>
              <a:rPr lang="en-US" sz="1800" b="1" dirty="0"/>
              <a:t>Session 5</a:t>
            </a:r>
          </a:p>
          <a:p>
            <a:pPr>
              <a:buFont typeface="Arial"/>
              <a:buChar char="•"/>
            </a:pPr>
            <a:r>
              <a:rPr lang="en-US" sz="1800" dirty="0"/>
              <a:t>Capital investment continuation</a:t>
            </a:r>
          </a:p>
          <a:p>
            <a:pPr>
              <a:buFont typeface="Arial"/>
              <a:buChar char="•"/>
            </a:pPr>
            <a:r>
              <a:rPr lang="en-US" sz="1800" dirty="0"/>
              <a:t>Project value case methodologies</a:t>
            </a:r>
          </a:p>
          <a:p>
            <a:pPr>
              <a:buFont typeface="Arial"/>
              <a:buChar char="•"/>
            </a:pPr>
            <a:endParaRPr lang="en-US" sz="1800" b="1" dirty="0"/>
          </a:p>
          <a:p>
            <a:pPr marL="0" indent="0">
              <a:buNone/>
            </a:pPr>
            <a:r>
              <a:rPr lang="en-US" sz="1800" b="1" dirty="0"/>
              <a:t>Session 6</a:t>
            </a:r>
          </a:p>
          <a:p>
            <a:pPr>
              <a:buFont typeface="Arial"/>
              <a:buChar char="•"/>
            </a:pPr>
            <a:r>
              <a:rPr lang="en-US" sz="1800" dirty="0"/>
              <a:t>Real life example : Project Value case</a:t>
            </a:r>
          </a:p>
          <a:p>
            <a:pPr>
              <a:buFont typeface="Arial"/>
              <a:buChar char="•"/>
            </a:pPr>
            <a:r>
              <a:rPr lang="en-US" sz="1800" dirty="0"/>
              <a:t>Introduction to Cost Accounting</a:t>
            </a:r>
          </a:p>
          <a:p>
            <a:pPr>
              <a:buFont typeface="Arial"/>
              <a:buChar char="•"/>
            </a:pPr>
            <a:endParaRPr lang="en-US" sz="1800" dirty="0"/>
          </a:p>
        </p:txBody>
      </p:sp>
    </p:spTree>
    <p:extLst>
      <p:ext uri="{BB962C8B-B14F-4D97-AF65-F5344CB8AC3E}">
        <p14:creationId xmlns:p14="http://schemas.microsoft.com/office/powerpoint/2010/main" val="1653313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a:buChar char="•"/>
            </a:pPr>
            <a:r>
              <a:rPr lang="en-US" dirty="0"/>
              <a:t>Finance and IT</a:t>
            </a:r>
          </a:p>
          <a:p>
            <a:pPr lvl="1">
              <a:buFont typeface="Arial"/>
              <a:buChar char="•"/>
            </a:pPr>
            <a:r>
              <a:rPr lang="en-US" dirty="0"/>
              <a:t>IT is big money…</a:t>
            </a:r>
          </a:p>
          <a:p>
            <a:pPr lvl="1">
              <a:buFont typeface="Arial"/>
              <a:buChar char="•"/>
            </a:pPr>
            <a:r>
              <a:rPr lang="en-US" dirty="0"/>
              <a:t>Charge back process</a:t>
            </a:r>
          </a:p>
          <a:p>
            <a:pPr lvl="1">
              <a:buFont typeface="Arial"/>
              <a:buChar char="•"/>
            </a:pPr>
            <a:r>
              <a:rPr lang="en-US" dirty="0"/>
              <a:t>IT costs categories</a:t>
            </a:r>
          </a:p>
          <a:p>
            <a:pPr lvl="1">
              <a:buFont typeface="Arial"/>
              <a:buChar char="•"/>
            </a:pPr>
            <a:r>
              <a:rPr lang="en-US" dirty="0"/>
              <a:t>Cloud Computing</a:t>
            </a:r>
          </a:p>
          <a:p>
            <a:pPr>
              <a:buFont typeface="Arial"/>
              <a:buChar char="•"/>
            </a:pPr>
            <a:r>
              <a:rPr lang="en-US" dirty="0"/>
              <a:t>Planning and Budget process</a:t>
            </a:r>
          </a:p>
          <a:p>
            <a:pPr>
              <a:buFont typeface="Arial"/>
              <a:buChar char="•"/>
            </a:pPr>
            <a:r>
              <a:rPr lang="en-US" dirty="0"/>
              <a:t>Cost Management</a:t>
            </a:r>
          </a:p>
        </p:txBody>
      </p:sp>
      <p:sp>
        <p:nvSpPr>
          <p:cNvPr id="3" name="Title 2"/>
          <p:cNvSpPr>
            <a:spLocks noGrp="1"/>
          </p:cNvSpPr>
          <p:nvPr>
            <p:ph type="title"/>
          </p:nvPr>
        </p:nvSpPr>
        <p:spPr/>
        <p:txBody>
          <a:bodyPr/>
          <a:lstStyle/>
          <a:p>
            <a:r>
              <a:rPr lang="en-US"/>
              <a:t>Session contents</a:t>
            </a:r>
            <a:endParaRPr lang="en-US" dirty="0"/>
          </a:p>
        </p:txBody>
      </p:sp>
    </p:spTree>
    <p:extLst>
      <p:ext uri="{BB962C8B-B14F-4D97-AF65-F5344CB8AC3E}">
        <p14:creationId xmlns:p14="http://schemas.microsoft.com/office/powerpoint/2010/main" val="1498871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032" y="1610610"/>
            <a:ext cx="7772400" cy="2376950"/>
          </a:xfrm>
        </p:spPr>
        <p:txBody>
          <a:bodyPr/>
          <a:lstStyle/>
          <a:p>
            <a:r>
              <a:rPr lang="en-US" dirty="0"/>
              <a:t>Finance and IT</a:t>
            </a:r>
          </a:p>
        </p:txBody>
      </p:sp>
    </p:spTree>
    <p:extLst>
      <p:ext uri="{BB962C8B-B14F-4D97-AF65-F5344CB8AC3E}">
        <p14:creationId xmlns:p14="http://schemas.microsoft.com/office/powerpoint/2010/main" val="1352308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5167" y="2726267"/>
            <a:ext cx="8759976" cy="3881362"/>
          </a:xfrm>
        </p:spPr>
        <p:txBody>
          <a:bodyPr>
            <a:normAutofit lnSpcReduction="10000"/>
          </a:bodyPr>
          <a:lstStyle/>
          <a:p>
            <a:pPr marL="236538" indent="-236538" defTabSz="814388">
              <a:lnSpc>
                <a:spcPct val="95000"/>
              </a:lnSpc>
              <a:spcBef>
                <a:spcPct val="50000"/>
              </a:spcBef>
              <a:buClr>
                <a:schemeClr val="tx2"/>
              </a:buClr>
              <a:buFont typeface="Wingdings" charset="0"/>
              <a:buChar char="§"/>
            </a:pPr>
            <a:r>
              <a:rPr lang="fr-FR" b="1" dirty="0"/>
              <a:t>IT </a:t>
            </a:r>
            <a:r>
              <a:rPr lang="fr-FR" b="1" dirty="0" err="1"/>
              <a:t>is</a:t>
            </a:r>
            <a:r>
              <a:rPr lang="fr-FR" b="1" dirty="0"/>
              <a:t> big money !</a:t>
            </a:r>
          </a:p>
          <a:p>
            <a:pPr marL="236538" indent="-236538" defTabSz="814388">
              <a:lnSpc>
                <a:spcPct val="95000"/>
              </a:lnSpc>
              <a:spcBef>
                <a:spcPct val="50000"/>
              </a:spcBef>
              <a:buClr>
                <a:schemeClr val="tx2"/>
              </a:buClr>
              <a:buFont typeface="Wingdings" charset="0"/>
              <a:buChar char="§"/>
            </a:pPr>
            <a:r>
              <a:rPr lang="fr-FR" b="1" dirty="0"/>
              <a:t>If </a:t>
            </a:r>
            <a:r>
              <a:rPr lang="fr-FR" b="1" dirty="0" err="1"/>
              <a:t>you</a:t>
            </a:r>
            <a:r>
              <a:rPr lang="fr-FR" b="1" dirty="0"/>
              <a:t> </a:t>
            </a:r>
            <a:r>
              <a:rPr lang="fr-FR" b="1" dirty="0" err="1"/>
              <a:t>work</a:t>
            </a:r>
            <a:r>
              <a:rPr lang="fr-FR" b="1" dirty="0"/>
              <a:t> in the IT </a:t>
            </a:r>
            <a:r>
              <a:rPr lang="fr-FR" b="1" dirty="0" err="1"/>
              <a:t>department</a:t>
            </a:r>
            <a:r>
              <a:rPr lang="fr-FR" b="1" dirty="0"/>
              <a:t> of a 1B$ </a:t>
            </a:r>
            <a:r>
              <a:rPr lang="fr-FR" b="1" dirty="0" err="1"/>
              <a:t>company</a:t>
            </a:r>
            <a:r>
              <a:rPr lang="fr-FR" b="1" dirty="0"/>
              <a:t> </a:t>
            </a:r>
            <a:r>
              <a:rPr lang="fr-FR" b="1" dirty="0" err="1"/>
              <a:t>then</a:t>
            </a:r>
            <a:r>
              <a:rPr lang="fr-FR" b="1" dirty="0"/>
              <a:t>…</a:t>
            </a:r>
          </a:p>
          <a:p>
            <a:pPr marL="693738" lvl="1" indent="-236538" defTabSz="814388">
              <a:lnSpc>
                <a:spcPct val="95000"/>
              </a:lnSpc>
              <a:spcBef>
                <a:spcPct val="50000"/>
              </a:spcBef>
              <a:buClr>
                <a:schemeClr val="tx2"/>
              </a:buClr>
              <a:buFontTx/>
              <a:buChar char="-"/>
            </a:pPr>
            <a:r>
              <a:rPr lang="fr-FR" sz="2000" b="1" dirty="0" err="1"/>
              <a:t>Your</a:t>
            </a:r>
            <a:r>
              <a:rPr lang="fr-FR" sz="2000" b="1" dirty="0"/>
              <a:t> IT budget </a:t>
            </a:r>
            <a:r>
              <a:rPr lang="fr-FR" sz="2000" b="1" dirty="0" err="1"/>
              <a:t>is</a:t>
            </a:r>
            <a:r>
              <a:rPr lang="fr-FR" sz="2000" b="1" dirty="0"/>
              <a:t> </a:t>
            </a:r>
            <a:r>
              <a:rPr lang="fr-FR" sz="2000" b="1" dirty="0" err="1"/>
              <a:t>anywhere</a:t>
            </a:r>
            <a:r>
              <a:rPr lang="fr-FR" sz="2000" b="1" dirty="0"/>
              <a:t> </a:t>
            </a:r>
            <a:r>
              <a:rPr lang="fr-FR" sz="2000" b="1" dirty="0" err="1"/>
              <a:t>between</a:t>
            </a:r>
            <a:r>
              <a:rPr lang="fr-FR" sz="2000" b="1" dirty="0"/>
              <a:t> 40 m$ and 80 m$ (</a:t>
            </a:r>
            <a:r>
              <a:rPr lang="fr-FR" sz="2000" b="1" dirty="0" err="1"/>
              <a:t>between</a:t>
            </a:r>
            <a:r>
              <a:rPr lang="fr-FR" sz="2000" b="1" dirty="0"/>
              <a:t> 4 and 8% of Revenue)</a:t>
            </a:r>
          </a:p>
          <a:p>
            <a:pPr marL="693738" lvl="1" indent="-236538" defTabSz="814388">
              <a:lnSpc>
                <a:spcPct val="95000"/>
              </a:lnSpc>
              <a:spcBef>
                <a:spcPct val="50000"/>
              </a:spcBef>
              <a:buClr>
                <a:schemeClr val="tx2"/>
              </a:buClr>
              <a:buFontTx/>
              <a:buChar char="-"/>
            </a:pPr>
            <a:r>
              <a:rPr lang="fr-FR" sz="2000" b="1" dirty="0"/>
              <a:t>IT </a:t>
            </a:r>
            <a:r>
              <a:rPr lang="fr-FR" sz="2000" b="1" dirty="0" err="1"/>
              <a:t>spendings</a:t>
            </a:r>
            <a:r>
              <a:rPr lang="fr-FR" sz="2000" b="1" dirty="0"/>
              <a:t> </a:t>
            </a:r>
            <a:r>
              <a:rPr lang="fr-FR" sz="2000" b="1" dirty="0" err="1"/>
              <a:t>represent</a:t>
            </a:r>
            <a:r>
              <a:rPr lang="fr-FR" sz="2000" b="1" dirty="0"/>
              <a:t> 50 % of the </a:t>
            </a:r>
            <a:r>
              <a:rPr lang="fr-FR" sz="2000" b="1" dirty="0" err="1"/>
              <a:t>company</a:t>
            </a:r>
            <a:r>
              <a:rPr lang="fr-FR" sz="2000" b="1" dirty="0"/>
              <a:t> Capital </a:t>
            </a:r>
            <a:r>
              <a:rPr lang="fr-FR" sz="2000" b="1" dirty="0" err="1"/>
              <a:t>Expenditures</a:t>
            </a:r>
            <a:endParaRPr lang="fr-FR" sz="2000" b="1" dirty="0"/>
          </a:p>
          <a:p>
            <a:pPr marL="693738" lvl="1" indent="-236538" defTabSz="814388">
              <a:lnSpc>
                <a:spcPct val="95000"/>
              </a:lnSpc>
              <a:spcBef>
                <a:spcPct val="50000"/>
              </a:spcBef>
              <a:buClr>
                <a:schemeClr val="tx2"/>
              </a:buClr>
              <a:buFontTx/>
              <a:buChar char="-"/>
            </a:pPr>
            <a:r>
              <a:rPr lang="fr-FR" sz="2000" b="1" dirty="0"/>
              <a:t>About 20% of budget </a:t>
            </a:r>
            <a:r>
              <a:rPr lang="fr-FR" sz="2000" b="1" dirty="0" err="1"/>
              <a:t>is</a:t>
            </a:r>
            <a:r>
              <a:rPr lang="fr-FR" sz="2000" b="1" dirty="0"/>
              <a:t> for « new </a:t>
            </a:r>
            <a:r>
              <a:rPr lang="fr-FR" sz="2000" b="1" dirty="0" err="1"/>
              <a:t>things</a:t>
            </a:r>
            <a:r>
              <a:rPr lang="fr-FR" sz="2000" b="1" dirty="0"/>
              <a:t> »  (</a:t>
            </a:r>
            <a:r>
              <a:rPr lang="fr-FR" sz="2000" b="1" dirty="0" err="1"/>
              <a:t>projects</a:t>
            </a:r>
            <a:r>
              <a:rPr lang="fr-FR" sz="2000" b="1" dirty="0"/>
              <a:t>)</a:t>
            </a:r>
          </a:p>
          <a:p>
            <a:pPr marL="693738" lvl="1" indent="-236538" defTabSz="814388">
              <a:lnSpc>
                <a:spcPct val="95000"/>
              </a:lnSpc>
              <a:spcBef>
                <a:spcPct val="50000"/>
              </a:spcBef>
              <a:buClr>
                <a:schemeClr val="tx2"/>
              </a:buClr>
              <a:buFontTx/>
              <a:buChar char="-"/>
            </a:pPr>
            <a:r>
              <a:rPr lang="fr-FR" sz="2000" b="1" dirty="0"/>
              <a:t>The </a:t>
            </a:r>
            <a:r>
              <a:rPr lang="fr-FR" sz="2000" b="1" dirty="0" err="1"/>
              <a:t>other</a:t>
            </a:r>
            <a:r>
              <a:rPr lang="fr-FR" sz="2000" b="1" dirty="0"/>
              <a:t> 80% </a:t>
            </a:r>
            <a:r>
              <a:rPr lang="fr-FR" sz="2000" b="1" dirty="0" err="1"/>
              <a:t>is</a:t>
            </a:r>
            <a:r>
              <a:rPr lang="fr-FR" sz="2000" b="1" dirty="0"/>
              <a:t> for running and </a:t>
            </a:r>
            <a:r>
              <a:rPr lang="fr-FR" sz="2000" b="1" dirty="0" err="1"/>
              <a:t>maintaining</a:t>
            </a:r>
            <a:r>
              <a:rPr lang="fr-FR" sz="2000" b="1" dirty="0"/>
              <a:t> production applications or « </a:t>
            </a:r>
            <a:r>
              <a:rPr lang="fr-FR" sz="2000" b="1" dirty="0" err="1"/>
              <a:t>keeping</a:t>
            </a:r>
            <a:r>
              <a:rPr lang="fr-FR" sz="2000" b="1" dirty="0"/>
              <a:t> the lights on »</a:t>
            </a:r>
          </a:p>
          <a:p>
            <a:pPr marL="693738" lvl="1" indent="-236538" defTabSz="814388">
              <a:lnSpc>
                <a:spcPct val="95000"/>
              </a:lnSpc>
              <a:spcBef>
                <a:spcPct val="50000"/>
              </a:spcBef>
              <a:buClr>
                <a:schemeClr val="tx2"/>
              </a:buClr>
              <a:buFontTx/>
              <a:buChar char="-"/>
            </a:pPr>
            <a:r>
              <a:rPr lang="fr-FR" sz="2000" b="1" dirty="0"/>
              <a:t>The </a:t>
            </a:r>
            <a:r>
              <a:rPr lang="fr-FR" sz="2000" b="1" dirty="0" err="1"/>
              <a:t>lifetime</a:t>
            </a:r>
            <a:r>
              <a:rPr lang="fr-FR" sz="2000" b="1" dirty="0"/>
              <a:t> </a:t>
            </a:r>
            <a:r>
              <a:rPr lang="fr-FR" sz="2000" b="1" dirty="0" err="1"/>
              <a:t>costs</a:t>
            </a:r>
            <a:r>
              <a:rPr lang="fr-FR" sz="2000" b="1" dirty="0"/>
              <a:t> of an IT application are, on </a:t>
            </a:r>
            <a:r>
              <a:rPr lang="fr-FR" sz="2000" b="1" dirty="0" err="1"/>
              <a:t>average</a:t>
            </a:r>
            <a:r>
              <a:rPr lang="fr-FR" sz="2000" b="1" dirty="0"/>
              <a:t>, 5 times the initial </a:t>
            </a:r>
            <a:r>
              <a:rPr lang="fr-FR" sz="2000" b="1" dirty="0" err="1"/>
              <a:t>project</a:t>
            </a:r>
            <a:r>
              <a:rPr lang="fr-FR" sz="2000" b="1" dirty="0"/>
              <a:t> </a:t>
            </a:r>
            <a:r>
              <a:rPr lang="fr-FR" sz="2000" b="1" dirty="0" err="1"/>
              <a:t>investment</a:t>
            </a:r>
            <a:endParaRPr lang="fr-FR" sz="2000" b="1" dirty="0"/>
          </a:p>
        </p:txBody>
      </p:sp>
      <p:sp>
        <p:nvSpPr>
          <p:cNvPr id="3" name="Title 2"/>
          <p:cNvSpPr>
            <a:spLocks noGrp="1"/>
          </p:cNvSpPr>
          <p:nvPr>
            <p:ph type="title"/>
          </p:nvPr>
        </p:nvSpPr>
        <p:spPr/>
        <p:txBody>
          <a:bodyPr/>
          <a:lstStyle/>
          <a:p>
            <a:r>
              <a:rPr lang="en-US" dirty="0"/>
              <a:t>Finance and IT</a:t>
            </a:r>
          </a:p>
        </p:txBody>
      </p:sp>
    </p:spTree>
    <p:extLst>
      <p:ext uri="{BB962C8B-B14F-4D97-AF65-F5344CB8AC3E}">
        <p14:creationId xmlns:p14="http://schemas.microsoft.com/office/powerpoint/2010/main" val="311861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Finance and IT</a:t>
            </a:r>
          </a:p>
        </p:txBody>
      </p:sp>
      <p:pic>
        <p:nvPicPr>
          <p:cNvPr id="6" name="Picture 5">
            <a:extLst>
              <a:ext uri="{FF2B5EF4-FFF2-40B4-BE49-F238E27FC236}">
                <a16:creationId xmlns:a16="http://schemas.microsoft.com/office/drawing/2014/main" id="{AEE8D9B2-7ACE-1F40-A4F0-E85B0E00A428}"/>
              </a:ext>
            </a:extLst>
          </p:cNvPr>
          <p:cNvPicPr>
            <a:picLocks noChangeAspect="1"/>
          </p:cNvPicPr>
          <p:nvPr/>
        </p:nvPicPr>
        <p:blipFill rotWithShape="1">
          <a:blip r:embed="rId2"/>
          <a:srcRect l="46329" t="40430" r="21139" b="25139"/>
          <a:stretch/>
        </p:blipFill>
        <p:spPr>
          <a:xfrm>
            <a:off x="1909823" y="2718403"/>
            <a:ext cx="5746625" cy="3801269"/>
          </a:xfrm>
          <a:prstGeom prst="rect">
            <a:avLst/>
          </a:prstGeom>
        </p:spPr>
      </p:pic>
    </p:spTree>
    <p:extLst>
      <p:ext uri="{BB962C8B-B14F-4D97-AF65-F5344CB8AC3E}">
        <p14:creationId xmlns:p14="http://schemas.microsoft.com/office/powerpoint/2010/main" val="287963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a:xfrm>
            <a:off x="534988" y="228600"/>
            <a:ext cx="8145462" cy="838200"/>
          </a:xfrm>
        </p:spPr>
        <p:txBody>
          <a:bodyPr/>
          <a:lstStyle/>
          <a:p>
            <a:pPr eaLnBrk="1" hangingPunct="1"/>
            <a:r>
              <a:rPr lang="en-US" dirty="0">
                <a:ea typeface="ＭＳ Ｐゴシック" charset="0"/>
                <a:cs typeface="ＭＳ Ｐゴシック" charset="0"/>
              </a:rPr>
              <a:t>What does IT do ?</a:t>
            </a:r>
            <a:endParaRPr lang="en-US" sz="1600" dirty="0">
              <a:ea typeface="ＭＳ Ｐゴシック" charset="0"/>
              <a:cs typeface="ＭＳ Ｐゴシック" charset="0"/>
            </a:endParaRPr>
          </a:p>
        </p:txBody>
      </p:sp>
      <p:sp>
        <p:nvSpPr>
          <p:cNvPr id="10242" name="Rectangle 3"/>
          <p:cNvSpPr>
            <a:spLocks noChangeArrowheads="1"/>
          </p:cNvSpPr>
          <p:nvPr/>
        </p:nvSpPr>
        <p:spPr bwMode="auto">
          <a:xfrm>
            <a:off x="2016125" y="876300"/>
            <a:ext cx="8145463"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2124" tIns="41061" rIns="82124" bIns="41061" anchor="b"/>
          <a:lstStyle/>
          <a:p>
            <a:pPr algn="l" defTabSz="814388" eaLnBrk="1" hangingPunct="1">
              <a:spcBef>
                <a:spcPct val="50000"/>
              </a:spcBef>
              <a:buClr>
                <a:schemeClr val="tx2"/>
              </a:buClr>
              <a:buFont typeface="Wingdings" charset="0"/>
              <a:buChar char="§"/>
            </a:pPr>
            <a:endParaRPr lang="en-US" sz="2000" b="1"/>
          </a:p>
        </p:txBody>
      </p:sp>
      <p:graphicFrame>
        <p:nvGraphicFramePr>
          <p:cNvPr id="6" name="Chart 5"/>
          <p:cNvGraphicFramePr>
            <a:graphicFrameLocks/>
          </p:cNvGraphicFramePr>
          <p:nvPr/>
        </p:nvGraphicFramePr>
        <p:xfrm>
          <a:off x="958850" y="2298700"/>
          <a:ext cx="7023100" cy="38481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4021489" y="4672013"/>
            <a:ext cx="554922" cy="369332"/>
          </a:xfrm>
          <a:prstGeom prst="rect">
            <a:avLst/>
          </a:prstGeom>
          <a:noFill/>
        </p:spPr>
        <p:txBody>
          <a:bodyPr wrap="none" rtlCol="0">
            <a:spAutoFit/>
          </a:bodyPr>
          <a:lstStyle/>
          <a:p>
            <a:r>
              <a:rPr lang="en-US" dirty="0"/>
              <a:t>80%</a:t>
            </a:r>
          </a:p>
        </p:txBody>
      </p:sp>
      <p:sp>
        <p:nvSpPr>
          <p:cNvPr id="8" name="TextBox 7"/>
          <p:cNvSpPr txBox="1"/>
          <p:nvPr/>
        </p:nvSpPr>
        <p:spPr>
          <a:xfrm>
            <a:off x="2789589" y="2970213"/>
            <a:ext cx="554922" cy="369332"/>
          </a:xfrm>
          <a:prstGeom prst="rect">
            <a:avLst/>
          </a:prstGeom>
          <a:noFill/>
        </p:spPr>
        <p:txBody>
          <a:bodyPr wrap="none" rtlCol="0">
            <a:spAutoFit/>
          </a:bodyPr>
          <a:lstStyle/>
          <a:p>
            <a:r>
              <a:rPr lang="en-US" dirty="0"/>
              <a:t>20%</a:t>
            </a:r>
          </a:p>
        </p:txBody>
      </p:sp>
    </p:spTree>
    <p:extLst>
      <p:ext uri="{BB962C8B-B14F-4D97-AF65-F5344CB8AC3E}">
        <p14:creationId xmlns:p14="http://schemas.microsoft.com/office/powerpoint/2010/main" val="366000891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1367" y="2198310"/>
            <a:ext cx="8716433" cy="4180719"/>
          </a:xfrm>
        </p:spPr>
        <p:txBody>
          <a:bodyPr>
            <a:normAutofit/>
          </a:bodyPr>
          <a:lstStyle/>
          <a:p>
            <a:pPr marL="236538" indent="-236538" defTabSz="814388">
              <a:lnSpc>
                <a:spcPct val="95000"/>
              </a:lnSpc>
              <a:spcBef>
                <a:spcPct val="50000"/>
              </a:spcBef>
              <a:buFont typeface="Wingdings" charset="0"/>
              <a:buChar char="§"/>
            </a:pPr>
            <a:r>
              <a:rPr lang="fr-FR" b="1" dirty="0">
                <a:solidFill>
                  <a:srgbClr val="000090"/>
                </a:solidFill>
              </a:rPr>
              <a:t>3 main IT </a:t>
            </a:r>
            <a:r>
              <a:rPr lang="fr-FR" b="1" dirty="0" err="1">
                <a:solidFill>
                  <a:srgbClr val="000090"/>
                </a:solidFill>
              </a:rPr>
              <a:t>financial</a:t>
            </a:r>
            <a:r>
              <a:rPr lang="fr-FR" b="1" dirty="0">
                <a:solidFill>
                  <a:srgbClr val="000090"/>
                </a:solidFill>
              </a:rPr>
              <a:t> </a:t>
            </a:r>
            <a:r>
              <a:rPr lang="fr-FR" b="1" dirty="0" err="1">
                <a:solidFill>
                  <a:srgbClr val="000090"/>
                </a:solidFill>
              </a:rPr>
              <a:t>processes</a:t>
            </a:r>
            <a:endParaRPr lang="fr-FR" b="1" dirty="0">
              <a:solidFill>
                <a:srgbClr val="000090"/>
              </a:solidFill>
            </a:endParaRPr>
          </a:p>
          <a:p>
            <a:pPr marL="693738" lvl="1" indent="-236538" defTabSz="814388">
              <a:lnSpc>
                <a:spcPct val="95000"/>
              </a:lnSpc>
              <a:spcBef>
                <a:spcPct val="50000"/>
              </a:spcBef>
              <a:buFontTx/>
              <a:buChar char="-"/>
            </a:pPr>
            <a:r>
              <a:rPr lang="fr-FR" sz="2000" b="1" dirty="0">
                <a:solidFill>
                  <a:srgbClr val="000090"/>
                </a:solidFill>
              </a:rPr>
              <a:t>Planning and </a:t>
            </a:r>
            <a:r>
              <a:rPr lang="fr-FR" sz="2000" b="1" dirty="0" err="1">
                <a:solidFill>
                  <a:srgbClr val="000090"/>
                </a:solidFill>
              </a:rPr>
              <a:t>Budgeting</a:t>
            </a:r>
            <a:endParaRPr lang="fr-FR" sz="2000" b="1" dirty="0">
              <a:solidFill>
                <a:srgbClr val="000090"/>
              </a:solidFill>
            </a:endParaRPr>
          </a:p>
          <a:p>
            <a:pPr marL="1150938" lvl="2" indent="-236538" defTabSz="814388">
              <a:lnSpc>
                <a:spcPct val="95000"/>
              </a:lnSpc>
              <a:spcBef>
                <a:spcPts val="800"/>
              </a:spcBef>
              <a:buFontTx/>
              <a:buChar char="-"/>
            </a:pPr>
            <a:r>
              <a:rPr lang="fr-FR" sz="1800" b="1" dirty="0" err="1">
                <a:solidFill>
                  <a:srgbClr val="000090"/>
                </a:solidFill>
              </a:rPr>
              <a:t>Linked</a:t>
            </a:r>
            <a:r>
              <a:rPr lang="fr-FR" sz="1800" b="1" dirty="0">
                <a:solidFill>
                  <a:srgbClr val="000090"/>
                </a:solidFill>
              </a:rPr>
              <a:t> to IT Strategic Plan</a:t>
            </a:r>
          </a:p>
          <a:p>
            <a:pPr marL="1150938" lvl="2" indent="-236538" defTabSz="814388">
              <a:lnSpc>
                <a:spcPct val="95000"/>
              </a:lnSpc>
              <a:spcBef>
                <a:spcPts val="800"/>
              </a:spcBef>
              <a:buFontTx/>
              <a:buChar char="-"/>
            </a:pPr>
            <a:r>
              <a:rPr lang="fr-FR" sz="1800" b="1" dirty="0" err="1">
                <a:solidFill>
                  <a:srgbClr val="000090"/>
                </a:solidFill>
              </a:rPr>
              <a:t>Operational</a:t>
            </a:r>
            <a:r>
              <a:rPr lang="fr-FR" sz="1800" b="1" dirty="0">
                <a:solidFill>
                  <a:srgbClr val="000090"/>
                </a:solidFill>
              </a:rPr>
              <a:t> support (HW, network, applications….)</a:t>
            </a:r>
          </a:p>
          <a:p>
            <a:pPr marL="1150938" lvl="2" indent="-236538" defTabSz="814388">
              <a:lnSpc>
                <a:spcPct val="95000"/>
              </a:lnSpc>
              <a:spcBef>
                <a:spcPts val="800"/>
              </a:spcBef>
              <a:buFontTx/>
              <a:buChar char="-"/>
            </a:pPr>
            <a:r>
              <a:rPr lang="fr-FR" sz="1800" b="1" dirty="0">
                <a:solidFill>
                  <a:srgbClr val="000090"/>
                </a:solidFill>
              </a:rPr>
              <a:t>Strategic </a:t>
            </a:r>
            <a:r>
              <a:rPr lang="fr-FR" sz="1800" b="1" dirty="0" err="1">
                <a:solidFill>
                  <a:srgbClr val="000090"/>
                </a:solidFill>
              </a:rPr>
              <a:t>projects</a:t>
            </a:r>
            <a:r>
              <a:rPr lang="fr-FR" sz="1800" b="1" dirty="0">
                <a:solidFill>
                  <a:srgbClr val="000090"/>
                </a:solidFill>
              </a:rPr>
              <a:t>, </a:t>
            </a:r>
            <a:r>
              <a:rPr lang="fr-FR" sz="1800" b="1" dirty="0" err="1">
                <a:solidFill>
                  <a:srgbClr val="000090"/>
                </a:solidFill>
              </a:rPr>
              <a:t>Other</a:t>
            </a:r>
            <a:r>
              <a:rPr lang="fr-FR" sz="1800" b="1" dirty="0">
                <a:solidFill>
                  <a:srgbClr val="000090"/>
                </a:solidFill>
              </a:rPr>
              <a:t> </a:t>
            </a:r>
            <a:r>
              <a:rPr lang="fr-FR" sz="1800" b="1" dirty="0" err="1">
                <a:solidFill>
                  <a:srgbClr val="000090"/>
                </a:solidFill>
              </a:rPr>
              <a:t>projects</a:t>
            </a:r>
            <a:r>
              <a:rPr lang="fr-FR" sz="1800" b="1" dirty="0">
                <a:solidFill>
                  <a:srgbClr val="000090"/>
                </a:solidFill>
              </a:rPr>
              <a:t> etc….</a:t>
            </a:r>
          </a:p>
          <a:p>
            <a:pPr marL="693738" lvl="1" indent="-236538" defTabSz="814388">
              <a:lnSpc>
                <a:spcPct val="95000"/>
              </a:lnSpc>
              <a:spcBef>
                <a:spcPct val="50000"/>
              </a:spcBef>
              <a:buFontTx/>
              <a:buChar char="-"/>
            </a:pPr>
            <a:r>
              <a:rPr lang="fr-FR" sz="2000" b="1" dirty="0" err="1">
                <a:solidFill>
                  <a:srgbClr val="000090"/>
                </a:solidFill>
              </a:rPr>
              <a:t>Cost</a:t>
            </a:r>
            <a:r>
              <a:rPr lang="fr-FR" sz="2000" b="1" dirty="0">
                <a:solidFill>
                  <a:srgbClr val="000090"/>
                </a:solidFill>
              </a:rPr>
              <a:t> Management</a:t>
            </a:r>
          </a:p>
          <a:p>
            <a:pPr marL="1150938" lvl="2" indent="-236538" defTabSz="814388">
              <a:lnSpc>
                <a:spcPct val="95000"/>
              </a:lnSpc>
              <a:spcBef>
                <a:spcPts val="800"/>
              </a:spcBef>
              <a:buFontTx/>
              <a:buChar char="-"/>
            </a:pPr>
            <a:r>
              <a:rPr lang="fr-FR" sz="1800" b="1" dirty="0" err="1">
                <a:solidFill>
                  <a:srgbClr val="000090"/>
                </a:solidFill>
              </a:rPr>
              <a:t>Tracking</a:t>
            </a:r>
            <a:r>
              <a:rPr lang="fr-FR" sz="1800" b="1" dirty="0">
                <a:solidFill>
                  <a:srgbClr val="000090"/>
                </a:solidFill>
              </a:rPr>
              <a:t> on </a:t>
            </a:r>
            <a:r>
              <a:rPr lang="fr-FR" sz="1800" b="1" dirty="0" err="1">
                <a:solidFill>
                  <a:srgbClr val="000090"/>
                </a:solidFill>
              </a:rPr>
              <a:t>ongoing</a:t>
            </a:r>
            <a:r>
              <a:rPr lang="fr-FR" sz="1800" b="1" dirty="0">
                <a:solidFill>
                  <a:srgbClr val="000090"/>
                </a:solidFill>
              </a:rPr>
              <a:t> </a:t>
            </a:r>
            <a:r>
              <a:rPr lang="fr-FR" sz="1800" b="1" dirty="0" err="1">
                <a:solidFill>
                  <a:srgbClr val="000090"/>
                </a:solidFill>
              </a:rPr>
              <a:t>costs</a:t>
            </a:r>
            <a:r>
              <a:rPr lang="fr-FR" sz="1800" b="1" dirty="0">
                <a:solidFill>
                  <a:srgbClr val="000090"/>
                </a:solidFill>
              </a:rPr>
              <a:t> vs budget</a:t>
            </a:r>
          </a:p>
          <a:p>
            <a:pPr marL="1150938" lvl="2" indent="-236538" defTabSz="814388">
              <a:lnSpc>
                <a:spcPct val="95000"/>
              </a:lnSpc>
              <a:spcBef>
                <a:spcPts val="800"/>
              </a:spcBef>
              <a:buFontTx/>
              <a:buChar char="-"/>
            </a:pPr>
            <a:r>
              <a:rPr lang="fr-FR" sz="1800" b="1" dirty="0" err="1">
                <a:solidFill>
                  <a:srgbClr val="000090"/>
                </a:solidFill>
              </a:rPr>
              <a:t>Forecasting</a:t>
            </a:r>
            <a:r>
              <a:rPr lang="fr-FR" sz="1800" b="1" dirty="0">
                <a:solidFill>
                  <a:srgbClr val="000090"/>
                </a:solidFill>
              </a:rPr>
              <a:t> for </a:t>
            </a:r>
            <a:r>
              <a:rPr lang="fr-FR" sz="1800" b="1" dirty="0" err="1">
                <a:solidFill>
                  <a:srgbClr val="000090"/>
                </a:solidFill>
              </a:rPr>
              <a:t>any</a:t>
            </a:r>
            <a:r>
              <a:rPr lang="fr-FR" sz="1800" b="1" dirty="0">
                <a:solidFill>
                  <a:srgbClr val="000090"/>
                </a:solidFill>
              </a:rPr>
              <a:t> </a:t>
            </a:r>
            <a:r>
              <a:rPr lang="fr-FR" sz="1800" b="1" dirty="0" err="1">
                <a:solidFill>
                  <a:srgbClr val="000090"/>
                </a:solidFill>
              </a:rPr>
              <a:t>required</a:t>
            </a:r>
            <a:r>
              <a:rPr lang="fr-FR" sz="1800" b="1" dirty="0">
                <a:solidFill>
                  <a:srgbClr val="000090"/>
                </a:solidFill>
              </a:rPr>
              <a:t> </a:t>
            </a:r>
            <a:r>
              <a:rPr lang="fr-FR" sz="1800" b="1" dirty="0" err="1">
                <a:solidFill>
                  <a:srgbClr val="000090"/>
                </a:solidFill>
              </a:rPr>
              <a:t>adjusteme</a:t>
            </a:r>
            <a:r>
              <a:rPr lang="fr-FR" b="1" dirty="0" err="1">
                <a:solidFill>
                  <a:srgbClr val="000090"/>
                </a:solidFill>
              </a:rPr>
              <a:t>nt</a:t>
            </a:r>
            <a:endParaRPr lang="fr-FR" b="1" dirty="0">
              <a:solidFill>
                <a:srgbClr val="000090"/>
              </a:solidFill>
            </a:endParaRPr>
          </a:p>
          <a:p>
            <a:pPr marL="693738" lvl="1" indent="-236538" defTabSz="814388">
              <a:lnSpc>
                <a:spcPct val="95000"/>
              </a:lnSpc>
              <a:spcBef>
                <a:spcPct val="50000"/>
              </a:spcBef>
              <a:buFontTx/>
              <a:buChar char="-"/>
            </a:pPr>
            <a:r>
              <a:rPr lang="fr-FR" sz="2000" b="1" dirty="0" err="1">
                <a:solidFill>
                  <a:srgbClr val="000090"/>
                </a:solidFill>
              </a:rPr>
              <a:t>Chargebacks</a:t>
            </a:r>
            <a:endParaRPr lang="fr-FR" sz="2000" b="1" dirty="0">
              <a:solidFill>
                <a:srgbClr val="000090"/>
              </a:solidFill>
            </a:endParaRPr>
          </a:p>
          <a:p>
            <a:pPr marL="1150938" lvl="2" indent="-236538" defTabSz="814388">
              <a:lnSpc>
                <a:spcPct val="95000"/>
              </a:lnSpc>
              <a:spcBef>
                <a:spcPct val="50000"/>
              </a:spcBef>
              <a:buFontTx/>
              <a:buChar char="-"/>
            </a:pPr>
            <a:r>
              <a:rPr lang="fr-FR" sz="1800" b="1" dirty="0">
                <a:solidFill>
                  <a:srgbClr val="000090"/>
                </a:solidFill>
              </a:rPr>
              <a:t>IT </a:t>
            </a:r>
            <a:r>
              <a:rPr lang="fr-FR" sz="1800" b="1" dirty="0" err="1">
                <a:solidFill>
                  <a:srgbClr val="000090"/>
                </a:solidFill>
              </a:rPr>
              <a:t>costs</a:t>
            </a:r>
            <a:r>
              <a:rPr lang="fr-FR" sz="1800" b="1" dirty="0">
                <a:solidFill>
                  <a:srgbClr val="000090"/>
                </a:solidFill>
              </a:rPr>
              <a:t> </a:t>
            </a:r>
            <a:r>
              <a:rPr lang="fr-FR" sz="1800" b="1" dirty="0" err="1">
                <a:solidFill>
                  <a:srgbClr val="000090"/>
                </a:solidFill>
              </a:rPr>
              <a:t>can</a:t>
            </a:r>
            <a:r>
              <a:rPr lang="fr-FR" sz="1800" b="1" dirty="0">
                <a:solidFill>
                  <a:srgbClr val="000090"/>
                </a:solidFill>
              </a:rPr>
              <a:t> </a:t>
            </a:r>
            <a:r>
              <a:rPr lang="fr-FR" sz="1800" b="1" dirty="0" err="1">
                <a:solidFill>
                  <a:srgbClr val="000090"/>
                </a:solidFill>
              </a:rPr>
              <a:t>be</a:t>
            </a:r>
            <a:r>
              <a:rPr lang="fr-FR" sz="1800" b="1" dirty="0">
                <a:solidFill>
                  <a:srgbClr val="000090"/>
                </a:solidFill>
              </a:rPr>
              <a:t> </a:t>
            </a:r>
            <a:r>
              <a:rPr lang="fr-FR" sz="1800" b="1" dirty="0" err="1">
                <a:solidFill>
                  <a:srgbClr val="000090"/>
                </a:solidFill>
              </a:rPr>
              <a:t>kept</a:t>
            </a:r>
            <a:r>
              <a:rPr lang="fr-FR" sz="1800" b="1" dirty="0">
                <a:solidFill>
                  <a:srgbClr val="000090"/>
                </a:solidFill>
              </a:rPr>
              <a:t> central or </a:t>
            </a:r>
            <a:r>
              <a:rPr lang="fr-FR" sz="1800" b="1" dirty="0" err="1">
                <a:solidFill>
                  <a:srgbClr val="000090"/>
                </a:solidFill>
              </a:rPr>
              <a:t>be</a:t>
            </a:r>
            <a:r>
              <a:rPr lang="fr-FR" sz="1800" b="1" dirty="0">
                <a:solidFill>
                  <a:srgbClr val="000090"/>
                </a:solidFill>
              </a:rPr>
              <a:t> « </a:t>
            </a:r>
            <a:r>
              <a:rPr lang="fr-FR" sz="1800" b="1" dirty="0" err="1">
                <a:solidFill>
                  <a:srgbClr val="000090"/>
                </a:solidFill>
              </a:rPr>
              <a:t>charged</a:t>
            </a:r>
            <a:r>
              <a:rPr lang="fr-FR" sz="1800" b="1" dirty="0">
                <a:solidFill>
                  <a:srgbClr val="000090"/>
                </a:solidFill>
              </a:rPr>
              <a:t> back » to </a:t>
            </a:r>
            <a:r>
              <a:rPr lang="fr-FR" sz="1800" b="1" dirty="0" err="1">
                <a:solidFill>
                  <a:srgbClr val="000090"/>
                </a:solidFill>
              </a:rPr>
              <a:t>other</a:t>
            </a:r>
            <a:r>
              <a:rPr lang="fr-FR" sz="1800" b="1" dirty="0">
                <a:solidFill>
                  <a:srgbClr val="000090"/>
                </a:solidFill>
              </a:rPr>
              <a:t> </a:t>
            </a:r>
            <a:r>
              <a:rPr lang="fr-FR" sz="1800" b="1" dirty="0" err="1">
                <a:solidFill>
                  <a:srgbClr val="000090"/>
                </a:solidFill>
              </a:rPr>
              <a:t>departments</a:t>
            </a:r>
            <a:endParaRPr lang="fr-FR" b="1" dirty="0">
              <a:solidFill>
                <a:srgbClr val="000090"/>
              </a:solidFill>
            </a:endParaRPr>
          </a:p>
        </p:txBody>
      </p:sp>
      <p:sp>
        <p:nvSpPr>
          <p:cNvPr id="3" name="Title 2"/>
          <p:cNvSpPr>
            <a:spLocks noGrp="1"/>
          </p:cNvSpPr>
          <p:nvPr>
            <p:ph type="title"/>
          </p:nvPr>
        </p:nvSpPr>
        <p:spPr/>
        <p:txBody>
          <a:bodyPr/>
          <a:lstStyle/>
          <a:p>
            <a:r>
              <a:rPr lang="en-US" dirty="0"/>
              <a:t>Key IT financial processes</a:t>
            </a:r>
          </a:p>
        </p:txBody>
      </p:sp>
    </p:spTree>
    <p:extLst>
      <p:ext uri="{BB962C8B-B14F-4D97-AF65-F5344CB8AC3E}">
        <p14:creationId xmlns:p14="http://schemas.microsoft.com/office/powerpoint/2010/main" val="688958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a:xfrm>
            <a:off x="541602" y="660400"/>
            <a:ext cx="8145462" cy="838200"/>
          </a:xfrm>
        </p:spPr>
        <p:txBody>
          <a:bodyPr/>
          <a:lstStyle/>
          <a:p>
            <a:pPr eaLnBrk="1" hangingPunct="1"/>
            <a:r>
              <a:rPr lang="en-US" dirty="0">
                <a:ea typeface="ＭＳ Ｐゴシック" charset="0"/>
                <a:cs typeface="ＭＳ Ｐゴシック" charset="0"/>
              </a:rPr>
              <a:t>IT Chargeback process  </a:t>
            </a:r>
            <a:r>
              <a:rPr lang="en-US" sz="2800" dirty="0">
                <a:ea typeface="ＭＳ Ｐゴシック" charset="0"/>
                <a:cs typeface="ＭＳ Ｐゴシック" charset="0"/>
              </a:rPr>
              <a:t>(1/3)</a:t>
            </a:r>
            <a:endParaRPr lang="en-US" sz="1600" dirty="0">
              <a:ea typeface="ＭＳ Ｐゴシック" charset="0"/>
              <a:cs typeface="ＭＳ Ｐゴシック" charset="0"/>
            </a:endParaRPr>
          </a:p>
        </p:txBody>
      </p:sp>
      <p:sp>
        <p:nvSpPr>
          <p:cNvPr id="10242" name="Rectangle 3"/>
          <p:cNvSpPr>
            <a:spLocks noChangeArrowheads="1"/>
          </p:cNvSpPr>
          <p:nvPr/>
        </p:nvSpPr>
        <p:spPr bwMode="auto">
          <a:xfrm>
            <a:off x="2016125" y="876300"/>
            <a:ext cx="8145463"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2124" tIns="41061" rIns="82124" bIns="41061" anchor="b"/>
          <a:lstStyle/>
          <a:p>
            <a:pPr algn="l" defTabSz="814388" eaLnBrk="1" hangingPunct="1">
              <a:spcBef>
                <a:spcPct val="50000"/>
              </a:spcBef>
              <a:buClr>
                <a:schemeClr val="tx2"/>
              </a:buClr>
              <a:buFont typeface="Wingdings" charset="0"/>
              <a:buChar char="§"/>
            </a:pPr>
            <a:endParaRPr lang="en-US" sz="2000" b="1"/>
          </a:p>
        </p:txBody>
      </p:sp>
      <p:sp>
        <p:nvSpPr>
          <p:cNvPr id="7" name="Content Placeholder 1">
            <a:extLst>
              <a:ext uri="{FF2B5EF4-FFF2-40B4-BE49-F238E27FC236}">
                <a16:creationId xmlns:a16="http://schemas.microsoft.com/office/drawing/2014/main" id="{94253555-0858-B44B-BD77-B83D61B54912}"/>
              </a:ext>
            </a:extLst>
          </p:cNvPr>
          <p:cNvSpPr txBox="1">
            <a:spLocks/>
          </p:cNvSpPr>
          <p:nvPr/>
        </p:nvSpPr>
        <p:spPr>
          <a:xfrm>
            <a:off x="302078" y="2394856"/>
            <a:ext cx="8635093" cy="4386943"/>
          </a:xfrm>
          <a:prstGeom prst="rect">
            <a:avLst/>
          </a:prstGeom>
        </p:spPr>
        <p:txBody>
          <a:bodyPr vert="horz" lIns="91440" tIns="45720" rIns="91440" bIns="45720" rtlCol="0">
            <a:normAutofit fontScale="70000" lnSpcReduction="20000"/>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236538" indent="-236538" defTabSz="814388">
              <a:lnSpc>
                <a:spcPct val="95000"/>
              </a:lnSpc>
              <a:spcBef>
                <a:spcPct val="50000"/>
              </a:spcBef>
              <a:buFont typeface="Wingdings" charset="0"/>
              <a:buChar char="§"/>
            </a:pPr>
            <a:r>
              <a:rPr lang="fr-FR" sz="2600" b="1" dirty="0" err="1">
                <a:solidFill>
                  <a:srgbClr val="000090"/>
                </a:solidFill>
              </a:rPr>
              <a:t>Instead</a:t>
            </a:r>
            <a:r>
              <a:rPr lang="fr-FR" sz="2600" b="1" dirty="0">
                <a:solidFill>
                  <a:srgbClr val="000090"/>
                </a:solidFill>
              </a:rPr>
              <a:t> of </a:t>
            </a:r>
            <a:r>
              <a:rPr lang="fr-FR" sz="2600" b="1" dirty="0" err="1">
                <a:solidFill>
                  <a:srgbClr val="000090"/>
                </a:solidFill>
              </a:rPr>
              <a:t>being</a:t>
            </a:r>
            <a:r>
              <a:rPr lang="fr-FR" sz="2600" b="1" dirty="0">
                <a:solidFill>
                  <a:srgbClr val="000090"/>
                </a:solidFill>
              </a:rPr>
              <a:t> </a:t>
            </a:r>
            <a:r>
              <a:rPr lang="fr-FR" sz="2600" b="1" dirty="0" err="1">
                <a:solidFill>
                  <a:srgbClr val="000090"/>
                </a:solidFill>
              </a:rPr>
              <a:t>kept</a:t>
            </a:r>
            <a:r>
              <a:rPr lang="fr-FR" sz="2600" b="1" dirty="0">
                <a:solidFill>
                  <a:srgbClr val="000090"/>
                </a:solidFill>
              </a:rPr>
              <a:t> </a:t>
            </a:r>
            <a:r>
              <a:rPr lang="fr-FR" sz="2600" b="1" dirty="0" err="1">
                <a:solidFill>
                  <a:srgbClr val="000090"/>
                </a:solidFill>
              </a:rPr>
              <a:t>centrally</a:t>
            </a:r>
            <a:r>
              <a:rPr lang="fr-FR" sz="2600" b="1" dirty="0">
                <a:solidFill>
                  <a:srgbClr val="000090"/>
                </a:solidFill>
              </a:rPr>
              <a:t>, IT </a:t>
            </a:r>
            <a:r>
              <a:rPr lang="fr-FR" sz="2600" b="1" dirty="0" err="1">
                <a:solidFill>
                  <a:srgbClr val="000090"/>
                </a:solidFill>
              </a:rPr>
              <a:t>cost</a:t>
            </a:r>
            <a:r>
              <a:rPr lang="fr-FR" sz="2600" b="1" dirty="0">
                <a:solidFill>
                  <a:srgbClr val="000090"/>
                </a:solidFill>
              </a:rPr>
              <a:t> </a:t>
            </a:r>
            <a:r>
              <a:rPr lang="fr-FR" sz="2600" b="1" dirty="0" err="1">
                <a:solidFill>
                  <a:srgbClr val="000090"/>
                </a:solidFill>
              </a:rPr>
              <a:t>is</a:t>
            </a:r>
            <a:r>
              <a:rPr lang="fr-FR" sz="2600" b="1" dirty="0">
                <a:solidFill>
                  <a:srgbClr val="000090"/>
                </a:solidFill>
              </a:rPr>
              <a:t> </a:t>
            </a:r>
            <a:r>
              <a:rPr lang="fr-FR" sz="2600" b="1" dirty="0" err="1">
                <a:solidFill>
                  <a:srgbClr val="000090"/>
                </a:solidFill>
              </a:rPr>
              <a:t>charged</a:t>
            </a:r>
            <a:r>
              <a:rPr lang="fr-FR" sz="2600" b="1" dirty="0">
                <a:solidFill>
                  <a:srgbClr val="000090"/>
                </a:solidFill>
              </a:rPr>
              <a:t> back to </a:t>
            </a:r>
            <a:r>
              <a:rPr lang="fr-FR" sz="2600" b="1" dirty="0" err="1">
                <a:solidFill>
                  <a:srgbClr val="000090"/>
                </a:solidFill>
              </a:rPr>
              <a:t>users</a:t>
            </a:r>
            <a:r>
              <a:rPr lang="fr-FR" sz="2600" b="1" dirty="0">
                <a:solidFill>
                  <a:srgbClr val="000090"/>
                </a:solidFill>
              </a:rPr>
              <a:t> </a:t>
            </a:r>
            <a:r>
              <a:rPr lang="fr-FR" sz="2600" b="1" dirty="0" err="1">
                <a:solidFill>
                  <a:srgbClr val="000090"/>
                </a:solidFill>
              </a:rPr>
              <a:t>departments</a:t>
            </a:r>
            <a:endParaRPr lang="fr-FR" sz="2600" b="1" dirty="0">
              <a:solidFill>
                <a:srgbClr val="000090"/>
              </a:solidFill>
            </a:endParaRPr>
          </a:p>
          <a:p>
            <a:pPr marL="236538" indent="-236538" defTabSz="814388">
              <a:lnSpc>
                <a:spcPct val="95000"/>
              </a:lnSpc>
              <a:spcBef>
                <a:spcPct val="50000"/>
              </a:spcBef>
              <a:buFont typeface="Wingdings" charset="0"/>
              <a:buChar char="§"/>
            </a:pPr>
            <a:r>
              <a:rPr lang="fr-FR" sz="2600" b="1" dirty="0">
                <a:solidFill>
                  <a:srgbClr val="000090"/>
                </a:solidFill>
              </a:rPr>
              <a:t>Goals</a:t>
            </a:r>
          </a:p>
          <a:p>
            <a:pPr marL="538481" lvl="1" indent="-236538" defTabSz="814388">
              <a:lnSpc>
                <a:spcPct val="95000"/>
              </a:lnSpc>
              <a:spcBef>
                <a:spcPct val="50000"/>
              </a:spcBef>
              <a:buFont typeface="Wingdings" charset="0"/>
              <a:buChar char="§"/>
            </a:pPr>
            <a:r>
              <a:rPr lang="fr-FR" sz="2100" b="1" dirty="0" err="1">
                <a:solidFill>
                  <a:srgbClr val="000090"/>
                </a:solidFill>
              </a:rPr>
              <a:t>Make</a:t>
            </a:r>
            <a:r>
              <a:rPr lang="fr-FR" sz="2100" b="1" dirty="0">
                <a:solidFill>
                  <a:srgbClr val="000090"/>
                </a:solidFill>
              </a:rPr>
              <a:t> </a:t>
            </a:r>
            <a:r>
              <a:rPr lang="fr-FR" sz="2100" b="1" dirty="0" err="1">
                <a:solidFill>
                  <a:srgbClr val="000090"/>
                </a:solidFill>
              </a:rPr>
              <a:t>departments</a:t>
            </a:r>
            <a:r>
              <a:rPr lang="fr-FR" sz="2100" b="1" dirty="0">
                <a:solidFill>
                  <a:srgbClr val="000090"/>
                </a:solidFill>
              </a:rPr>
              <a:t> </a:t>
            </a:r>
            <a:r>
              <a:rPr lang="fr-FR" sz="2100" b="1" dirty="0" err="1">
                <a:solidFill>
                  <a:srgbClr val="000090"/>
                </a:solidFill>
              </a:rPr>
              <a:t>responsible</a:t>
            </a:r>
            <a:r>
              <a:rPr lang="fr-FR" sz="2100" b="1" dirty="0">
                <a:solidFill>
                  <a:srgbClr val="000090"/>
                </a:solidFill>
              </a:rPr>
              <a:t> for </a:t>
            </a:r>
            <a:r>
              <a:rPr lang="fr-FR" sz="2100" b="1" dirty="0" err="1">
                <a:solidFill>
                  <a:srgbClr val="000090"/>
                </a:solidFill>
              </a:rPr>
              <a:t>their</a:t>
            </a:r>
            <a:r>
              <a:rPr lang="fr-FR" sz="2100" b="1" dirty="0">
                <a:solidFill>
                  <a:srgbClr val="000090"/>
                </a:solidFill>
              </a:rPr>
              <a:t> IT usage</a:t>
            </a:r>
          </a:p>
          <a:p>
            <a:pPr marL="538481" lvl="1" indent="-236538" defTabSz="814388">
              <a:lnSpc>
                <a:spcPct val="95000"/>
              </a:lnSpc>
              <a:spcBef>
                <a:spcPct val="50000"/>
              </a:spcBef>
              <a:buFont typeface="Wingdings" charset="0"/>
              <a:buChar char="§"/>
            </a:pPr>
            <a:r>
              <a:rPr lang="fr-FR" sz="2100" b="1" dirty="0" err="1">
                <a:solidFill>
                  <a:srgbClr val="000090"/>
                </a:solidFill>
              </a:rPr>
              <a:t>Provide</a:t>
            </a:r>
            <a:r>
              <a:rPr lang="fr-FR" sz="2100" b="1" dirty="0">
                <a:solidFill>
                  <a:srgbClr val="000090"/>
                </a:solidFill>
              </a:rPr>
              <a:t> IT </a:t>
            </a:r>
            <a:r>
              <a:rPr lang="fr-FR" sz="2100" b="1" dirty="0" err="1">
                <a:solidFill>
                  <a:srgbClr val="000090"/>
                </a:solidFill>
              </a:rPr>
              <a:t>spendings</a:t>
            </a:r>
            <a:r>
              <a:rPr lang="fr-FR" sz="2100" b="1" dirty="0">
                <a:solidFill>
                  <a:srgbClr val="000090"/>
                </a:solidFill>
              </a:rPr>
              <a:t> </a:t>
            </a:r>
            <a:r>
              <a:rPr lang="fr-FR" sz="2100" b="1" dirty="0" err="1">
                <a:solidFill>
                  <a:srgbClr val="000090"/>
                </a:solidFill>
              </a:rPr>
              <a:t>visibility</a:t>
            </a:r>
            <a:r>
              <a:rPr lang="fr-FR" sz="2100" b="1" dirty="0">
                <a:solidFill>
                  <a:srgbClr val="000090"/>
                </a:solidFill>
              </a:rPr>
              <a:t> to top management</a:t>
            </a:r>
          </a:p>
          <a:p>
            <a:pPr marL="538481" lvl="1" indent="-236538" defTabSz="814388">
              <a:lnSpc>
                <a:spcPct val="95000"/>
              </a:lnSpc>
              <a:spcBef>
                <a:spcPct val="50000"/>
              </a:spcBef>
              <a:buFont typeface="Wingdings" charset="0"/>
              <a:buChar char="§"/>
            </a:pPr>
            <a:r>
              <a:rPr lang="fr-FR" sz="2100" b="1" dirty="0" err="1">
                <a:solidFill>
                  <a:srgbClr val="000090"/>
                </a:solidFill>
              </a:rPr>
              <a:t>Allow</a:t>
            </a:r>
            <a:r>
              <a:rPr lang="fr-FR" sz="2100" b="1" dirty="0">
                <a:solidFill>
                  <a:srgbClr val="000090"/>
                </a:solidFill>
              </a:rPr>
              <a:t> IT to </a:t>
            </a:r>
            <a:r>
              <a:rPr lang="fr-FR" sz="2100" b="1" dirty="0" err="1">
                <a:solidFill>
                  <a:srgbClr val="000090"/>
                </a:solidFill>
              </a:rPr>
              <a:t>answer</a:t>
            </a:r>
            <a:r>
              <a:rPr lang="fr-FR" sz="2100" b="1" dirty="0">
                <a:solidFill>
                  <a:srgbClr val="000090"/>
                </a:solidFill>
              </a:rPr>
              <a:t> to </a:t>
            </a:r>
            <a:r>
              <a:rPr lang="fr-FR" sz="2100" b="1" dirty="0" err="1">
                <a:solidFill>
                  <a:srgbClr val="000090"/>
                </a:solidFill>
              </a:rPr>
              <a:t>unexpected</a:t>
            </a:r>
            <a:r>
              <a:rPr lang="fr-FR" sz="2100" b="1" dirty="0">
                <a:solidFill>
                  <a:srgbClr val="000090"/>
                </a:solidFill>
              </a:rPr>
              <a:t> </a:t>
            </a:r>
            <a:r>
              <a:rPr lang="fr-FR" sz="2100" b="1" dirty="0" err="1">
                <a:solidFill>
                  <a:srgbClr val="000090"/>
                </a:solidFill>
              </a:rPr>
              <a:t>customer</a:t>
            </a:r>
            <a:r>
              <a:rPr lang="fr-FR" sz="2100" b="1" dirty="0">
                <a:solidFill>
                  <a:srgbClr val="000090"/>
                </a:solidFill>
              </a:rPr>
              <a:t> </a:t>
            </a:r>
            <a:r>
              <a:rPr lang="fr-FR" sz="2100" b="1" dirty="0" err="1">
                <a:solidFill>
                  <a:srgbClr val="000090"/>
                </a:solidFill>
              </a:rPr>
              <a:t>demands</a:t>
            </a:r>
            <a:r>
              <a:rPr lang="fr-FR" sz="2100" b="1" dirty="0">
                <a:solidFill>
                  <a:srgbClr val="000090"/>
                </a:solidFill>
              </a:rPr>
              <a:t> </a:t>
            </a:r>
            <a:r>
              <a:rPr lang="fr-FR" sz="2100" b="1" dirty="0" err="1">
                <a:solidFill>
                  <a:srgbClr val="000090"/>
                </a:solidFill>
              </a:rPr>
              <a:t>with</a:t>
            </a:r>
            <a:r>
              <a:rPr lang="fr-FR" sz="2100" b="1" dirty="0">
                <a:solidFill>
                  <a:srgbClr val="000090"/>
                </a:solidFill>
              </a:rPr>
              <a:t> « </a:t>
            </a:r>
            <a:r>
              <a:rPr lang="fr-FR" sz="2100" b="1" dirty="0" err="1">
                <a:solidFill>
                  <a:srgbClr val="000090"/>
                </a:solidFill>
              </a:rPr>
              <a:t>Yes</a:t>
            </a:r>
            <a:r>
              <a:rPr lang="fr-FR" sz="2100" b="1" dirty="0">
                <a:solidFill>
                  <a:srgbClr val="000090"/>
                </a:solidFill>
              </a:rPr>
              <a:t>, </a:t>
            </a:r>
            <a:r>
              <a:rPr lang="fr-FR" sz="2100" b="1" dirty="0" err="1">
                <a:solidFill>
                  <a:srgbClr val="000090"/>
                </a:solidFill>
              </a:rPr>
              <a:t>we</a:t>
            </a:r>
            <a:r>
              <a:rPr lang="fr-FR" sz="2100" b="1" dirty="0">
                <a:solidFill>
                  <a:srgbClr val="000090"/>
                </a:solidFill>
              </a:rPr>
              <a:t> </a:t>
            </a:r>
            <a:r>
              <a:rPr lang="fr-FR" sz="2100" b="1" dirty="0" err="1">
                <a:solidFill>
                  <a:srgbClr val="000090"/>
                </a:solidFill>
              </a:rPr>
              <a:t>can</a:t>
            </a:r>
            <a:r>
              <a:rPr lang="fr-FR" sz="2100" b="1" dirty="0">
                <a:solidFill>
                  <a:srgbClr val="000090"/>
                </a:solidFill>
              </a:rPr>
              <a:t> do </a:t>
            </a:r>
            <a:r>
              <a:rPr lang="fr-FR" sz="2100" b="1" dirty="0" err="1">
                <a:solidFill>
                  <a:srgbClr val="000090"/>
                </a:solidFill>
              </a:rPr>
              <a:t>it</a:t>
            </a:r>
            <a:r>
              <a:rPr lang="fr-FR" sz="2100" b="1" dirty="0">
                <a:solidFill>
                  <a:srgbClr val="000090"/>
                </a:solidFill>
              </a:rPr>
              <a:t> but </a:t>
            </a:r>
            <a:r>
              <a:rPr lang="fr-FR" sz="2100" b="1" dirty="0" err="1">
                <a:solidFill>
                  <a:srgbClr val="000090"/>
                </a:solidFill>
              </a:rPr>
              <a:t>you</a:t>
            </a:r>
            <a:r>
              <a:rPr lang="fr-FR" sz="2100" b="1" dirty="0">
                <a:solidFill>
                  <a:srgbClr val="000090"/>
                </a:solidFill>
              </a:rPr>
              <a:t> </a:t>
            </a:r>
            <a:r>
              <a:rPr lang="fr-FR" sz="2100" b="1" dirty="0" err="1">
                <a:solidFill>
                  <a:srgbClr val="000090"/>
                </a:solidFill>
              </a:rPr>
              <a:t>will</a:t>
            </a:r>
            <a:r>
              <a:rPr lang="fr-FR" sz="2100" b="1" dirty="0">
                <a:solidFill>
                  <a:srgbClr val="000090"/>
                </a:solidFill>
              </a:rPr>
              <a:t> have to </a:t>
            </a:r>
            <a:r>
              <a:rPr lang="fr-FR" sz="2100" b="1" dirty="0" err="1">
                <a:solidFill>
                  <a:srgbClr val="000090"/>
                </a:solidFill>
              </a:rPr>
              <a:t>pay</a:t>
            </a:r>
            <a:r>
              <a:rPr lang="fr-FR" sz="2100" b="1" dirty="0">
                <a:solidFill>
                  <a:srgbClr val="000090"/>
                </a:solidFill>
              </a:rPr>
              <a:t> for </a:t>
            </a:r>
            <a:r>
              <a:rPr lang="fr-FR" sz="2100" b="1" dirty="0" err="1">
                <a:solidFill>
                  <a:srgbClr val="000090"/>
                </a:solidFill>
              </a:rPr>
              <a:t>it</a:t>
            </a:r>
            <a:r>
              <a:rPr lang="fr-FR" sz="2100" b="1" dirty="0">
                <a:solidFill>
                  <a:srgbClr val="000090"/>
                </a:solidFill>
              </a:rPr>
              <a:t> » </a:t>
            </a:r>
            <a:r>
              <a:rPr lang="fr-FR" sz="2100" b="1" dirty="0" err="1">
                <a:solidFill>
                  <a:srgbClr val="000090"/>
                </a:solidFill>
              </a:rPr>
              <a:t>Instead</a:t>
            </a:r>
            <a:r>
              <a:rPr lang="fr-FR" sz="2100" b="1" dirty="0">
                <a:solidFill>
                  <a:srgbClr val="000090"/>
                </a:solidFill>
              </a:rPr>
              <a:t> of « No, </a:t>
            </a:r>
            <a:r>
              <a:rPr lang="fr-FR" sz="2100" b="1" dirty="0" err="1">
                <a:solidFill>
                  <a:srgbClr val="000090"/>
                </a:solidFill>
              </a:rPr>
              <a:t>we</a:t>
            </a:r>
            <a:r>
              <a:rPr lang="fr-FR" sz="2100" b="1" dirty="0">
                <a:solidFill>
                  <a:srgbClr val="000090"/>
                </a:solidFill>
              </a:rPr>
              <a:t> </a:t>
            </a:r>
            <a:r>
              <a:rPr lang="fr-FR" sz="2100" b="1" dirty="0" err="1">
                <a:solidFill>
                  <a:srgbClr val="000090"/>
                </a:solidFill>
              </a:rPr>
              <a:t>can’t</a:t>
            </a:r>
            <a:r>
              <a:rPr lang="fr-FR" sz="2100" b="1" dirty="0">
                <a:solidFill>
                  <a:srgbClr val="000090"/>
                </a:solidFill>
              </a:rPr>
              <a:t> do </a:t>
            </a:r>
            <a:r>
              <a:rPr lang="fr-FR" sz="2100" b="1" dirty="0" err="1">
                <a:solidFill>
                  <a:srgbClr val="000090"/>
                </a:solidFill>
              </a:rPr>
              <a:t>it</a:t>
            </a:r>
            <a:r>
              <a:rPr lang="fr-FR" sz="2100" b="1" dirty="0">
                <a:solidFill>
                  <a:srgbClr val="000090"/>
                </a:solidFill>
              </a:rPr>
              <a:t> as </a:t>
            </a:r>
            <a:r>
              <a:rPr lang="fr-FR" sz="2100" b="1" dirty="0" err="1">
                <a:solidFill>
                  <a:srgbClr val="000090"/>
                </a:solidFill>
              </a:rPr>
              <a:t>it</a:t>
            </a:r>
            <a:r>
              <a:rPr lang="fr-FR" sz="2100" b="1" dirty="0">
                <a:solidFill>
                  <a:srgbClr val="000090"/>
                </a:solidFill>
              </a:rPr>
              <a:t> </a:t>
            </a:r>
            <a:r>
              <a:rPr lang="fr-FR" sz="2100" b="1" dirty="0" err="1">
                <a:solidFill>
                  <a:srgbClr val="000090"/>
                </a:solidFill>
              </a:rPr>
              <a:t>is</a:t>
            </a:r>
            <a:r>
              <a:rPr lang="fr-FR" sz="2100" b="1" dirty="0">
                <a:solidFill>
                  <a:srgbClr val="000090"/>
                </a:solidFill>
              </a:rPr>
              <a:t> not in </a:t>
            </a:r>
            <a:r>
              <a:rPr lang="fr-FR" sz="2100" b="1" dirty="0" err="1">
                <a:solidFill>
                  <a:srgbClr val="000090"/>
                </a:solidFill>
              </a:rPr>
              <a:t>our</a:t>
            </a:r>
            <a:r>
              <a:rPr lang="fr-FR" sz="2100" b="1" dirty="0">
                <a:solidFill>
                  <a:srgbClr val="000090"/>
                </a:solidFill>
              </a:rPr>
              <a:t> budget »</a:t>
            </a:r>
          </a:p>
          <a:p>
            <a:pPr marL="236538" indent="-236538" defTabSz="814388">
              <a:lnSpc>
                <a:spcPct val="95000"/>
              </a:lnSpc>
              <a:spcBef>
                <a:spcPct val="50000"/>
              </a:spcBef>
              <a:buFont typeface="Wingdings" charset="0"/>
              <a:buChar char="§"/>
            </a:pPr>
            <a:r>
              <a:rPr lang="fr-FR" sz="2900" b="1" dirty="0">
                <a:solidFill>
                  <a:srgbClr val="000090"/>
                </a:solidFill>
              </a:rPr>
              <a:t>Pros</a:t>
            </a:r>
          </a:p>
          <a:p>
            <a:pPr marL="538481" lvl="1" indent="-236538" defTabSz="814388">
              <a:lnSpc>
                <a:spcPct val="95000"/>
              </a:lnSpc>
              <a:spcBef>
                <a:spcPct val="50000"/>
              </a:spcBef>
              <a:buFont typeface="Wingdings" charset="0"/>
              <a:buChar char="§"/>
            </a:pPr>
            <a:r>
              <a:rPr lang="fr-FR" b="1" dirty="0" err="1">
                <a:solidFill>
                  <a:srgbClr val="000090"/>
                </a:solidFill>
              </a:rPr>
              <a:t>Reduced</a:t>
            </a:r>
            <a:r>
              <a:rPr lang="fr-FR" b="1" dirty="0">
                <a:solidFill>
                  <a:srgbClr val="000090"/>
                </a:solidFill>
              </a:rPr>
              <a:t> </a:t>
            </a:r>
            <a:r>
              <a:rPr lang="fr-FR" b="1" dirty="0" err="1">
                <a:solidFill>
                  <a:srgbClr val="000090"/>
                </a:solidFill>
              </a:rPr>
              <a:t>costs</a:t>
            </a:r>
            <a:r>
              <a:rPr lang="fr-FR" b="1" dirty="0">
                <a:solidFill>
                  <a:srgbClr val="000090"/>
                </a:solidFill>
              </a:rPr>
              <a:t> by </a:t>
            </a:r>
            <a:r>
              <a:rPr lang="fr-FR" b="1" dirty="0" err="1">
                <a:solidFill>
                  <a:srgbClr val="000090"/>
                </a:solidFill>
              </a:rPr>
              <a:t>cutting</a:t>
            </a:r>
            <a:r>
              <a:rPr lang="fr-FR" b="1" dirty="0">
                <a:solidFill>
                  <a:srgbClr val="000090"/>
                </a:solidFill>
              </a:rPr>
              <a:t> off </a:t>
            </a:r>
            <a:r>
              <a:rPr lang="fr-FR" b="1" dirty="0" err="1">
                <a:solidFill>
                  <a:srgbClr val="000090"/>
                </a:solidFill>
              </a:rPr>
              <a:t>unnecessary</a:t>
            </a:r>
            <a:r>
              <a:rPr lang="fr-FR" b="1" dirty="0">
                <a:solidFill>
                  <a:srgbClr val="000090"/>
                </a:solidFill>
              </a:rPr>
              <a:t> </a:t>
            </a:r>
            <a:r>
              <a:rPr lang="fr-FR" b="1" dirty="0" err="1">
                <a:solidFill>
                  <a:srgbClr val="000090"/>
                </a:solidFill>
              </a:rPr>
              <a:t>demands</a:t>
            </a:r>
            <a:r>
              <a:rPr lang="fr-FR" b="1" dirty="0">
                <a:solidFill>
                  <a:srgbClr val="000090"/>
                </a:solidFill>
              </a:rPr>
              <a:t> </a:t>
            </a:r>
            <a:r>
              <a:rPr lang="fr-FR" b="1" dirty="0" err="1">
                <a:solidFill>
                  <a:srgbClr val="000090"/>
                </a:solidFill>
              </a:rPr>
              <a:t>from</a:t>
            </a:r>
            <a:r>
              <a:rPr lang="fr-FR" b="1" dirty="0">
                <a:solidFill>
                  <a:srgbClr val="000090"/>
                </a:solidFill>
              </a:rPr>
              <a:t> </a:t>
            </a:r>
            <a:r>
              <a:rPr lang="fr-FR" b="1" dirty="0" err="1">
                <a:solidFill>
                  <a:srgbClr val="000090"/>
                </a:solidFill>
              </a:rPr>
              <a:t>users</a:t>
            </a:r>
            <a:endParaRPr lang="fr-FR" b="1" dirty="0">
              <a:solidFill>
                <a:srgbClr val="000090"/>
              </a:solidFill>
            </a:endParaRPr>
          </a:p>
          <a:p>
            <a:pPr marL="538481" lvl="1" indent="-236538" defTabSz="814388">
              <a:lnSpc>
                <a:spcPct val="95000"/>
              </a:lnSpc>
              <a:spcBef>
                <a:spcPct val="50000"/>
              </a:spcBef>
              <a:buFont typeface="Wingdings" charset="0"/>
              <a:buChar char="§"/>
            </a:pPr>
            <a:r>
              <a:rPr lang="fr-FR" b="1" dirty="0" err="1">
                <a:solidFill>
                  <a:srgbClr val="000090"/>
                </a:solidFill>
              </a:rPr>
              <a:t>Improved</a:t>
            </a:r>
            <a:r>
              <a:rPr lang="fr-FR" b="1" dirty="0">
                <a:solidFill>
                  <a:srgbClr val="000090"/>
                </a:solidFill>
              </a:rPr>
              <a:t> </a:t>
            </a:r>
            <a:r>
              <a:rPr lang="fr-FR" b="1" dirty="0" err="1">
                <a:solidFill>
                  <a:srgbClr val="000090"/>
                </a:solidFill>
              </a:rPr>
              <a:t>visibility</a:t>
            </a:r>
            <a:r>
              <a:rPr lang="fr-FR" b="1" dirty="0">
                <a:solidFill>
                  <a:srgbClr val="000090"/>
                </a:solidFill>
              </a:rPr>
              <a:t> to </a:t>
            </a:r>
            <a:r>
              <a:rPr lang="fr-FR" b="1" dirty="0" err="1">
                <a:solidFill>
                  <a:srgbClr val="000090"/>
                </a:solidFill>
              </a:rPr>
              <a:t>spendings</a:t>
            </a:r>
            <a:endParaRPr lang="fr-FR" b="1" dirty="0">
              <a:solidFill>
                <a:srgbClr val="000090"/>
              </a:solidFill>
            </a:endParaRPr>
          </a:p>
          <a:p>
            <a:pPr marL="538481" lvl="1" indent="-236538" defTabSz="814388">
              <a:lnSpc>
                <a:spcPct val="95000"/>
              </a:lnSpc>
              <a:spcBef>
                <a:spcPct val="50000"/>
              </a:spcBef>
              <a:buFont typeface="Wingdings" charset="0"/>
              <a:buChar char="§"/>
            </a:pPr>
            <a:r>
              <a:rPr lang="fr-FR" b="1" dirty="0" err="1">
                <a:solidFill>
                  <a:srgbClr val="000090"/>
                </a:solidFill>
              </a:rPr>
              <a:t>Increased</a:t>
            </a:r>
            <a:r>
              <a:rPr lang="fr-FR" b="1" dirty="0">
                <a:solidFill>
                  <a:srgbClr val="000090"/>
                </a:solidFill>
              </a:rPr>
              <a:t> </a:t>
            </a:r>
            <a:r>
              <a:rPr lang="fr-FR" b="1" dirty="0" err="1">
                <a:solidFill>
                  <a:srgbClr val="000090"/>
                </a:solidFill>
              </a:rPr>
              <a:t>accountability</a:t>
            </a:r>
            <a:r>
              <a:rPr lang="fr-FR" b="1" dirty="0">
                <a:solidFill>
                  <a:srgbClr val="000090"/>
                </a:solidFill>
              </a:rPr>
              <a:t> and </a:t>
            </a:r>
            <a:r>
              <a:rPr lang="fr-FR" b="1" dirty="0" err="1">
                <a:solidFill>
                  <a:srgbClr val="000090"/>
                </a:solidFill>
              </a:rPr>
              <a:t>controllability</a:t>
            </a:r>
            <a:endParaRPr lang="fr-FR" b="1" dirty="0">
              <a:solidFill>
                <a:srgbClr val="000090"/>
              </a:solidFill>
            </a:endParaRPr>
          </a:p>
          <a:p>
            <a:pPr marL="236538" indent="-236538" defTabSz="814388">
              <a:lnSpc>
                <a:spcPct val="95000"/>
              </a:lnSpc>
              <a:spcBef>
                <a:spcPct val="50000"/>
              </a:spcBef>
              <a:buFont typeface="Wingdings" charset="0"/>
              <a:buChar char="§"/>
            </a:pPr>
            <a:r>
              <a:rPr lang="fr-FR" sz="2900" b="1" dirty="0">
                <a:solidFill>
                  <a:srgbClr val="000090"/>
                </a:solidFill>
              </a:rPr>
              <a:t>Cons</a:t>
            </a:r>
          </a:p>
          <a:p>
            <a:pPr marL="538481" lvl="1" indent="-236538" defTabSz="814388">
              <a:lnSpc>
                <a:spcPct val="95000"/>
              </a:lnSpc>
              <a:spcBef>
                <a:spcPct val="50000"/>
              </a:spcBef>
              <a:buFont typeface="Wingdings" charset="0"/>
              <a:buChar char="§"/>
            </a:pPr>
            <a:r>
              <a:rPr lang="fr-FR" b="1" dirty="0" err="1">
                <a:solidFill>
                  <a:srgbClr val="000090"/>
                </a:solidFill>
              </a:rPr>
              <a:t>Complex</a:t>
            </a:r>
            <a:r>
              <a:rPr lang="fr-FR" b="1" dirty="0">
                <a:solidFill>
                  <a:srgbClr val="000090"/>
                </a:solidFill>
              </a:rPr>
              <a:t> and </a:t>
            </a:r>
            <a:r>
              <a:rPr lang="fr-FR" b="1" dirty="0" err="1">
                <a:solidFill>
                  <a:srgbClr val="000090"/>
                </a:solidFill>
              </a:rPr>
              <a:t>controversial</a:t>
            </a:r>
            <a:r>
              <a:rPr lang="fr-FR" b="1" dirty="0">
                <a:solidFill>
                  <a:srgbClr val="000090"/>
                </a:solidFill>
              </a:rPr>
              <a:t> allocation </a:t>
            </a:r>
            <a:r>
              <a:rPr lang="fr-FR" b="1" dirty="0" err="1">
                <a:solidFill>
                  <a:srgbClr val="000090"/>
                </a:solidFill>
              </a:rPr>
              <a:t>rules</a:t>
            </a:r>
            <a:endParaRPr lang="fr-FR" b="1" dirty="0">
              <a:solidFill>
                <a:srgbClr val="000090"/>
              </a:solidFill>
            </a:endParaRPr>
          </a:p>
          <a:p>
            <a:pPr marL="538481" lvl="1" indent="-236538" defTabSz="814388">
              <a:lnSpc>
                <a:spcPct val="95000"/>
              </a:lnSpc>
              <a:spcBef>
                <a:spcPct val="50000"/>
              </a:spcBef>
              <a:buFont typeface="Wingdings" charset="0"/>
              <a:buChar char="§"/>
            </a:pPr>
            <a:r>
              <a:rPr lang="fr-FR" b="1" dirty="0">
                <a:solidFill>
                  <a:srgbClr val="000090"/>
                </a:solidFill>
              </a:rPr>
              <a:t>Heavy management </a:t>
            </a:r>
            <a:r>
              <a:rPr lang="fr-FR" b="1" dirty="0" err="1">
                <a:solidFill>
                  <a:srgbClr val="000090"/>
                </a:solidFill>
              </a:rPr>
              <a:t>process</a:t>
            </a:r>
            <a:r>
              <a:rPr lang="fr-FR" b="1" dirty="0">
                <a:solidFill>
                  <a:srgbClr val="000090"/>
                </a:solidFill>
              </a:rPr>
              <a:t> to </a:t>
            </a:r>
            <a:r>
              <a:rPr lang="fr-FR" b="1" dirty="0" err="1">
                <a:solidFill>
                  <a:srgbClr val="000090"/>
                </a:solidFill>
              </a:rPr>
              <a:t>collect</a:t>
            </a:r>
            <a:r>
              <a:rPr lang="fr-FR" b="1" dirty="0">
                <a:solidFill>
                  <a:srgbClr val="000090"/>
                </a:solidFill>
              </a:rPr>
              <a:t> and report on data</a:t>
            </a:r>
          </a:p>
          <a:p>
            <a:pPr marL="538481" lvl="1" indent="-236538" defTabSz="814388">
              <a:lnSpc>
                <a:spcPct val="95000"/>
              </a:lnSpc>
              <a:spcBef>
                <a:spcPct val="50000"/>
              </a:spcBef>
              <a:buFont typeface="Wingdings" charset="0"/>
              <a:buChar char="§"/>
            </a:pPr>
            <a:r>
              <a:rPr lang="fr-FR" b="1" dirty="0" err="1">
                <a:solidFill>
                  <a:srgbClr val="000090"/>
                </a:solidFill>
              </a:rPr>
              <a:t>Make</a:t>
            </a:r>
            <a:r>
              <a:rPr lang="fr-FR" b="1" dirty="0">
                <a:solidFill>
                  <a:srgbClr val="000090"/>
                </a:solidFill>
              </a:rPr>
              <a:t> </a:t>
            </a:r>
            <a:r>
              <a:rPr lang="fr-FR" b="1" dirty="0" err="1">
                <a:solidFill>
                  <a:srgbClr val="000090"/>
                </a:solidFill>
              </a:rPr>
              <a:t>relationship</a:t>
            </a:r>
            <a:r>
              <a:rPr lang="fr-FR" b="1" dirty="0">
                <a:solidFill>
                  <a:srgbClr val="000090"/>
                </a:solidFill>
              </a:rPr>
              <a:t> </a:t>
            </a:r>
            <a:r>
              <a:rPr lang="fr-FR" b="1" dirty="0" err="1">
                <a:solidFill>
                  <a:srgbClr val="000090"/>
                </a:solidFill>
              </a:rPr>
              <a:t>between</a:t>
            </a:r>
            <a:r>
              <a:rPr lang="fr-FR" b="1" dirty="0">
                <a:solidFill>
                  <a:srgbClr val="000090"/>
                </a:solidFill>
              </a:rPr>
              <a:t> IT and </a:t>
            </a:r>
            <a:r>
              <a:rPr lang="fr-FR" b="1" dirty="0" err="1">
                <a:solidFill>
                  <a:srgbClr val="000090"/>
                </a:solidFill>
              </a:rPr>
              <a:t>other</a:t>
            </a:r>
            <a:r>
              <a:rPr lang="fr-FR" b="1" dirty="0">
                <a:solidFill>
                  <a:srgbClr val="000090"/>
                </a:solidFill>
              </a:rPr>
              <a:t> </a:t>
            </a:r>
            <a:r>
              <a:rPr lang="fr-FR" b="1" dirty="0" err="1">
                <a:solidFill>
                  <a:srgbClr val="000090"/>
                </a:solidFill>
              </a:rPr>
              <a:t>departments</a:t>
            </a:r>
            <a:r>
              <a:rPr lang="fr-FR" b="1" dirty="0">
                <a:solidFill>
                  <a:srgbClr val="000090"/>
                </a:solidFill>
              </a:rPr>
              <a:t> </a:t>
            </a:r>
            <a:r>
              <a:rPr lang="fr-FR" b="1" dirty="0" err="1">
                <a:solidFill>
                  <a:srgbClr val="000090"/>
                </a:solidFill>
              </a:rPr>
              <a:t>difficult</a:t>
            </a:r>
            <a:r>
              <a:rPr lang="fr-FR" b="1" dirty="0">
                <a:solidFill>
                  <a:srgbClr val="000090"/>
                </a:solidFill>
              </a:rPr>
              <a:t> </a:t>
            </a:r>
            <a:r>
              <a:rPr lang="fr-FR" b="1" dirty="0" err="1">
                <a:solidFill>
                  <a:srgbClr val="000090"/>
                </a:solidFill>
              </a:rPr>
              <a:t>mostly</a:t>
            </a:r>
            <a:r>
              <a:rPr lang="fr-FR" b="1" dirty="0">
                <a:solidFill>
                  <a:srgbClr val="000090"/>
                </a:solidFill>
              </a:rPr>
              <a:t> </a:t>
            </a:r>
            <a:r>
              <a:rPr lang="fr-FR" b="1" dirty="0" err="1">
                <a:solidFill>
                  <a:srgbClr val="000090"/>
                </a:solidFill>
              </a:rPr>
              <a:t>because</a:t>
            </a:r>
            <a:r>
              <a:rPr lang="fr-FR" b="1" dirty="0">
                <a:solidFill>
                  <a:srgbClr val="000090"/>
                </a:solidFill>
              </a:rPr>
              <a:t> of the questions of the </a:t>
            </a:r>
            <a:r>
              <a:rPr lang="fr-FR" b="1" dirty="0" err="1">
                <a:solidFill>
                  <a:srgbClr val="000090"/>
                </a:solidFill>
              </a:rPr>
              <a:t>fairness</a:t>
            </a:r>
            <a:r>
              <a:rPr lang="fr-FR" b="1" dirty="0">
                <a:solidFill>
                  <a:srgbClr val="000090"/>
                </a:solidFill>
              </a:rPr>
              <a:t> of the allocation </a:t>
            </a:r>
            <a:r>
              <a:rPr lang="fr-FR" b="1" dirty="0" err="1">
                <a:solidFill>
                  <a:srgbClr val="000090"/>
                </a:solidFill>
              </a:rPr>
              <a:t>rules</a:t>
            </a:r>
            <a:r>
              <a:rPr lang="fr-FR" b="1" dirty="0">
                <a:solidFill>
                  <a:srgbClr val="000090"/>
                </a:solidFill>
              </a:rPr>
              <a:t> </a:t>
            </a:r>
            <a:r>
              <a:rPr lang="fr-FR" b="1" dirty="0" err="1">
                <a:solidFill>
                  <a:srgbClr val="000090"/>
                </a:solidFill>
              </a:rPr>
              <a:t>used</a:t>
            </a:r>
            <a:endParaRPr lang="fr-FR" b="1" dirty="0">
              <a:solidFill>
                <a:srgbClr val="000090"/>
              </a:solidFill>
            </a:endParaRPr>
          </a:p>
        </p:txBody>
      </p:sp>
    </p:spTree>
    <p:extLst>
      <p:ext uri="{BB962C8B-B14F-4D97-AF65-F5344CB8AC3E}">
        <p14:creationId xmlns:p14="http://schemas.microsoft.com/office/powerpoint/2010/main" val="163425059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a:xfrm>
            <a:off x="541602" y="660400"/>
            <a:ext cx="8145462" cy="838200"/>
          </a:xfrm>
        </p:spPr>
        <p:txBody>
          <a:bodyPr/>
          <a:lstStyle/>
          <a:p>
            <a:r>
              <a:rPr lang="en-US" dirty="0">
                <a:ea typeface="ＭＳ Ｐゴシック" charset="0"/>
                <a:cs typeface="ＭＳ Ｐゴシック" charset="0"/>
              </a:rPr>
              <a:t>IT Chargeback process </a:t>
            </a:r>
            <a:r>
              <a:rPr lang="en-US" sz="2400" dirty="0">
                <a:ea typeface="ＭＳ Ｐゴシック" charset="0"/>
                <a:cs typeface="ＭＳ Ｐゴシック" charset="0"/>
              </a:rPr>
              <a:t>(2/3)</a:t>
            </a:r>
            <a:endParaRPr lang="en-US" sz="1600" dirty="0">
              <a:ea typeface="ＭＳ Ｐゴシック" charset="0"/>
              <a:cs typeface="ＭＳ Ｐゴシック" charset="0"/>
            </a:endParaRPr>
          </a:p>
        </p:txBody>
      </p:sp>
      <p:sp>
        <p:nvSpPr>
          <p:cNvPr id="10242" name="Rectangle 3"/>
          <p:cNvSpPr>
            <a:spLocks noChangeArrowheads="1"/>
          </p:cNvSpPr>
          <p:nvPr/>
        </p:nvSpPr>
        <p:spPr bwMode="auto">
          <a:xfrm>
            <a:off x="2016125" y="876300"/>
            <a:ext cx="8145463"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2124" tIns="41061" rIns="82124" bIns="41061" anchor="b"/>
          <a:lstStyle/>
          <a:p>
            <a:pPr algn="l" defTabSz="814388" eaLnBrk="1" hangingPunct="1">
              <a:spcBef>
                <a:spcPct val="50000"/>
              </a:spcBef>
              <a:buClr>
                <a:schemeClr val="tx2"/>
              </a:buClr>
              <a:buFont typeface="Wingdings" charset="0"/>
              <a:buChar char="§"/>
            </a:pPr>
            <a:endParaRPr lang="en-US" sz="2000" b="1"/>
          </a:p>
        </p:txBody>
      </p:sp>
      <p:sp>
        <p:nvSpPr>
          <p:cNvPr id="7" name="Content Placeholder 1">
            <a:extLst>
              <a:ext uri="{FF2B5EF4-FFF2-40B4-BE49-F238E27FC236}">
                <a16:creationId xmlns:a16="http://schemas.microsoft.com/office/drawing/2014/main" id="{94253555-0858-B44B-BD77-B83D61B54912}"/>
              </a:ext>
            </a:extLst>
          </p:cNvPr>
          <p:cNvSpPr txBox="1">
            <a:spLocks/>
          </p:cNvSpPr>
          <p:nvPr/>
        </p:nvSpPr>
        <p:spPr>
          <a:xfrm>
            <a:off x="275167" y="2459567"/>
            <a:ext cx="8660489" cy="4242175"/>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236538" indent="-236538" defTabSz="814388">
              <a:lnSpc>
                <a:spcPct val="95000"/>
              </a:lnSpc>
              <a:spcBef>
                <a:spcPct val="50000"/>
              </a:spcBef>
              <a:buFont typeface="Wingdings" charset="0"/>
              <a:buChar char="§"/>
            </a:pPr>
            <a:r>
              <a:rPr lang="fr-FR" sz="2600" b="1" dirty="0">
                <a:solidFill>
                  <a:srgbClr val="000090"/>
                </a:solidFill>
              </a:rPr>
              <a:t>Allocation </a:t>
            </a:r>
            <a:r>
              <a:rPr lang="fr-FR" sz="2600" b="1" dirty="0" err="1">
                <a:solidFill>
                  <a:srgbClr val="000090"/>
                </a:solidFill>
              </a:rPr>
              <a:t>methods</a:t>
            </a:r>
            <a:endParaRPr lang="fr-FR" sz="2600" b="1" dirty="0">
              <a:solidFill>
                <a:srgbClr val="000090"/>
              </a:solidFill>
            </a:endParaRPr>
          </a:p>
        </p:txBody>
      </p:sp>
      <p:pic>
        <p:nvPicPr>
          <p:cNvPr id="2" name="Picture 1">
            <a:extLst>
              <a:ext uri="{FF2B5EF4-FFF2-40B4-BE49-F238E27FC236}">
                <a16:creationId xmlns:a16="http://schemas.microsoft.com/office/drawing/2014/main" id="{654839BF-4C7C-2244-A2AE-C4008E98ACC7}"/>
              </a:ext>
            </a:extLst>
          </p:cNvPr>
          <p:cNvPicPr>
            <a:picLocks noChangeAspect="1"/>
          </p:cNvPicPr>
          <p:nvPr/>
        </p:nvPicPr>
        <p:blipFill rotWithShape="1">
          <a:blip r:embed="rId2"/>
          <a:srcRect l="886" t="27265" r="55570" b="38709"/>
          <a:stretch/>
        </p:blipFill>
        <p:spPr>
          <a:xfrm>
            <a:off x="1145892" y="3078866"/>
            <a:ext cx="7541171" cy="3682897"/>
          </a:xfrm>
          <a:prstGeom prst="rect">
            <a:avLst/>
          </a:prstGeom>
        </p:spPr>
      </p:pic>
    </p:spTree>
    <p:extLst>
      <p:ext uri="{BB962C8B-B14F-4D97-AF65-F5344CB8AC3E}">
        <p14:creationId xmlns:p14="http://schemas.microsoft.com/office/powerpoint/2010/main" val="255069609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a:xfrm>
            <a:off x="541602" y="660400"/>
            <a:ext cx="8145462" cy="838200"/>
          </a:xfrm>
        </p:spPr>
        <p:txBody>
          <a:bodyPr/>
          <a:lstStyle/>
          <a:p>
            <a:r>
              <a:rPr lang="en-US" dirty="0">
                <a:ea typeface="ＭＳ Ｐゴシック" charset="0"/>
                <a:cs typeface="ＭＳ Ｐゴシック" charset="0"/>
              </a:rPr>
              <a:t>IT Chargeback process </a:t>
            </a:r>
            <a:r>
              <a:rPr lang="en-US" sz="2400" dirty="0">
                <a:ea typeface="ＭＳ Ｐゴシック" charset="0"/>
                <a:cs typeface="ＭＳ Ｐゴシック" charset="0"/>
              </a:rPr>
              <a:t>(3/3)</a:t>
            </a:r>
            <a:endParaRPr lang="en-US" sz="1600" dirty="0">
              <a:ea typeface="ＭＳ Ｐゴシック" charset="0"/>
              <a:cs typeface="ＭＳ Ｐゴシック" charset="0"/>
            </a:endParaRPr>
          </a:p>
        </p:txBody>
      </p:sp>
      <p:sp>
        <p:nvSpPr>
          <p:cNvPr id="10242" name="Rectangle 3"/>
          <p:cNvSpPr>
            <a:spLocks noChangeArrowheads="1"/>
          </p:cNvSpPr>
          <p:nvPr/>
        </p:nvSpPr>
        <p:spPr bwMode="auto">
          <a:xfrm>
            <a:off x="2016125" y="876300"/>
            <a:ext cx="8145463"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2124" tIns="41061" rIns="82124" bIns="41061" anchor="b"/>
          <a:lstStyle/>
          <a:p>
            <a:pPr algn="l" defTabSz="814388" eaLnBrk="1" hangingPunct="1">
              <a:spcBef>
                <a:spcPct val="50000"/>
              </a:spcBef>
              <a:buClr>
                <a:schemeClr val="tx2"/>
              </a:buClr>
              <a:buFont typeface="Wingdings" charset="0"/>
              <a:buChar char="§"/>
            </a:pPr>
            <a:endParaRPr lang="en-US" sz="2000" b="1"/>
          </a:p>
        </p:txBody>
      </p:sp>
      <p:sp>
        <p:nvSpPr>
          <p:cNvPr id="7" name="Content Placeholder 1">
            <a:extLst>
              <a:ext uri="{FF2B5EF4-FFF2-40B4-BE49-F238E27FC236}">
                <a16:creationId xmlns:a16="http://schemas.microsoft.com/office/drawing/2014/main" id="{94253555-0858-B44B-BD77-B83D61B54912}"/>
              </a:ext>
            </a:extLst>
          </p:cNvPr>
          <p:cNvSpPr txBox="1">
            <a:spLocks/>
          </p:cNvSpPr>
          <p:nvPr/>
        </p:nvSpPr>
        <p:spPr>
          <a:xfrm>
            <a:off x="275167" y="2459567"/>
            <a:ext cx="8660489" cy="4242175"/>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236538" indent="-236538" defTabSz="814388">
              <a:lnSpc>
                <a:spcPct val="95000"/>
              </a:lnSpc>
              <a:spcBef>
                <a:spcPct val="50000"/>
              </a:spcBef>
              <a:buFont typeface="Wingdings" charset="0"/>
              <a:buChar char="§"/>
            </a:pPr>
            <a:r>
              <a:rPr lang="fr-FR" sz="2600" b="1" dirty="0">
                <a:solidFill>
                  <a:srgbClr val="000090"/>
                </a:solidFill>
              </a:rPr>
              <a:t>IT </a:t>
            </a:r>
            <a:r>
              <a:rPr lang="fr-FR" sz="2600" b="1" dirty="0" err="1">
                <a:solidFill>
                  <a:srgbClr val="000090"/>
                </a:solidFill>
              </a:rPr>
              <a:t>chargeback</a:t>
            </a:r>
            <a:r>
              <a:rPr lang="fr-FR" sz="2600" b="1" dirty="0">
                <a:solidFill>
                  <a:srgbClr val="000090"/>
                </a:solidFill>
              </a:rPr>
              <a:t> challenges</a:t>
            </a:r>
          </a:p>
          <a:p>
            <a:pPr marL="538481" lvl="1" indent="-236538" defTabSz="814388">
              <a:lnSpc>
                <a:spcPct val="95000"/>
              </a:lnSpc>
              <a:spcBef>
                <a:spcPct val="50000"/>
              </a:spcBef>
              <a:buFont typeface="Wingdings" charset="0"/>
              <a:buChar char="§"/>
            </a:pPr>
            <a:r>
              <a:rPr lang="fr-FR" sz="2000" b="1" dirty="0" err="1">
                <a:solidFill>
                  <a:srgbClr val="000090"/>
                </a:solidFill>
              </a:rPr>
              <a:t>Establishing</a:t>
            </a:r>
            <a:r>
              <a:rPr lang="fr-FR" sz="2000" b="1" dirty="0">
                <a:solidFill>
                  <a:srgbClr val="000090"/>
                </a:solidFill>
              </a:rPr>
              <a:t> a </a:t>
            </a:r>
            <a:r>
              <a:rPr lang="fr-FR" sz="2000" b="1" dirty="0" err="1">
                <a:solidFill>
                  <a:srgbClr val="000090"/>
                </a:solidFill>
              </a:rPr>
              <a:t>fair</a:t>
            </a:r>
            <a:r>
              <a:rPr lang="fr-FR" sz="2000" b="1" dirty="0">
                <a:solidFill>
                  <a:srgbClr val="000090"/>
                </a:solidFill>
              </a:rPr>
              <a:t> and </a:t>
            </a:r>
            <a:r>
              <a:rPr lang="fr-FR" sz="2000" b="1" dirty="0" err="1">
                <a:solidFill>
                  <a:srgbClr val="000090"/>
                </a:solidFill>
              </a:rPr>
              <a:t>practical</a:t>
            </a:r>
            <a:r>
              <a:rPr lang="fr-FR" sz="2000" b="1" dirty="0">
                <a:solidFill>
                  <a:srgbClr val="000090"/>
                </a:solidFill>
              </a:rPr>
              <a:t> </a:t>
            </a:r>
            <a:r>
              <a:rPr lang="fr-FR" sz="2000" b="1" dirty="0" err="1">
                <a:solidFill>
                  <a:srgbClr val="000090"/>
                </a:solidFill>
              </a:rPr>
              <a:t>chargeback</a:t>
            </a:r>
            <a:r>
              <a:rPr lang="fr-FR" sz="2000" b="1" dirty="0">
                <a:solidFill>
                  <a:srgbClr val="000090"/>
                </a:solidFill>
              </a:rPr>
              <a:t> </a:t>
            </a:r>
            <a:r>
              <a:rPr lang="fr-FR" sz="2000" b="1" dirty="0" err="1">
                <a:solidFill>
                  <a:srgbClr val="000090"/>
                </a:solidFill>
              </a:rPr>
              <a:t>policy</a:t>
            </a:r>
            <a:endParaRPr lang="fr-FR" sz="2000" b="1" dirty="0">
              <a:solidFill>
                <a:srgbClr val="000090"/>
              </a:solidFill>
            </a:endParaRPr>
          </a:p>
          <a:p>
            <a:pPr marL="538481" lvl="1" indent="-236538" defTabSz="814388">
              <a:lnSpc>
                <a:spcPct val="95000"/>
              </a:lnSpc>
              <a:spcBef>
                <a:spcPct val="50000"/>
              </a:spcBef>
              <a:buFont typeface="Wingdings" charset="0"/>
              <a:buChar char="§"/>
            </a:pPr>
            <a:r>
              <a:rPr lang="fr-FR" sz="2000" b="1" dirty="0" err="1">
                <a:solidFill>
                  <a:srgbClr val="000090"/>
                </a:solidFill>
              </a:rPr>
              <a:t>Partnering</a:t>
            </a:r>
            <a:r>
              <a:rPr lang="fr-FR" sz="2000" b="1" dirty="0">
                <a:solidFill>
                  <a:srgbClr val="000090"/>
                </a:solidFill>
              </a:rPr>
              <a:t> </a:t>
            </a:r>
            <a:r>
              <a:rPr lang="fr-FR" sz="2000" b="1" dirty="0" err="1">
                <a:solidFill>
                  <a:srgbClr val="000090"/>
                </a:solidFill>
              </a:rPr>
              <a:t>with</a:t>
            </a:r>
            <a:r>
              <a:rPr lang="fr-FR" sz="2000" b="1" dirty="0">
                <a:solidFill>
                  <a:srgbClr val="000090"/>
                </a:solidFill>
              </a:rPr>
              <a:t> business </a:t>
            </a:r>
            <a:r>
              <a:rPr lang="fr-FR" sz="2000" b="1" dirty="0" err="1">
                <a:solidFill>
                  <a:srgbClr val="000090"/>
                </a:solidFill>
              </a:rPr>
              <a:t>units</a:t>
            </a:r>
            <a:r>
              <a:rPr lang="fr-FR" sz="2000" b="1" dirty="0">
                <a:solidFill>
                  <a:srgbClr val="000090"/>
                </a:solidFill>
              </a:rPr>
              <a:t> for </a:t>
            </a:r>
            <a:r>
              <a:rPr lang="fr-FR" sz="2000" b="1" dirty="0" err="1">
                <a:solidFill>
                  <a:srgbClr val="000090"/>
                </a:solidFill>
              </a:rPr>
              <a:t>buy</a:t>
            </a:r>
            <a:r>
              <a:rPr lang="fr-FR" sz="2000" b="1" dirty="0">
                <a:solidFill>
                  <a:srgbClr val="000090"/>
                </a:solidFill>
              </a:rPr>
              <a:t> in</a:t>
            </a:r>
          </a:p>
          <a:p>
            <a:pPr marL="538481" lvl="1" indent="-236538" defTabSz="814388">
              <a:lnSpc>
                <a:spcPct val="95000"/>
              </a:lnSpc>
              <a:spcBef>
                <a:spcPct val="50000"/>
              </a:spcBef>
              <a:buFont typeface="Wingdings" charset="0"/>
              <a:buChar char="§"/>
            </a:pPr>
            <a:r>
              <a:rPr lang="fr-FR" sz="2000" b="1" dirty="0" err="1">
                <a:solidFill>
                  <a:srgbClr val="000090"/>
                </a:solidFill>
              </a:rPr>
              <a:t>Collecting</a:t>
            </a:r>
            <a:r>
              <a:rPr lang="fr-FR" sz="2000" b="1" dirty="0">
                <a:solidFill>
                  <a:srgbClr val="000090"/>
                </a:solidFill>
              </a:rPr>
              <a:t> usage </a:t>
            </a:r>
            <a:r>
              <a:rPr lang="fr-FR" sz="2000" b="1" dirty="0" err="1">
                <a:solidFill>
                  <a:srgbClr val="000090"/>
                </a:solidFill>
              </a:rPr>
              <a:t>metrics</a:t>
            </a:r>
            <a:r>
              <a:rPr lang="fr-FR" sz="2000" b="1" dirty="0">
                <a:solidFill>
                  <a:srgbClr val="000090"/>
                </a:solidFill>
              </a:rPr>
              <a:t> </a:t>
            </a:r>
            <a:r>
              <a:rPr lang="fr-FR" sz="2000" b="1" dirty="0" err="1">
                <a:solidFill>
                  <a:srgbClr val="000090"/>
                </a:solidFill>
              </a:rPr>
              <a:t>is</a:t>
            </a:r>
            <a:r>
              <a:rPr lang="fr-FR" sz="2000" b="1" dirty="0">
                <a:solidFill>
                  <a:srgbClr val="000090"/>
                </a:solidFill>
              </a:rPr>
              <a:t> time </a:t>
            </a:r>
            <a:r>
              <a:rPr lang="fr-FR" sz="2000" b="1" dirty="0" err="1">
                <a:solidFill>
                  <a:srgbClr val="000090"/>
                </a:solidFill>
              </a:rPr>
              <a:t>consuming</a:t>
            </a:r>
            <a:endParaRPr lang="fr-FR" sz="2000" b="1" dirty="0">
              <a:solidFill>
                <a:srgbClr val="000090"/>
              </a:solidFill>
            </a:endParaRPr>
          </a:p>
          <a:p>
            <a:pPr marL="538481" lvl="1" indent="-236538" defTabSz="814388">
              <a:lnSpc>
                <a:spcPct val="95000"/>
              </a:lnSpc>
              <a:spcBef>
                <a:spcPct val="50000"/>
              </a:spcBef>
              <a:buFont typeface="Wingdings" charset="0"/>
              <a:buChar char="§"/>
            </a:pPr>
            <a:r>
              <a:rPr lang="fr-FR" sz="2000" b="1" dirty="0" err="1">
                <a:solidFill>
                  <a:srgbClr val="000090"/>
                </a:solidFill>
              </a:rPr>
              <a:t>Allocating</a:t>
            </a:r>
            <a:r>
              <a:rPr lang="fr-FR" sz="2000" b="1" dirty="0">
                <a:solidFill>
                  <a:srgbClr val="000090"/>
                </a:solidFill>
              </a:rPr>
              <a:t> IT </a:t>
            </a:r>
            <a:r>
              <a:rPr lang="fr-FR" sz="2000" b="1" dirty="0" err="1">
                <a:solidFill>
                  <a:srgbClr val="000090"/>
                </a:solidFill>
              </a:rPr>
              <a:t>costs</a:t>
            </a:r>
            <a:r>
              <a:rPr lang="fr-FR" sz="2000" b="1" dirty="0">
                <a:solidFill>
                  <a:srgbClr val="000090"/>
                </a:solidFill>
              </a:rPr>
              <a:t> </a:t>
            </a:r>
            <a:r>
              <a:rPr lang="fr-FR" sz="2000" b="1" dirty="0" err="1">
                <a:solidFill>
                  <a:srgbClr val="000090"/>
                </a:solidFill>
              </a:rPr>
              <a:t>efficiently</a:t>
            </a:r>
            <a:endParaRPr lang="fr-FR" sz="2000" b="1" dirty="0">
              <a:solidFill>
                <a:srgbClr val="000090"/>
              </a:solidFill>
            </a:endParaRPr>
          </a:p>
          <a:p>
            <a:pPr marL="538481" lvl="1" indent="-236538" defTabSz="814388">
              <a:lnSpc>
                <a:spcPct val="95000"/>
              </a:lnSpc>
              <a:spcBef>
                <a:spcPct val="50000"/>
              </a:spcBef>
              <a:buFont typeface="Wingdings" charset="0"/>
              <a:buChar char="§"/>
            </a:pPr>
            <a:r>
              <a:rPr lang="fr-FR" sz="2000" b="1" dirty="0">
                <a:solidFill>
                  <a:srgbClr val="000090"/>
                </a:solidFill>
              </a:rPr>
              <a:t>Pricing IT services</a:t>
            </a:r>
          </a:p>
          <a:p>
            <a:pPr marL="538481" lvl="1" indent="-236538" defTabSz="814388">
              <a:lnSpc>
                <a:spcPct val="95000"/>
              </a:lnSpc>
              <a:spcBef>
                <a:spcPct val="50000"/>
              </a:spcBef>
              <a:buFont typeface="Wingdings" charset="0"/>
              <a:buChar char="§"/>
            </a:pPr>
            <a:r>
              <a:rPr lang="fr-FR" sz="2000" b="1" dirty="0" err="1">
                <a:solidFill>
                  <a:srgbClr val="000090"/>
                </a:solidFill>
              </a:rPr>
              <a:t>Providing</a:t>
            </a:r>
            <a:r>
              <a:rPr lang="fr-FR" sz="2000" b="1" dirty="0">
                <a:solidFill>
                  <a:srgbClr val="000090"/>
                </a:solidFill>
              </a:rPr>
              <a:t> </a:t>
            </a:r>
            <a:r>
              <a:rPr lang="fr-FR" sz="2000" b="1" dirty="0" err="1">
                <a:solidFill>
                  <a:srgbClr val="000090"/>
                </a:solidFill>
              </a:rPr>
              <a:t>detailed</a:t>
            </a:r>
            <a:r>
              <a:rPr lang="fr-FR" sz="2000" b="1" dirty="0">
                <a:solidFill>
                  <a:srgbClr val="000090"/>
                </a:solidFill>
              </a:rPr>
              <a:t> usage reports</a:t>
            </a:r>
          </a:p>
        </p:txBody>
      </p:sp>
    </p:spTree>
    <p:extLst>
      <p:ext uri="{BB962C8B-B14F-4D97-AF65-F5344CB8AC3E}">
        <p14:creationId xmlns:p14="http://schemas.microsoft.com/office/powerpoint/2010/main" val="269169961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032" y="1610610"/>
            <a:ext cx="7772400" cy="2376950"/>
          </a:xfrm>
        </p:spPr>
        <p:txBody>
          <a:bodyPr/>
          <a:lstStyle/>
          <a:p>
            <a:r>
              <a:rPr lang="en-US" dirty="0"/>
              <a:t>Categories of IT costs</a:t>
            </a:r>
          </a:p>
        </p:txBody>
      </p:sp>
    </p:spTree>
    <p:extLst>
      <p:ext uri="{BB962C8B-B14F-4D97-AF65-F5344CB8AC3E}">
        <p14:creationId xmlns:p14="http://schemas.microsoft.com/office/powerpoint/2010/main" val="2966837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Categories of IT costs </a:t>
            </a:r>
            <a:r>
              <a:rPr lang="en-US" sz="3600" dirty="0"/>
              <a:t>(1/4)</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4012152041"/>
              </p:ext>
            </p:extLst>
          </p:nvPr>
        </p:nvGraphicFramePr>
        <p:xfrm>
          <a:off x="304800" y="2184400"/>
          <a:ext cx="6096000" cy="440055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1475">
                <a:tc gridSpan="2">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Travel and Entertainment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9E6"/>
                    </a:solidFill>
                  </a:tcPr>
                </a:tc>
                <a:tc hMerge="1">
                  <a:txBody>
                    <a:bodyPr/>
                    <a:lstStyle/>
                    <a:p>
                      <a:endParaRPr lang="en-US"/>
                    </a:p>
                  </a:txBody>
                  <a:tcPr/>
                </a:tc>
                <a:extLst>
                  <a:ext uri="{0D108BD9-81ED-4DB2-BD59-A6C34878D82A}">
                    <a16:rowId xmlns:a16="http://schemas.microsoft.com/office/drawing/2014/main" val="10000"/>
                  </a:ext>
                </a:extLst>
              </a:tr>
              <a:tr h="371475">
                <a:tc gridSpan="2">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IT Overhead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DF3"/>
                    </a:solidFill>
                  </a:tcPr>
                </a:tc>
                <a:tc hMerge="1">
                  <a:txBody>
                    <a:bodyPr/>
                    <a:lstStyle/>
                    <a:p>
                      <a:endParaRPr lang="en-US"/>
                    </a:p>
                  </a:txBody>
                  <a:tcPr/>
                </a:tc>
                <a:extLst>
                  <a:ext uri="{0D108BD9-81ED-4DB2-BD59-A6C34878D82A}">
                    <a16:rowId xmlns:a16="http://schemas.microsoft.com/office/drawing/2014/main" val="10001"/>
                  </a:ext>
                </a:extLst>
              </a:tr>
              <a:tr h="9144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People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9E6"/>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 Internal Staff</a:t>
                      </a:r>
                    </a:p>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 Contractors</a:t>
                      </a:r>
                    </a:p>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 Consultants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9E6"/>
                    </a:solidFill>
                  </a:tcPr>
                </a:tc>
                <a:extLst>
                  <a:ext uri="{0D108BD9-81ED-4DB2-BD59-A6C34878D82A}">
                    <a16:rowId xmlns:a16="http://schemas.microsoft.com/office/drawing/2014/main" val="10002"/>
                  </a:ext>
                </a:extLst>
              </a:tr>
              <a:tr h="9144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HW costs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DF3"/>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rgbClr val="185CB9"/>
                          </a:solidFill>
                          <a:effectLst/>
                          <a:latin typeface="Arial" charset="0"/>
                          <a:ea typeface="ＭＳ Ｐゴシック" charset="0"/>
                          <a:cs typeface="ＭＳ Ｐゴシック" charset="0"/>
                        </a:rPr>
                        <a:t> Servers</a:t>
                      </a:r>
                    </a:p>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rgbClr val="185CB9"/>
                          </a:solidFill>
                          <a:effectLst/>
                          <a:latin typeface="Arial" charset="0"/>
                          <a:ea typeface="ＭＳ Ｐゴシック" charset="0"/>
                          <a:cs typeface="ＭＳ Ｐゴシック" charset="0"/>
                        </a:rPr>
                        <a:t> Network</a:t>
                      </a:r>
                    </a:p>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rgbClr val="185CB9"/>
                          </a:solidFill>
                          <a:effectLst/>
                          <a:latin typeface="Arial" charset="0"/>
                          <a:ea typeface="ＭＳ Ｐゴシック" charset="0"/>
                          <a:cs typeface="ＭＳ Ｐゴシック" charset="0"/>
                        </a:rPr>
                        <a:t> IT equipment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DF3"/>
                    </a:solidFill>
                  </a:tcPr>
                </a:tc>
                <a:extLst>
                  <a:ext uri="{0D108BD9-81ED-4DB2-BD59-A6C34878D82A}">
                    <a16:rowId xmlns:a16="http://schemas.microsoft.com/office/drawing/2014/main" val="10003"/>
                  </a:ext>
                </a:extLst>
              </a:tr>
              <a:tr h="9144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SW costs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9E6"/>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 Licences</a:t>
                      </a:r>
                    </a:p>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 Maintenance</a:t>
                      </a:r>
                    </a:p>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a:ln>
                            <a:noFill/>
                          </a:ln>
                          <a:solidFill>
                            <a:srgbClr val="185CB9"/>
                          </a:solidFill>
                          <a:effectLst/>
                          <a:latin typeface="Arial" charset="0"/>
                          <a:ea typeface="ＭＳ Ｐゴシック" charset="0"/>
                          <a:cs typeface="ＭＳ Ｐゴシック" charset="0"/>
                        </a:rPr>
                        <a:t> In house development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9E6"/>
                    </a:solidFill>
                  </a:tcPr>
                </a:tc>
                <a:extLst>
                  <a:ext uri="{0D108BD9-81ED-4DB2-BD59-A6C34878D82A}">
                    <a16:rowId xmlns:a16="http://schemas.microsoft.com/office/drawing/2014/main" val="10004"/>
                  </a:ext>
                </a:extLst>
              </a:tr>
              <a:tr h="9144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85CB9"/>
                          </a:solidFill>
                          <a:effectLst/>
                          <a:latin typeface="Arial" charset="0"/>
                          <a:ea typeface="ＭＳ Ｐゴシック" charset="0"/>
                          <a:cs typeface="ＭＳ Ｐゴシック" charset="0"/>
                        </a:rPr>
                        <a:t>Services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DF3"/>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rgbClr val="185CB9"/>
                          </a:solidFill>
                          <a:effectLst/>
                          <a:latin typeface="Arial" charset="0"/>
                          <a:ea typeface="ＭＳ Ｐゴシック" charset="0"/>
                          <a:cs typeface="ＭＳ Ｐゴシック" charset="0"/>
                        </a:rPr>
                        <a:t> Telecoms</a:t>
                      </a:r>
                    </a:p>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rgbClr val="185CB9"/>
                          </a:solidFill>
                          <a:effectLst/>
                          <a:latin typeface="Arial" charset="0"/>
                          <a:ea typeface="ＭＳ Ｐゴシック" charset="0"/>
                          <a:cs typeface="ＭＳ Ｐゴシック" charset="0"/>
                        </a:rPr>
                        <a:t> Outsourcing</a:t>
                      </a:r>
                    </a:p>
                    <a:p>
                      <a:pPr marL="0" marR="0" lvl="0" indent="0" algn="ctr" defTabSz="4572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a:ln>
                            <a:noFill/>
                          </a:ln>
                          <a:solidFill>
                            <a:srgbClr val="185CB9"/>
                          </a:solidFill>
                          <a:effectLst/>
                          <a:latin typeface="Arial" charset="0"/>
                          <a:ea typeface="ＭＳ Ｐゴシック" charset="0"/>
                          <a:cs typeface="ＭＳ Ｐゴシック" charset="0"/>
                        </a:rPr>
                        <a:t> Cloud computing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DF3"/>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55836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0145" y="2128821"/>
            <a:ext cx="9512300" cy="4542366"/>
          </a:xfrm>
        </p:spPr>
        <p:txBody>
          <a:bodyPr>
            <a:normAutofit fontScale="92500" lnSpcReduction="20000"/>
          </a:bodyPr>
          <a:lstStyle/>
          <a:p>
            <a:pPr marL="800100" lvl="1" indent="-342900" defTabSz="814388">
              <a:lnSpc>
                <a:spcPct val="95000"/>
              </a:lnSpc>
              <a:spcBef>
                <a:spcPct val="50000"/>
              </a:spcBef>
              <a:buFont typeface="Arial"/>
              <a:buChar char="•"/>
            </a:pPr>
            <a:r>
              <a:rPr lang="fr-FR" sz="2400" b="1" dirty="0">
                <a:solidFill>
                  <a:srgbClr val="000090"/>
                </a:solidFill>
              </a:rPr>
              <a:t>Capex vs Opex</a:t>
            </a:r>
          </a:p>
          <a:p>
            <a:pPr marL="800100" lvl="1" indent="-342900" defTabSz="814388">
              <a:lnSpc>
                <a:spcPct val="95000"/>
              </a:lnSpc>
              <a:spcBef>
                <a:spcPct val="50000"/>
              </a:spcBef>
              <a:buFont typeface="Arial"/>
              <a:buChar char="•"/>
            </a:pPr>
            <a:r>
              <a:rPr lang="fr-FR" sz="2400" b="1" dirty="0">
                <a:solidFill>
                  <a:srgbClr val="000090"/>
                </a:solidFill>
              </a:rPr>
              <a:t>Capex : Capital </a:t>
            </a:r>
            <a:r>
              <a:rPr lang="fr-FR" sz="2400" b="1" dirty="0" err="1">
                <a:solidFill>
                  <a:srgbClr val="000090"/>
                </a:solidFill>
              </a:rPr>
              <a:t>expenditures</a:t>
            </a:r>
            <a:endParaRPr lang="fr-FR" sz="2400" b="1" dirty="0">
              <a:solidFill>
                <a:srgbClr val="000090"/>
              </a:solidFill>
            </a:endParaRPr>
          </a:p>
          <a:p>
            <a:pPr marL="1200150" lvl="2" indent="-285750" defTabSz="814388">
              <a:lnSpc>
                <a:spcPct val="95000"/>
              </a:lnSpc>
              <a:spcBef>
                <a:spcPts val="800"/>
              </a:spcBef>
              <a:buFont typeface="Arial"/>
              <a:buChar char="•"/>
            </a:pPr>
            <a:r>
              <a:rPr lang="fr-FR" sz="1800" b="1" dirty="0">
                <a:solidFill>
                  <a:srgbClr val="000090"/>
                </a:solidFill>
              </a:rPr>
              <a:t>Asset on the Balance </a:t>
            </a:r>
            <a:r>
              <a:rPr lang="fr-FR" sz="1800" b="1" dirty="0" err="1">
                <a:solidFill>
                  <a:srgbClr val="000090"/>
                </a:solidFill>
              </a:rPr>
              <a:t>sheet</a:t>
            </a:r>
            <a:endParaRPr lang="fr-FR" sz="1800" b="1" dirty="0">
              <a:solidFill>
                <a:srgbClr val="000090"/>
              </a:solidFill>
            </a:endParaRPr>
          </a:p>
          <a:p>
            <a:pPr marL="1200150" lvl="2" indent="-285750" defTabSz="814388">
              <a:lnSpc>
                <a:spcPct val="95000"/>
              </a:lnSpc>
              <a:spcBef>
                <a:spcPts val="800"/>
              </a:spcBef>
              <a:buFont typeface="Arial"/>
              <a:buChar char="•"/>
            </a:pPr>
            <a:r>
              <a:rPr lang="fr-FR" sz="1800" b="1" dirty="0" err="1">
                <a:solidFill>
                  <a:srgbClr val="000090"/>
                </a:solidFill>
              </a:rPr>
              <a:t>Amortized</a:t>
            </a:r>
            <a:r>
              <a:rPr lang="fr-FR" sz="1800" b="1" dirty="0">
                <a:solidFill>
                  <a:srgbClr val="000090"/>
                </a:solidFill>
              </a:rPr>
              <a:t> over the life of the asset </a:t>
            </a:r>
          </a:p>
          <a:p>
            <a:pPr marL="1200150" lvl="2" indent="-285750" defTabSz="814388">
              <a:lnSpc>
                <a:spcPct val="95000"/>
              </a:lnSpc>
              <a:spcBef>
                <a:spcPts val="800"/>
              </a:spcBef>
              <a:buFont typeface="Arial"/>
              <a:buChar char="•"/>
            </a:pPr>
            <a:r>
              <a:rPr lang="fr-FR" sz="1800" b="1" dirty="0" err="1">
                <a:solidFill>
                  <a:srgbClr val="000090"/>
                </a:solidFill>
              </a:rPr>
              <a:t>Amortization</a:t>
            </a:r>
            <a:r>
              <a:rPr lang="fr-FR" sz="1800" b="1" dirty="0">
                <a:solidFill>
                  <a:srgbClr val="000090"/>
                </a:solidFill>
              </a:rPr>
              <a:t> </a:t>
            </a:r>
            <a:r>
              <a:rPr lang="fr-FR" sz="1800" b="1" dirty="0" err="1">
                <a:solidFill>
                  <a:srgbClr val="000090"/>
                </a:solidFill>
              </a:rPr>
              <a:t>is</a:t>
            </a:r>
            <a:r>
              <a:rPr lang="fr-FR" sz="1800" b="1" dirty="0">
                <a:solidFill>
                  <a:srgbClr val="000090"/>
                </a:solidFill>
              </a:rPr>
              <a:t> an </a:t>
            </a:r>
            <a:r>
              <a:rPr lang="fr-FR" sz="1800" b="1" dirty="0" err="1">
                <a:solidFill>
                  <a:srgbClr val="000090"/>
                </a:solidFill>
              </a:rPr>
              <a:t>expense</a:t>
            </a:r>
            <a:r>
              <a:rPr lang="fr-FR" sz="1800" b="1" dirty="0">
                <a:solidFill>
                  <a:srgbClr val="000090"/>
                </a:solidFill>
              </a:rPr>
              <a:t> line on the P&amp;L (no cash impact)</a:t>
            </a:r>
            <a:endParaRPr lang="fr-FR" b="1" dirty="0">
              <a:solidFill>
                <a:srgbClr val="000090"/>
              </a:solidFill>
            </a:endParaRPr>
          </a:p>
          <a:p>
            <a:pPr marL="800100" lvl="1" indent="-342900" defTabSz="814388">
              <a:lnSpc>
                <a:spcPct val="95000"/>
              </a:lnSpc>
              <a:spcBef>
                <a:spcPct val="50000"/>
              </a:spcBef>
              <a:buFont typeface="Arial"/>
              <a:buChar char="•"/>
            </a:pPr>
            <a:r>
              <a:rPr lang="fr-FR" sz="2400" b="1" dirty="0">
                <a:solidFill>
                  <a:srgbClr val="000090"/>
                </a:solidFill>
              </a:rPr>
              <a:t>Opex : </a:t>
            </a:r>
            <a:r>
              <a:rPr lang="fr-FR" sz="2400" b="1" dirty="0" err="1">
                <a:solidFill>
                  <a:srgbClr val="000090"/>
                </a:solidFill>
              </a:rPr>
              <a:t>Operational</a:t>
            </a:r>
            <a:r>
              <a:rPr lang="fr-FR" sz="2400" b="1" dirty="0">
                <a:solidFill>
                  <a:srgbClr val="000090"/>
                </a:solidFill>
              </a:rPr>
              <a:t> </a:t>
            </a:r>
            <a:r>
              <a:rPr lang="fr-FR" sz="2400" b="1" dirty="0" err="1">
                <a:solidFill>
                  <a:srgbClr val="000090"/>
                </a:solidFill>
              </a:rPr>
              <a:t>expenses</a:t>
            </a:r>
            <a:r>
              <a:rPr lang="fr-FR" sz="2400" b="1" dirty="0">
                <a:solidFill>
                  <a:srgbClr val="000090"/>
                </a:solidFill>
              </a:rPr>
              <a:t> to run </a:t>
            </a:r>
            <a:r>
              <a:rPr lang="fr-FR" sz="2400" b="1" dirty="0" err="1">
                <a:solidFill>
                  <a:srgbClr val="000090"/>
                </a:solidFill>
              </a:rPr>
              <a:t>day</a:t>
            </a:r>
            <a:r>
              <a:rPr lang="fr-FR" sz="2400" b="1" dirty="0">
                <a:solidFill>
                  <a:srgbClr val="000090"/>
                </a:solidFill>
              </a:rPr>
              <a:t> to </a:t>
            </a:r>
            <a:r>
              <a:rPr lang="fr-FR" sz="2400" b="1" dirty="0" err="1">
                <a:solidFill>
                  <a:srgbClr val="000090"/>
                </a:solidFill>
              </a:rPr>
              <a:t>day</a:t>
            </a:r>
            <a:r>
              <a:rPr lang="fr-FR" sz="2400" b="1" dirty="0">
                <a:solidFill>
                  <a:srgbClr val="000090"/>
                </a:solidFill>
              </a:rPr>
              <a:t> business</a:t>
            </a:r>
          </a:p>
          <a:p>
            <a:pPr marL="800100" lvl="1" indent="-342900" defTabSz="814388">
              <a:lnSpc>
                <a:spcPct val="95000"/>
              </a:lnSpc>
              <a:spcBef>
                <a:spcPct val="50000"/>
              </a:spcBef>
              <a:buFont typeface="Arial"/>
              <a:buChar char="•"/>
            </a:pPr>
            <a:r>
              <a:rPr lang="fr-FR" sz="2400" b="1" dirty="0">
                <a:solidFill>
                  <a:srgbClr val="000090"/>
                </a:solidFill>
              </a:rPr>
              <a:t>An </a:t>
            </a:r>
            <a:r>
              <a:rPr lang="fr-FR" sz="2400" b="1" dirty="0" err="1">
                <a:solidFill>
                  <a:srgbClr val="000090"/>
                </a:solidFill>
              </a:rPr>
              <a:t>expense</a:t>
            </a:r>
            <a:r>
              <a:rPr lang="fr-FR" sz="2400" b="1" dirty="0">
                <a:solidFill>
                  <a:srgbClr val="000090"/>
                </a:solidFill>
              </a:rPr>
              <a:t> </a:t>
            </a:r>
            <a:r>
              <a:rPr lang="fr-FR" sz="2400" b="1" dirty="0" err="1">
                <a:solidFill>
                  <a:srgbClr val="000090"/>
                </a:solidFill>
              </a:rPr>
              <a:t>is</a:t>
            </a:r>
            <a:r>
              <a:rPr lang="fr-FR" sz="2400" b="1" dirty="0">
                <a:solidFill>
                  <a:srgbClr val="000090"/>
                </a:solidFill>
              </a:rPr>
              <a:t> Capex if an asset </a:t>
            </a:r>
            <a:r>
              <a:rPr lang="fr-FR" sz="2400" b="1" dirty="0" err="1">
                <a:solidFill>
                  <a:srgbClr val="000090"/>
                </a:solidFill>
              </a:rPr>
              <a:t>results</a:t>
            </a:r>
            <a:r>
              <a:rPr lang="fr-FR" sz="2400" b="1" dirty="0">
                <a:solidFill>
                  <a:srgbClr val="000090"/>
                </a:solidFill>
              </a:rPr>
              <a:t> </a:t>
            </a:r>
            <a:r>
              <a:rPr lang="fr-FR" sz="2400" b="1" dirty="0" err="1">
                <a:solidFill>
                  <a:srgbClr val="000090"/>
                </a:solidFill>
              </a:rPr>
              <a:t>from</a:t>
            </a:r>
            <a:r>
              <a:rPr lang="fr-FR" sz="2400" b="1" dirty="0">
                <a:solidFill>
                  <a:srgbClr val="000090"/>
                </a:solidFill>
              </a:rPr>
              <a:t> </a:t>
            </a:r>
            <a:r>
              <a:rPr lang="fr-FR" sz="2400" b="1" dirty="0" err="1">
                <a:solidFill>
                  <a:srgbClr val="000090"/>
                </a:solidFill>
              </a:rPr>
              <a:t>it</a:t>
            </a:r>
            <a:r>
              <a:rPr lang="fr-FR" sz="2400" b="1" dirty="0">
                <a:solidFill>
                  <a:srgbClr val="000090"/>
                </a:solidFill>
              </a:rPr>
              <a:t>….</a:t>
            </a:r>
          </a:p>
          <a:p>
            <a:pPr marL="800100" lvl="1" indent="-342900" defTabSz="814388">
              <a:lnSpc>
                <a:spcPct val="95000"/>
              </a:lnSpc>
              <a:spcBef>
                <a:spcPct val="50000"/>
              </a:spcBef>
              <a:buFont typeface="Arial"/>
              <a:buChar char="•"/>
            </a:pPr>
            <a:r>
              <a:rPr lang="fr-FR" sz="2400" b="1" dirty="0" err="1">
                <a:solidFill>
                  <a:srgbClr val="000090"/>
                </a:solidFill>
              </a:rPr>
              <a:t>Accounting</a:t>
            </a:r>
            <a:r>
              <a:rPr lang="fr-FR" sz="2400" b="1" dirty="0">
                <a:solidFill>
                  <a:srgbClr val="000090"/>
                </a:solidFill>
              </a:rPr>
              <a:t> </a:t>
            </a:r>
            <a:r>
              <a:rPr lang="fr-FR" sz="2400" b="1" dirty="0" err="1">
                <a:solidFill>
                  <a:srgbClr val="000090"/>
                </a:solidFill>
              </a:rPr>
              <a:t>rules</a:t>
            </a:r>
            <a:endParaRPr lang="fr-FR" sz="2400" b="1" dirty="0">
              <a:solidFill>
                <a:srgbClr val="000090"/>
              </a:solidFill>
            </a:endParaRPr>
          </a:p>
          <a:p>
            <a:pPr marL="1200150" lvl="2" indent="-285750" defTabSz="814388">
              <a:lnSpc>
                <a:spcPct val="95000"/>
              </a:lnSpc>
              <a:spcBef>
                <a:spcPts val="800"/>
              </a:spcBef>
              <a:buFont typeface="Arial"/>
              <a:buChar char="•"/>
            </a:pPr>
            <a:r>
              <a:rPr lang="fr-FR" sz="1800" b="1" dirty="0">
                <a:solidFill>
                  <a:srgbClr val="000090"/>
                </a:solidFill>
              </a:rPr>
              <a:t>HW </a:t>
            </a:r>
            <a:r>
              <a:rPr lang="fr-FR" sz="1800" b="1" dirty="0" err="1">
                <a:solidFill>
                  <a:srgbClr val="000090"/>
                </a:solidFill>
              </a:rPr>
              <a:t>equipment</a:t>
            </a:r>
            <a:r>
              <a:rPr lang="fr-FR" sz="1800" b="1" dirty="0">
                <a:solidFill>
                  <a:srgbClr val="000090"/>
                </a:solidFill>
              </a:rPr>
              <a:t> </a:t>
            </a:r>
            <a:r>
              <a:rPr lang="fr-FR" sz="1800" b="1" dirty="0" err="1">
                <a:solidFill>
                  <a:srgbClr val="000090"/>
                </a:solidFill>
              </a:rPr>
              <a:t>is</a:t>
            </a:r>
            <a:r>
              <a:rPr lang="fr-FR" sz="1800" b="1" dirty="0">
                <a:solidFill>
                  <a:srgbClr val="000090"/>
                </a:solidFill>
              </a:rPr>
              <a:t> Capex </a:t>
            </a:r>
            <a:r>
              <a:rPr lang="fr-FR" sz="1800" b="1" dirty="0" err="1">
                <a:solidFill>
                  <a:srgbClr val="000090"/>
                </a:solidFill>
              </a:rPr>
              <a:t>except</a:t>
            </a:r>
            <a:r>
              <a:rPr lang="fr-FR" sz="1800" b="1" dirty="0">
                <a:solidFill>
                  <a:srgbClr val="000090"/>
                </a:solidFill>
              </a:rPr>
              <a:t> if « </a:t>
            </a:r>
            <a:r>
              <a:rPr lang="fr-FR" sz="1800" b="1" dirty="0" err="1">
                <a:solidFill>
                  <a:srgbClr val="000090"/>
                </a:solidFill>
              </a:rPr>
              <a:t>small</a:t>
            </a:r>
            <a:r>
              <a:rPr lang="fr-FR" sz="1800" b="1" dirty="0">
                <a:solidFill>
                  <a:srgbClr val="000090"/>
                </a:solidFill>
              </a:rPr>
              <a:t> » value</a:t>
            </a:r>
          </a:p>
          <a:p>
            <a:pPr marL="1200150" lvl="2" indent="-285750" defTabSz="814388">
              <a:lnSpc>
                <a:spcPct val="95000"/>
              </a:lnSpc>
              <a:spcBef>
                <a:spcPts val="800"/>
              </a:spcBef>
              <a:buFont typeface="Arial"/>
              <a:buChar char="•"/>
            </a:pPr>
            <a:r>
              <a:rPr lang="fr-FR" sz="1800" b="1" dirty="0">
                <a:solidFill>
                  <a:srgbClr val="000090"/>
                </a:solidFill>
              </a:rPr>
              <a:t>SW </a:t>
            </a:r>
            <a:r>
              <a:rPr lang="fr-FR" sz="1800" b="1" dirty="0" err="1">
                <a:solidFill>
                  <a:srgbClr val="000090"/>
                </a:solidFill>
              </a:rPr>
              <a:t>development</a:t>
            </a:r>
            <a:r>
              <a:rPr lang="fr-FR" sz="1800" b="1" dirty="0">
                <a:solidFill>
                  <a:srgbClr val="000090"/>
                </a:solidFill>
              </a:rPr>
              <a:t> and application configuration : Capex as </a:t>
            </a:r>
            <a:r>
              <a:rPr lang="fr-FR" sz="1800" b="1" dirty="0" err="1">
                <a:solidFill>
                  <a:srgbClr val="000090"/>
                </a:solidFill>
              </a:rPr>
              <a:t>this</a:t>
            </a:r>
            <a:r>
              <a:rPr lang="fr-FR" sz="1800" b="1" dirty="0">
                <a:solidFill>
                  <a:srgbClr val="000090"/>
                </a:solidFill>
              </a:rPr>
              <a:t> </a:t>
            </a:r>
            <a:r>
              <a:rPr lang="fr-FR" sz="1800" b="1" dirty="0" err="1">
                <a:solidFill>
                  <a:srgbClr val="000090"/>
                </a:solidFill>
              </a:rPr>
              <a:t>creates</a:t>
            </a:r>
            <a:r>
              <a:rPr lang="fr-FR" sz="1800" b="1" dirty="0">
                <a:solidFill>
                  <a:srgbClr val="000090"/>
                </a:solidFill>
              </a:rPr>
              <a:t> an asset</a:t>
            </a:r>
          </a:p>
          <a:p>
            <a:pPr marL="1200150" lvl="2" indent="-285750" defTabSz="814388">
              <a:lnSpc>
                <a:spcPct val="95000"/>
              </a:lnSpc>
              <a:spcBef>
                <a:spcPts val="800"/>
              </a:spcBef>
              <a:buFont typeface="Arial"/>
              <a:buChar char="•"/>
            </a:pPr>
            <a:r>
              <a:rPr lang="fr-FR" sz="1800" b="1" dirty="0">
                <a:solidFill>
                  <a:srgbClr val="000090"/>
                </a:solidFill>
              </a:rPr>
              <a:t>Post </a:t>
            </a:r>
            <a:r>
              <a:rPr lang="fr-FR" sz="1800" b="1" dirty="0" err="1">
                <a:solidFill>
                  <a:srgbClr val="000090"/>
                </a:solidFill>
              </a:rPr>
              <a:t>implementation</a:t>
            </a:r>
            <a:r>
              <a:rPr lang="fr-FR" sz="1800" b="1" dirty="0">
                <a:solidFill>
                  <a:srgbClr val="000090"/>
                </a:solidFill>
              </a:rPr>
              <a:t> / production phase : Opex as </a:t>
            </a:r>
            <a:r>
              <a:rPr lang="fr-FR" sz="1800" b="1" dirty="0" err="1">
                <a:solidFill>
                  <a:srgbClr val="000090"/>
                </a:solidFill>
              </a:rPr>
              <a:t>it</a:t>
            </a:r>
            <a:r>
              <a:rPr lang="fr-FR" sz="1800" b="1" dirty="0">
                <a:solidFill>
                  <a:srgbClr val="000090"/>
                </a:solidFill>
              </a:rPr>
              <a:t> </a:t>
            </a:r>
            <a:r>
              <a:rPr lang="fr-FR" sz="1800" b="1" dirty="0" err="1">
                <a:solidFill>
                  <a:srgbClr val="000090"/>
                </a:solidFill>
              </a:rPr>
              <a:t>is</a:t>
            </a:r>
            <a:r>
              <a:rPr lang="fr-FR" sz="1800" b="1" dirty="0">
                <a:solidFill>
                  <a:srgbClr val="000090"/>
                </a:solidFill>
              </a:rPr>
              <a:t> running </a:t>
            </a:r>
            <a:r>
              <a:rPr lang="fr-FR" sz="1800" b="1" dirty="0" err="1">
                <a:solidFill>
                  <a:srgbClr val="000090"/>
                </a:solidFill>
              </a:rPr>
              <a:t>day</a:t>
            </a:r>
            <a:r>
              <a:rPr lang="fr-FR" sz="1800" b="1" dirty="0">
                <a:solidFill>
                  <a:srgbClr val="000090"/>
                </a:solidFill>
              </a:rPr>
              <a:t> to </a:t>
            </a:r>
            <a:r>
              <a:rPr lang="fr-FR" sz="1800" b="1" dirty="0" err="1">
                <a:solidFill>
                  <a:srgbClr val="000090"/>
                </a:solidFill>
              </a:rPr>
              <a:t>day</a:t>
            </a:r>
            <a:r>
              <a:rPr lang="fr-FR" sz="1800" b="1" dirty="0">
                <a:solidFill>
                  <a:srgbClr val="000090"/>
                </a:solidFill>
              </a:rPr>
              <a:t> business</a:t>
            </a:r>
          </a:p>
          <a:p>
            <a:pPr marL="1200150" lvl="2" indent="-285750" defTabSz="814388">
              <a:lnSpc>
                <a:spcPct val="95000"/>
              </a:lnSpc>
              <a:spcBef>
                <a:spcPts val="800"/>
              </a:spcBef>
              <a:buFont typeface="Arial"/>
              <a:buChar char="•"/>
            </a:pPr>
            <a:r>
              <a:rPr lang="fr-FR" sz="1800" b="1" dirty="0">
                <a:solidFill>
                  <a:srgbClr val="000090"/>
                </a:solidFill>
              </a:rPr>
              <a:t>Note </a:t>
            </a:r>
            <a:r>
              <a:rPr lang="fr-FR" sz="1800" b="1" dirty="0" err="1">
                <a:solidFill>
                  <a:srgbClr val="000090"/>
                </a:solidFill>
              </a:rPr>
              <a:t>that</a:t>
            </a:r>
            <a:r>
              <a:rPr lang="fr-FR" sz="1800" b="1" dirty="0">
                <a:solidFill>
                  <a:srgbClr val="000090"/>
                </a:solidFill>
              </a:rPr>
              <a:t> SW licence maintenance </a:t>
            </a:r>
            <a:r>
              <a:rPr lang="fr-FR" sz="1800" b="1" dirty="0" err="1">
                <a:solidFill>
                  <a:srgbClr val="000090"/>
                </a:solidFill>
              </a:rPr>
              <a:t>is</a:t>
            </a:r>
            <a:r>
              <a:rPr lang="fr-FR" sz="1800" b="1" dirty="0">
                <a:solidFill>
                  <a:srgbClr val="000090"/>
                </a:solidFill>
              </a:rPr>
              <a:t> Opex vs licence </a:t>
            </a:r>
            <a:r>
              <a:rPr lang="fr-FR" sz="1800" b="1" dirty="0" err="1">
                <a:solidFill>
                  <a:srgbClr val="000090"/>
                </a:solidFill>
              </a:rPr>
              <a:t>is</a:t>
            </a:r>
            <a:r>
              <a:rPr lang="fr-FR" sz="1800" b="1" dirty="0">
                <a:solidFill>
                  <a:srgbClr val="000090"/>
                </a:solidFill>
              </a:rPr>
              <a:t> Capex</a:t>
            </a:r>
          </a:p>
          <a:p>
            <a:pPr marL="1200150" lvl="2" indent="-285750" defTabSz="814388">
              <a:lnSpc>
                <a:spcPct val="95000"/>
              </a:lnSpc>
              <a:spcBef>
                <a:spcPts val="800"/>
              </a:spcBef>
              <a:buFont typeface="Arial"/>
              <a:buChar char="•"/>
            </a:pPr>
            <a:r>
              <a:rPr lang="fr-FR" sz="1800" b="1" dirty="0">
                <a:solidFill>
                  <a:srgbClr val="000090"/>
                </a:solidFill>
              </a:rPr>
              <a:t>Preliminary </a:t>
            </a:r>
            <a:r>
              <a:rPr lang="fr-FR" sz="1800" b="1" dirty="0" err="1">
                <a:solidFill>
                  <a:srgbClr val="000090"/>
                </a:solidFill>
              </a:rPr>
              <a:t>project</a:t>
            </a:r>
            <a:r>
              <a:rPr lang="fr-FR" sz="1800" b="1" dirty="0">
                <a:solidFill>
                  <a:srgbClr val="000090"/>
                </a:solidFill>
              </a:rPr>
              <a:t> phase / </a:t>
            </a:r>
            <a:r>
              <a:rPr lang="fr-FR" sz="1800" b="1" dirty="0" err="1">
                <a:solidFill>
                  <a:srgbClr val="000090"/>
                </a:solidFill>
              </a:rPr>
              <a:t>feasibility</a:t>
            </a:r>
            <a:r>
              <a:rPr lang="fr-FR" sz="1800" b="1" dirty="0">
                <a:solidFill>
                  <a:srgbClr val="000090"/>
                </a:solidFill>
              </a:rPr>
              <a:t> </a:t>
            </a:r>
            <a:r>
              <a:rPr lang="fr-FR" sz="1800" b="1" dirty="0" err="1">
                <a:solidFill>
                  <a:srgbClr val="000090"/>
                </a:solidFill>
              </a:rPr>
              <a:t>study</a:t>
            </a:r>
            <a:r>
              <a:rPr lang="fr-FR" sz="1800" b="1" dirty="0">
                <a:solidFill>
                  <a:srgbClr val="000090"/>
                </a:solidFill>
              </a:rPr>
              <a:t> : Opex as no asset </a:t>
            </a:r>
            <a:r>
              <a:rPr lang="fr-FR" sz="1800" b="1" dirty="0" err="1">
                <a:solidFill>
                  <a:srgbClr val="000090"/>
                </a:solidFill>
              </a:rPr>
              <a:t>may</a:t>
            </a:r>
            <a:r>
              <a:rPr lang="fr-FR" sz="1800" b="1" dirty="0">
                <a:solidFill>
                  <a:srgbClr val="000090"/>
                </a:solidFill>
              </a:rPr>
              <a:t> </a:t>
            </a:r>
            <a:r>
              <a:rPr lang="fr-FR" sz="1800" b="1" dirty="0" err="1">
                <a:solidFill>
                  <a:srgbClr val="000090"/>
                </a:solidFill>
              </a:rPr>
              <a:t>result</a:t>
            </a:r>
            <a:r>
              <a:rPr lang="fr-FR" sz="1800" b="1" dirty="0">
                <a:solidFill>
                  <a:srgbClr val="000090"/>
                </a:solidFill>
              </a:rPr>
              <a:t> </a:t>
            </a:r>
            <a:r>
              <a:rPr lang="fr-FR" sz="1800" b="1" dirty="0" err="1">
                <a:solidFill>
                  <a:srgbClr val="000090"/>
                </a:solidFill>
              </a:rPr>
              <a:t>from</a:t>
            </a:r>
            <a:r>
              <a:rPr lang="fr-FR" sz="1800" b="1" dirty="0">
                <a:solidFill>
                  <a:srgbClr val="000090"/>
                </a:solidFill>
              </a:rPr>
              <a:t> </a:t>
            </a:r>
            <a:r>
              <a:rPr lang="fr-FR" sz="1800" b="1" dirty="0" err="1">
                <a:solidFill>
                  <a:srgbClr val="000090"/>
                </a:solidFill>
              </a:rPr>
              <a:t>it</a:t>
            </a:r>
            <a:r>
              <a:rPr lang="fr-FR" sz="1800" b="1" dirty="0">
                <a:solidFill>
                  <a:srgbClr val="000090"/>
                </a:solidFill>
              </a:rPr>
              <a:t>…</a:t>
            </a:r>
          </a:p>
          <a:p>
            <a:pPr marL="1200150" lvl="2" indent="-285750" defTabSz="814388">
              <a:lnSpc>
                <a:spcPct val="95000"/>
              </a:lnSpc>
              <a:spcBef>
                <a:spcPts val="800"/>
              </a:spcBef>
              <a:buFont typeface="Arial"/>
              <a:buChar char="•"/>
            </a:pPr>
            <a:endParaRPr lang="fr-FR" sz="1800" b="1" dirty="0">
              <a:solidFill>
                <a:srgbClr val="000090"/>
              </a:solidFill>
            </a:endParaRPr>
          </a:p>
        </p:txBody>
      </p:sp>
      <p:sp>
        <p:nvSpPr>
          <p:cNvPr id="3" name="Title 2"/>
          <p:cNvSpPr>
            <a:spLocks noGrp="1"/>
          </p:cNvSpPr>
          <p:nvPr>
            <p:ph type="title"/>
          </p:nvPr>
        </p:nvSpPr>
        <p:spPr/>
        <p:txBody>
          <a:bodyPr/>
          <a:lstStyle/>
          <a:p>
            <a:r>
              <a:rPr lang="en-US" dirty="0"/>
              <a:t>Categories of IT costs </a:t>
            </a:r>
            <a:r>
              <a:rPr lang="en-US" sz="3600" dirty="0"/>
              <a:t>(2/4) </a:t>
            </a:r>
            <a:endParaRPr lang="en-US" dirty="0"/>
          </a:p>
        </p:txBody>
      </p:sp>
    </p:spTree>
    <p:extLst>
      <p:ext uri="{BB962C8B-B14F-4D97-AF65-F5344CB8AC3E}">
        <p14:creationId xmlns:p14="http://schemas.microsoft.com/office/powerpoint/2010/main" val="434938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2620434"/>
            <a:ext cx="8661400" cy="3437466"/>
          </a:xfrm>
        </p:spPr>
        <p:txBody>
          <a:bodyPr>
            <a:normAutofit/>
          </a:bodyPr>
          <a:lstStyle/>
          <a:p>
            <a:pPr marL="800100" lvl="1" indent="-342900" defTabSz="814388">
              <a:lnSpc>
                <a:spcPct val="95000"/>
              </a:lnSpc>
              <a:spcBef>
                <a:spcPct val="50000"/>
              </a:spcBef>
              <a:buFont typeface="Arial"/>
              <a:buChar char="•"/>
            </a:pPr>
            <a:r>
              <a:rPr lang="fr-FR" sz="2400" b="1" dirty="0" err="1">
                <a:solidFill>
                  <a:srgbClr val="000090"/>
                </a:solidFill>
              </a:rPr>
              <a:t>Accounting</a:t>
            </a:r>
            <a:r>
              <a:rPr lang="fr-FR" sz="2400" b="1" dirty="0">
                <a:solidFill>
                  <a:srgbClr val="000090"/>
                </a:solidFill>
              </a:rPr>
              <a:t> </a:t>
            </a:r>
            <a:r>
              <a:rPr lang="fr-FR" sz="2400" b="1" dirty="0" err="1">
                <a:solidFill>
                  <a:srgbClr val="000090"/>
                </a:solidFill>
              </a:rPr>
              <a:t>rules</a:t>
            </a:r>
            <a:endParaRPr lang="fr-FR" sz="2400" b="1" dirty="0">
              <a:solidFill>
                <a:srgbClr val="000090"/>
              </a:solidFill>
            </a:endParaRPr>
          </a:p>
          <a:p>
            <a:pPr marL="1200150" lvl="2" indent="-285750" defTabSz="814388">
              <a:lnSpc>
                <a:spcPct val="95000"/>
              </a:lnSpc>
              <a:spcBef>
                <a:spcPts val="1000"/>
              </a:spcBef>
              <a:buFont typeface="Arial"/>
              <a:buChar char="•"/>
            </a:pPr>
            <a:r>
              <a:rPr lang="fr-FR" sz="1800" b="1" dirty="0" err="1">
                <a:solidFill>
                  <a:srgbClr val="000090"/>
                </a:solidFill>
              </a:rPr>
              <a:t>Functional</a:t>
            </a:r>
            <a:r>
              <a:rPr lang="fr-FR" sz="1800" b="1" dirty="0">
                <a:solidFill>
                  <a:srgbClr val="000090"/>
                </a:solidFill>
              </a:rPr>
              <a:t> design </a:t>
            </a:r>
            <a:r>
              <a:rPr lang="fr-FR" sz="1800" b="1" dirty="0" err="1">
                <a:solidFill>
                  <a:srgbClr val="000090"/>
                </a:solidFill>
              </a:rPr>
              <a:t>is</a:t>
            </a:r>
            <a:r>
              <a:rPr lang="fr-FR" sz="1800" b="1" dirty="0">
                <a:solidFill>
                  <a:srgbClr val="000090"/>
                </a:solidFill>
              </a:rPr>
              <a:t> </a:t>
            </a:r>
            <a:r>
              <a:rPr lang="fr-FR" sz="1800" b="1" dirty="0" err="1">
                <a:solidFill>
                  <a:srgbClr val="000090"/>
                </a:solidFill>
              </a:rPr>
              <a:t>Opex</a:t>
            </a:r>
            <a:r>
              <a:rPr lang="fr-FR" sz="1800" b="1" dirty="0">
                <a:solidFill>
                  <a:srgbClr val="000090"/>
                </a:solidFill>
              </a:rPr>
              <a:t> and </a:t>
            </a:r>
            <a:r>
              <a:rPr lang="fr-FR" sz="1800" b="1" dirty="0" err="1">
                <a:solidFill>
                  <a:srgbClr val="000090"/>
                </a:solidFill>
              </a:rPr>
              <a:t>technical</a:t>
            </a:r>
            <a:r>
              <a:rPr lang="fr-FR" sz="1800" b="1" dirty="0">
                <a:solidFill>
                  <a:srgbClr val="000090"/>
                </a:solidFill>
              </a:rPr>
              <a:t> design </a:t>
            </a:r>
            <a:r>
              <a:rPr lang="fr-FR" sz="1800" b="1" dirty="0" err="1">
                <a:solidFill>
                  <a:srgbClr val="000090"/>
                </a:solidFill>
              </a:rPr>
              <a:t>is</a:t>
            </a:r>
            <a:r>
              <a:rPr lang="fr-FR" sz="1800" b="1" dirty="0">
                <a:solidFill>
                  <a:srgbClr val="000090"/>
                </a:solidFill>
              </a:rPr>
              <a:t> </a:t>
            </a:r>
            <a:r>
              <a:rPr lang="fr-FR" sz="1800" b="1" dirty="0" err="1">
                <a:solidFill>
                  <a:srgbClr val="000090"/>
                </a:solidFill>
              </a:rPr>
              <a:t>Capex</a:t>
            </a:r>
            <a:endParaRPr lang="fr-FR" sz="1800" b="1" dirty="0">
              <a:solidFill>
                <a:srgbClr val="000090"/>
              </a:solidFill>
            </a:endParaRPr>
          </a:p>
          <a:p>
            <a:pPr marL="1200150" lvl="2" indent="-285750" defTabSz="814388">
              <a:lnSpc>
                <a:spcPct val="95000"/>
              </a:lnSpc>
              <a:spcBef>
                <a:spcPts val="1000"/>
              </a:spcBef>
              <a:buFont typeface="Arial"/>
              <a:buChar char="•"/>
            </a:pPr>
            <a:r>
              <a:rPr lang="fr-FR" sz="1800" b="1" dirty="0">
                <a:solidFill>
                  <a:srgbClr val="000090"/>
                </a:solidFill>
              </a:rPr>
              <a:t>Production upgrades and </a:t>
            </a:r>
            <a:r>
              <a:rPr lang="fr-FR" sz="1800" b="1" dirty="0" err="1">
                <a:solidFill>
                  <a:srgbClr val="000090"/>
                </a:solidFill>
              </a:rPr>
              <a:t>enhancements</a:t>
            </a:r>
            <a:r>
              <a:rPr lang="fr-FR" sz="1800" b="1" dirty="0">
                <a:solidFill>
                  <a:srgbClr val="000090"/>
                </a:solidFill>
              </a:rPr>
              <a:t> are </a:t>
            </a:r>
            <a:r>
              <a:rPr lang="fr-FR" sz="1800" b="1" dirty="0" err="1">
                <a:solidFill>
                  <a:srgbClr val="000090"/>
                </a:solidFill>
              </a:rPr>
              <a:t>capitalizable</a:t>
            </a:r>
            <a:r>
              <a:rPr lang="fr-FR" sz="1800" b="1" dirty="0">
                <a:solidFill>
                  <a:srgbClr val="000090"/>
                </a:solidFill>
              </a:rPr>
              <a:t> </a:t>
            </a:r>
            <a:r>
              <a:rPr lang="fr-FR" sz="1800" b="1" dirty="0" err="1">
                <a:solidFill>
                  <a:srgbClr val="000090"/>
                </a:solidFill>
              </a:rPr>
              <a:t>while</a:t>
            </a:r>
            <a:r>
              <a:rPr lang="fr-FR" sz="1800" b="1" dirty="0">
                <a:solidFill>
                  <a:srgbClr val="000090"/>
                </a:solidFill>
              </a:rPr>
              <a:t> </a:t>
            </a:r>
            <a:r>
              <a:rPr lang="fr-FR" sz="1800" b="1" dirty="0" err="1">
                <a:solidFill>
                  <a:srgbClr val="000090"/>
                </a:solidFill>
              </a:rPr>
              <a:t>small</a:t>
            </a:r>
            <a:r>
              <a:rPr lang="fr-FR" sz="1800" b="1" dirty="0">
                <a:solidFill>
                  <a:srgbClr val="000090"/>
                </a:solidFill>
              </a:rPr>
              <a:t> changes and maintenance are not…</a:t>
            </a:r>
          </a:p>
          <a:p>
            <a:pPr marL="1200150" lvl="2" indent="-285750" defTabSz="814388">
              <a:lnSpc>
                <a:spcPct val="95000"/>
              </a:lnSpc>
              <a:spcBef>
                <a:spcPts val="1000"/>
              </a:spcBef>
              <a:buFont typeface="Arial"/>
              <a:buChar char="•"/>
            </a:pPr>
            <a:r>
              <a:rPr lang="fr-FR" sz="1800" b="1" dirty="0" err="1">
                <a:solidFill>
                  <a:srgbClr val="000090"/>
                </a:solidFill>
              </a:rPr>
              <a:t>Development</a:t>
            </a:r>
            <a:r>
              <a:rPr lang="fr-FR" sz="1800" b="1" dirty="0">
                <a:solidFill>
                  <a:srgbClr val="000090"/>
                </a:solidFill>
              </a:rPr>
              <a:t> </a:t>
            </a:r>
            <a:r>
              <a:rPr lang="fr-FR" sz="1800" b="1" dirty="0" err="1">
                <a:solidFill>
                  <a:srgbClr val="000090"/>
                </a:solidFill>
              </a:rPr>
              <a:t>costs</a:t>
            </a:r>
            <a:r>
              <a:rPr lang="fr-FR" sz="1800" b="1" dirty="0">
                <a:solidFill>
                  <a:srgbClr val="000090"/>
                </a:solidFill>
              </a:rPr>
              <a:t> of one time data migration interfaces are not </a:t>
            </a:r>
            <a:r>
              <a:rPr lang="fr-FR" sz="1800" b="1" dirty="0" err="1">
                <a:solidFill>
                  <a:srgbClr val="000090"/>
                </a:solidFill>
              </a:rPr>
              <a:t>capitalizable</a:t>
            </a:r>
            <a:r>
              <a:rPr lang="fr-FR" sz="1800" b="1" dirty="0">
                <a:solidFill>
                  <a:srgbClr val="000090"/>
                </a:solidFill>
              </a:rPr>
              <a:t> </a:t>
            </a:r>
            <a:r>
              <a:rPr lang="fr-FR" sz="1800" b="1" dirty="0" err="1">
                <a:solidFill>
                  <a:srgbClr val="000090"/>
                </a:solidFill>
              </a:rPr>
              <a:t>because</a:t>
            </a:r>
            <a:r>
              <a:rPr lang="fr-FR" sz="1800" b="1" dirty="0">
                <a:solidFill>
                  <a:srgbClr val="000090"/>
                </a:solidFill>
              </a:rPr>
              <a:t> no </a:t>
            </a:r>
            <a:r>
              <a:rPr lang="fr-FR" sz="1800" b="1" dirty="0" err="1">
                <a:solidFill>
                  <a:srgbClr val="000090"/>
                </a:solidFill>
              </a:rPr>
              <a:t>asset</a:t>
            </a:r>
            <a:r>
              <a:rPr lang="fr-FR" sz="1800" b="1" dirty="0">
                <a:solidFill>
                  <a:srgbClr val="000090"/>
                </a:solidFill>
              </a:rPr>
              <a:t> </a:t>
            </a:r>
            <a:r>
              <a:rPr lang="fr-FR" sz="1800" b="1" dirty="0" err="1">
                <a:solidFill>
                  <a:srgbClr val="000090"/>
                </a:solidFill>
              </a:rPr>
              <a:t>result</a:t>
            </a:r>
            <a:r>
              <a:rPr lang="fr-FR" sz="1800" b="1" dirty="0">
                <a:solidFill>
                  <a:srgbClr val="000090"/>
                </a:solidFill>
              </a:rPr>
              <a:t> </a:t>
            </a:r>
            <a:r>
              <a:rPr lang="fr-FR" sz="1800" b="1" dirty="0" err="1">
                <a:solidFill>
                  <a:srgbClr val="000090"/>
                </a:solidFill>
              </a:rPr>
              <a:t>from</a:t>
            </a:r>
            <a:r>
              <a:rPr lang="fr-FR" sz="1800" b="1" dirty="0">
                <a:solidFill>
                  <a:srgbClr val="000090"/>
                </a:solidFill>
              </a:rPr>
              <a:t> </a:t>
            </a:r>
            <a:r>
              <a:rPr lang="fr-FR" sz="1800" b="1" dirty="0" err="1">
                <a:solidFill>
                  <a:srgbClr val="000090"/>
                </a:solidFill>
              </a:rPr>
              <a:t>it</a:t>
            </a:r>
            <a:endParaRPr lang="fr-FR" sz="1800" b="1" dirty="0">
              <a:solidFill>
                <a:srgbClr val="000090"/>
              </a:solidFill>
            </a:endParaRPr>
          </a:p>
          <a:p>
            <a:pPr marL="1200150" lvl="2" indent="-285750" defTabSz="814388">
              <a:lnSpc>
                <a:spcPct val="95000"/>
              </a:lnSpc>
              <a:spcBef>
                <a:spcPts val="1000"/>
              </a:spcBef>
              <a:buFont typeface="Arial"/>
              <a:buChar char="•"/>
            </a:pPr>
            <a:r>
              <a:rPr lang="fr-FR" sz="1800" b="1" dirty="0">
                <a:solidFill>
                  <a:srgbClr val="000090"/>
                </a:solidFill>
              </a:rPr>
              <a:t>T&amp;E are </a:t>
            </a:r>
            <a:r>
              <a:rPr lang="fr-FR" sz="1800" b="1" dirty="0" err="1">
                <a:solidFill>
                  <a:srgbClr val="000090"/>
                </a:solidFill>
              </a:rPr>
              <a:t>Opex</a:t>
            </a:r>
            <a:r>
              <a:rPr lang="fr-FR" sz="1800" b="1" dirty="0">
                <a:solidFill>
                  <a:srgbClr val="000090"/>
                </a:solidFill>
              </a:rPr>
              <a:t> </a:t>
            </a:r>
            <a:r>
              <a:rPr lang="fr-FR" sz="1800" b="1" dirty="0" err="1">
                <a:solidFill>
                  <a:srgbClr val="000090"/>
                </a:solidFill>
              </a:rPr>
              <a:t>except</a:t>
            </a:r>
            <a:r>
              <a:rPr lang="fr-FR" sz="1800" b="1" dirty="0">
                <a:solidFill>
                  <a:srgbClr val="000090"/>
                </a:solidFill>
              </a:rPr>
              <a:t> if part of a </a:t>
            </a:r>
            <a:r>
              <a:rPr lang="fr-FR" sz="1800" b="1" dirty="0" err="1">
                <a:solidFill>
                  <a:srgbClr val="000090"/>
                </a:solidFill>
              </a:rPr>
              <a:t>capitalizable</a:t>
            </a:r>
            <a:r>
              <a:rPr lang="fr-FR" sz="1800" b="1" dirty="0">
                <a:solidFill>
                  <a:srgbClr val="000090"/>
                </a:solidFill>
              </a:rPr>
              <a:t> </a:t>
            </a:r>
            <a:r>
              <a:rPr lang="fr-FR" sz="1800" b="1" dirty="0" err="1">
                <a:solidFill>
                  <a:srgbClr val="000090"/>
                </a:solidFill>
              </a:rPr>
              <a:t>activity</a:t>
            </a:r>
            <a:r>
              <a:rPr lang="fr-FR" sz="1800" b="1" dirty="0">
                <a:solidFill>
                  <a:srgbClr val="000090"/>
                </a:solidFill>
              </a:rPr>
              <a:t> !</a:t>
            </a:r>
          </a:p>
          <a:p>
            <a:pPr marL="1200150" lvl="2" indent="-285750" defTabSz="814388">
              <a:lnSpc>
                <a:spcPct val="95000"/>
              </a:lnSpc>
              <a:spcBef>
                <a:spcPts val="1000"/>
              </a:spcBef>
              <a:buFont typeface="Arial"/>
              <a:buChar char="•"/>
            </a:pPr>
            <a:r>
              <a:rPr lang="fr-FR" sz="1800" b="1" dirty="0">
                <a:solidFill>
                  <a:srgbClr val="000090"/>
                </a:solidFill>
              </a:rPr>
              <a:t>…There </a:t>
            </a:r>
            <a:r>
              <a:rPr lang="fr-FR" sz="1800" b="1" dirty="0" err="1">
                <a:solidFill>
                  <a:srgbClr val="000090"/>
                </a:solidFill>
              </a:rPr>
              <a:t>is</a:t>
            </a:r>
            <a:r>
              <a:rPr lang="fr-FR" sz="1800" b="1" dirty="0">
                <a:solidFill>
                  <a:srgbClr val="000090"/>
                </a:solidFill>
              </a:rPr>
              <a:t> room for </a:t>
            </a:r>
            <a:r>
              <a:rPr lang="fr-FR" sz="1800" b="1" dirty="0" err="1">
                <a:solidFill>
                  <a:srgbClr val="000090"/>
                </a:solidFill>
              </a:rPr>
              <a:t>interpretation</a:t>
            </a:r>
            <a:r>
              <a:rPr lang="fr-FR" sz="1800" b="1" dirty="0">
                <a:solidFill>
                  <a:srgbClr val="000090"/>
                </a:solidFill>
              </a:rPr>
              <a:t> : </a:t>
            </a:r>
            <a:r>
              <a:rPr lang="fr-FR" sz="1800" b="1" dirty="0" err="1">
                <a:solidFill>
                  <a:srgbClr val="000090"/>
                </a:solidFill>
              </a:rPr>
              <a:t>need</a:t>
            </a:r>
            <a:r>
              <a:rPr lang="fr-FR" sz="1800" b="1" dirty="0">
                <a:solidFill>
                  <a:srgbClr val="000090"/>
                </a:solidFill>
              </a:rPr>
              <a:t> to </a:t>
            </a:r>
            <a:r>
              <a:rPr lang="fr-FR" sz="1800" b="1" dirty="0" err="1">
                <a:solidFill>
                  <a:srgbClr val="000090"/>
                </a:solidFill>
              </a:rPr>
              <a:t>follow</a:t>
            </a:r>
            <a:r>
              <a:rPr lang="fr-FR" sz="1800" b="1" dirty="0">
                <a:solidFill>
                  <a:srgbClr val="000090"/>
                </a:solidFill>
              </a:rPr>
              <a:t> </a:t>
            </a:r>
            <a:r>
              <a:rPr lang="fr-FR" sz="1800" b="1" dirty="0" err="1">
                <a:solidFill>
                  <a:srgbClr val="000090"/>
                </a:solidFill>
              </a:rPr>
              <a:t>rules</a:t>
            </a:r>
            <a:r>
              <a:rPr lang="fr-FR" sz="1800" b="1" dirty="0">
                <a:solidFill>
                  <a:srgbClr val="000090"/>
                </a:solidFill>
              </a:rPr>
              <a:t> of the </a:t>
            </a:r>
            <a:r>
              <a:rPr lang="fr-FR" sz="1800" b="1" dirty="0" err="1">
                <a:solidFill>
                  <a:srgbClr val="000090"/>
                </a:solidFill>
              </a:rPr>
              <a:t>company</a:t>
            </a:r>
            <a:endParaRPr lang="fr-FR" sz="1800" b="1" dirty="0">
              <a:solidFill>
                <a:srgbClr val="000090"/>
              </a:solidFill>
            </a:endParaRPr>
          </a:p>
        </p:txBody>
      </p:sp>
      <p:sp>
        <p:nvSpPr>
          <p:cNvPr id="3" name="Title 2"/>
          <p:cNvSpPr>
            <a:spLocks noGrp="1"/>
          </p:cNvSpPr>
          <p:nvPr>
            <p:ph type="title"/>
          </p:nvPr>
        </p:nvSpPr>
        <p:spPr/>
        <p:txBody>
          <a:bodyPr/>
          <a:lstStyle/>
          <a:p>
            <a:r>
              <a:rPr lang="en-US" dirty="0"/>
              <a:t>Categories of IT costs </a:t>
            </a:r>
            <a:r>
              <a:rPr lang="en-US" sz="3600" dirty="0"/>
              <a:t>(3/4)</a:t>
            </a:r>
            <a:endParaRPr lang="en-US" dirty="0"/>
          </a:p>
        </p:txBody>
      </p:sp>
    </p:spTree>
    <p:extLst>
      <p:ext uri="{BB962C8B-B14F-4D97-AF65-F5344CB8AC3E}">
        <p14:creationId xmlns:p14="http://schemas.microsoft.com/office/powerpoint/2010/main" val="3655836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A49E-62CE-BF32-F2EE-70A6C6A105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593457-CAA2-6CD3-3BB9-6CFA31B88201}"/>
              </a:ext>
            </a:extLst>
          </p:cNvPr>
          <p:cNvSpPr>
            <a:spLocks noGrp="1"/>
          </p:cNvSpPr>
          <p:nvPr>
            <p:ph idx="1"/>
          </p:nvPr>
        </p:nvSpPr>
        <p:spPr>
          <a:xfrm>
            <a:off x="-228600" y="2620434"/>
            <a:ext cx="8915400" cy="3899238"/>
          </a:xfrm>
        </p:spPr>
        <p:txBody>
          <a:bodyPr>
            <a:normAutofit/>
          </a:bodyPr>
          <a:lstStyle/>
          <a:p>
            <a:pPr marL="800100" lvl="1" indent="-342900" defTabSz="814388">
              <a:lnSpc>
                <a:spcPct val="95000"/>
              </a:lnSpc>
              <a:spcBef>
                <a:spcPct val="50000"/>
              </a:spcBef>
              <a:buFont typeface="Arial"/>
              <a:buChar char="•"/>
            </a:pPr>
            <a:r>
              <a:rPr lang="fr-FR" sz="2400" b="1" dirty="0">
                <a:solidFill>
                  <a:srgbClr val="000090"/>
                </a:solidFill>
              </a:rPr>
              <a:t>To </a:t>
            </a:r>
            <a:r>
              <a:rPr lang="fr-FR" sz="2400" b="1" dirty="0" err="1">
                <a:solidFill>
                  <a:srgbClr val="000090"/>
                </a:solidFill>
              </a:rPr>
              <a:t>be</a:t>
            </a:r>
            <a:r>
              <a:rPr lang="fr-FR" sz="2400" b="1" dirty="0">
                <a:solidFill>
                  <a:srgbClr val="000090"/>
                </a:solidFill>
              </a:rPr>
              <a:t> </a:t>
            </a:r>
            <a:r>
              <a:rPr lang="fr-FR" sz="2400" b="1" dirty="0" err="1">
                <a:solidFill>
                  <a:srgbClr val="000090"/>
                </a:solidFill>
              </a:rPr>
              <a:t>remembered</a:t>
            </a:r>
            <a:r>
              <a:rPr lang="fr-FR" sz="2400" b="1" dirty="0">
                <a:solidFill>
                  <a:srgbClr val="000090"/>
                </a:solidFill>
              </a:rPr>
              <a:t> :</a:t>
            </a:r>
          </a:p>
          <a:p>
            <a:pPr marL="1200150" lvl="2" indent="-285750" defTabSz="814388">
              <a:lnSpc>
                <a:spcPct val="95000"/>
              </a:lnSpc>
              <a:spcBef>
                <a:spcPts val="1000"/>
              </a:spcBef>
              <a:buFont typeface="Arial"/>
              <a:buChar char="•"/>
            </a:pPr>
            <a:r>
              <a:rPr lang="fr-FR" sz="1800" b="1" dirty="0">
                <a:solidFill>
                  <a:srgbClr val="000090"/>
                </a:solidFill>
              </a:rPr>
              <a:t>HW </a:t>
            </a:r>
            <a:r>
              <a:rPr lang="fr-FR" sz="1800" b="1" dirty="0" err="1">
                <a:solidFill>
                  <a:srgbClr val="000090"/>
                </a:solidFill>
              </a:rPr>
              <a:t>is</a:t>
            </a:r>
            <a:r>
              <a:rPr lang="fr-FR" sz="1800" b="1" dirty="0">
                <a:solidFill>
                  <a:srgbClr val="000090"/>
                </a:solidFill>
              </a:rPr>
              <a:t> </a:t>
            </a:r>
            <a:r>
              <a:rPr lang="fr-FR" sz="1800" b="1" dirty="0" err="1">
                <a:solidFill>
                  <a:srgbClr val="000090"/>
                </a:solidFill>
              </a:rPr>
              <a:t>always</a:t>
            </a:r>
            <a:r>
              <a:rPr lang="fr-FR" sz="1800" b="1" dirty="0">
                <a:solidFill>
                  <a:srgbClr val="000090"/>
                </a:solidFill>
              </a:rPr>
              <a:t> Capex (</a:t>
            </a:r>
            <a:r>
              <a:rPr lang="fr-FR" sz="1800" b="1" dirty="0" err="1">
                <a:solidFill>
                  <a:srgbClr val="000090"/>
                </a:solidFill>
              </a:rPr>
              <a:t>except</a:t>
            </a:r>
            <a:r>
              <a:rPr lang="fr-FR" sz="1800" b="1" dirty="0">
                <a:solidFill>
                  <a:srgbClr val="000090"/>
                </a:solidFill>
              </a:rPr>
              <a:t> if of </a:t>
            </a:r>
            <a:r>
              <a:rPr lang="fr-FR" sz="1800" b="1" dirty="0" err="1">
                <a:solidFill>
                  <a:srgbClr val="000090"/>
                </a:solidFill>
              </a:rPr>
              <a:t>small</a:t>
            </a:r>
            <a:r>
              <a:rPr lang="fr-FR" sz="1800" b="1" dirty="0">
                <a:solidFill>
                  <a:srgbClr val="000090"/>
                </a:solidFill>
              </a:rPr>
              <a:t> value)</a:t>
            </a:r>
          </a:p>
          <a:p>
            <a:pPr marL="1200150" lvl="2" indent="-285750" defTabSz="814388">
              <a:lnSpc>
                <a:spcPct val="95000"/>
              </a:lnSpc>
              <a:spcBef>
                <a:spcPts val="1000"/>
              </a:spcBef>
              <a:buFont typeface="Arial"/>
              <a:buChar char="•"/>
            </a:pPr>
            <a:r>
              <a:rPr lang="fr-FR" sz="1800" b="1" dirty="0">
                <a:solidFill>
                  <a:srgbClr val="000090"/>
                </a:solidFill>
              </a:rPr>
              <a:t>Services are </a:t>
            </a:r>
            <a:r>
              <a:rPr lang="fr-FR" sz="1800" b="1" dirty="0" err="1">
                <a:solidFill>
                  <a:srgbClr val="000090"/>
                </a:solidFill>
              </a:rPr>
              <a:t>always</a:t>
            </a:r>
            <a:r>
              <a:rPr lang="fr-FR" sz="1800" b="1" dirty="0">
                <a:solidFill>
                  <a:srgbClr val="000090"/>
                </a:solidFill>
              </a:rPr>
              <a:t> Opex</a:t>
            </a:r>
          </a:p>
          <a:p>
            <a:pPr marL="1200150" lvl="2" indent="-285750" defTabSz="814388">
              <a:lnSpc>
                <a:spcPct val="95000"/>
              </a:lnSpc>
              <a:spcBef>
                <a:spcPts val="1000"/>
              </a:spcBef>
              <a:buFont typeface="Arial"/>
              <a:buChar char="•"/>
            </a:pPr>
            <a:r>
              <a:rPr lang="fr-FR" sz="1800" b="1" dirty="0">
                <a:solidFill>
                  <a:srgbClr val="000090"/>
                </a:solidFill>
              </a:rPr>
              <a:t>SW licences : Capex</a:t>
            </a:r>
          </a:p>
          <a:p>
            <a:pPr marL="1200150" lvl="2" indent="-285750" defTabSz="814388">
              <a:lnSpc>
                <a:spcPct val="95000"/>
              </a:lnSpc>
              <a:spcBef>
                <a:spcPts val="1000"/>
              </a:spcBef>
              <a:buFont typeface="Arial"/>
              <a:buChar char="•"/>
            </a:pPr>
            <a:r>
              <a:rPr lang="fr-FR" sz="1800" b="1" dirty="0">
                <a:solidFill>
                  <a:srgbClr val="000090"/>
                </a:solidFill>
              </a:rPr>
              <a:t>Application </a:t>
            </a:r>
            <a:r>
              <a:rPr lang="fr-FR" sz="1800" b="1" dirty="0" err="1">
                <a:solidFill>
                  <a:srgbClr val="000090"/>
                </a:solidFill>
              </a:rPr>
              <a:t>development</a:t>
            </a:r>
            <a:r>
              <a:rPr lang="fr-FR" sz="1800" b="1" dirty="0">
                <a:solidFill>
                  <a:srgbClr val="000090"/>
                </a:solidFill>
              </a:rPr>
              <a:t> : Capex (</a:t>
            </a:r>
            <a:r>
              <a:rPr lang="fr-FR" sz="1800" b="1" dirty="0" err="1">
                <a:solidFill>
                  <a:srgbClr val="000090"/>
                </a:solidFill>
              </a:rPr>
              <a:t>except</a:t>
            </a:r>
            <a:r>
              <a:rPr lang="fr-FR" sz="1800" b="1" dirty="0">
                <a:solidFill>
                  <a:srgbClr val="000090"/>
                </a:solidFill>
              </a:rPr>
              <a:t> </a:t>
            </a:r>
            <a:r>
              <a:rPr lang="fr-FR" sz="1800" b="1" dirty="0" err="1">
                <a:solidFill>
                  <a:srgbClr val="000090"/>
                </a:solidFill>
              </a:rPr>
              <a:t>preliminary</a:t>
            </a:r>
            <a:r>
              <a:rPr lang="fr-FR" sz="1800" b="1" dirty="0">
                <a:solidFill>
                  <a:srgbClr val="000090"/>
                </a:solidFill>
              </a:rPr>
              <a:t> phases….)</a:t>
            </a:r>
          </a:p>
          <a:p>
            <a:pPr marL="1200150" lvl="2" indent="-285750" defTabSz="814388">
              <a:lnSpc>
                <a:spcPct val="95000"/>
              </a:lnSpc>
              <a:spcBef>
                <a:spcPts val="1000"/>
              </a:spcBef>
              <a:buFont typeface="Arial"/>
              <a:buChar char="•"/>
            </a:pPr>
            <a:r>
              <a:rPr lang="fr-FR" sz="1800" b="1" dirty="0">
                <a:solidFill>
                  <a:srgbClr val="000090"/>
                </a:solidFill>
              </a:rPr>
              <a:t>Application maintenance : </a:t>
            </a:r>
            <a:r>
              <a:rPr lang="fr-FR" sz="1800" b="1" dirty="0" err="1">
                <a:solidFill>
                  <a:srgbClr val="000090"/>
                </a:solidFill>
              </a:rPr>
              <a:t>always</a:t>
            </a:r>
            <a:r>
              <a:rPr lang="fr-FR" sz="1800" b="1" dirty="0">
                <a:solidFill>
                  <a:srgbClr val="000090"/>
                </a:solidFill>
              </a:rPr>
              <a:t> Opex</a:t>
            </a:r>
          </a:p>
          <a:p>
            <a:pPr marL="1200150" lvl="2" indent="-285750" defTabSz="814388">
              <a:lnSpc>
                <a:spcPct val="95000"/>
              </a:lnSpc>
              <a:spcBef>
                <a:spcPts val="1000"/>
              </a:spcBef>
              <a:buFont typeface="Arial"/>
              <a:buChar char="•"/>
            </a:pPr>
            <a:r>
              <a:rPr lang="fr-FR" sz="1800" b="1" dirty="0">
                <a:solidFill>
                  <a:srgbClr val="000090"/>
                </a:solidFill>
              </a:rPr>
              <a:t>T&amp;E </a:t>
            </a:r>
            <a:r>
              <a:rPr lang="fr-FR" sz="1800" b="1" dirty="0" err="1">
                <a:solidFill>
                  <a:srgbClr val="000090"/>
                </a:solidFill>
              </a:rPr>
              <a:t>always</a:t>
            </a:r>
            <a:r>
              <a:rPr lang="fr-FR" sz="1800" b="1" dirty="0">
                <a:solidFill>
                  <a:srgbClr val="000090"/>
                </a:solidFill>
              </a:rPr>
              <a:t> Opex</a:t>
            </a:r>
          </a:p>
        </p:txBody>
      </p:sp>
      <p:sp>
        <p:nvSpPr>
          <p:cNvPr id="3" name="Title 2">
            <a:extLst>
              <a:ext uri="{FF2B5EF4-FFF2-40B4-BE49-F238E27FC236}">
                <a16:creationId xmlns:a16="http://schemas.microsoft.com/office/drawing/2014/main" id="{2851335F-1079-67BA-3741-02BE6383AA03}"/>
              </a:ext>
            </a:extLst>
          </p:cNvPr>
          <p:cNvSpPr>
            <a:spLocks noGrp="1"/>
          </p:cNvSpPr>
          <p:nvPr>
            <p:ph type="title"/>
          </p:nvPr>
        </p:nvSpPr>
        <p:spPr/>
        <p:txBody>
          <a:bodyPr/>
          <a:lstStyle/>
          <a:p>
            <a:r>
              <a:rPr lang="en-US" dirty="0"/>
              <a:t>Categories of IT costs </a:t>
            </a:r>
            <a:r>
              <a:rPr lang="en-US" sz="3600" dirty="0"/>
              <a:t>(4/4)</a:t>
            </a:r>
            <a:endParaRPr lang="en-US" dirty="0"/>
          </a:p>
        </p:txBody>
      </p:sp>
    </p:spTree>
    <p:extLst>
      <p:ext uri="{BB962C8B-B14F-4D97-AF65-F5344CB8AC3E}">
        <p14:creationId xmlns:p14="http://schemas.microsoft.com/office/powerpoint/2010/main" val="2254778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032" y="1610610"/>
            <a:ext cx="7772400" cy="2376950"/>
          </a:xfrm>
        </p:spPr>
        <p:txBody>
          <a:bodyPr/>
          <a:lstStyle/>
          <a:p>
            <a:r>
              <a:rPr lang="en-US" dirty="0"/>
              <a:t>Cloud Computing</a:t>
            </a:r>
            <a:br>
              <a:rPr lang="en-US" dirty="0"/>
            </a:br>
            <a:r>
              <a:rPr lang="en-US" dirty="0" err="1"/>
              <a:t>ITaaS</a:t>
            </a:r>
            <a:endParaRPr lang="en-US" dirty="0"/>
          </a:p>
        </p:txBody>
      </p:sp>
    </p:spTree>
    <p:extLst>
      <p:ext uri="{BB962C8B-B14F-4D97-AF65-F5344CB8AC3E}">
        <p14:creationId xmlns:p14="http://schemas.microsoft.com/office/powerpoint/2010/main" val="1872662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Cloud computing or</a:t>
            </a:r>
            <a:br>
              <a:rPr lang="en-US" dirty="0"/>
            </a:br>
            <a:r>
              <a:rPr lang="en-US" dirty="0" err="1"/>
              <a:t>ITaaS</a:t>
            </a:r>
            <a:r>
              <a:rPr lang="en-US" dirty="0"/>
              <a:t> (IT as a Service)</a:t>
            </a:r>
          </a:p>
        </p:txBody>
      </p:sp>
      <p:sp>
        <p:nvSpPr>
          <p:cNvPr id="2" name="Rectangle 1"/>
          <p:cNvSpPr/>
          <p:nvPr/>
        </p:nvSpPr>
        <p:spPr>
          <a:xfrm>
            <a:off x="-127804" y="2621325"/>
            <a:ext cx="9156700" cy="3990836"/>
          </a:xfrm>
          <a:prstGeom prst="rect">
            <a:avLst/>
          </a:prstGeom>
        </p:spPr>
        <p:txBody>
          <a:bodyPr wrap="square">
            <a:spAutoFit/>
          </a:bodyPr>
          <a:lstStyle/>
          <a:p>
            <a:pPr marL="742950" lvl="1" indent="-285750" defTabSz="814388">
              <a:lnSpc>
                <a:spcPct val="95000"/>
              </a:lnSpc>
              <a:spcBef>
                <a:spcPct val="50000"/>
              </a:spcBef>
              <a:buClr>
                <a:schemeClr val="accent1"/>
              </a:buClr>
              <a:buSzPct val="100000"/>
              <a:buFont typeface="Arial"/>
              <a:buChar char="•"/>
            </a:pPr>
            <a:r>
              <a:rPr lang="fr-FR" sz="2000" b="1" dirty="0" err="1">
                <a:solidFill>
                  <a:srgbClr val="000090"/>
                </a:solidFill>
              </a:rPr>
              <a:t>Monthly</a:t>
            </a:r>
            <a:r>
              <a:rPr lang="fr-FR" sz="2000" b="1" dirty="0">
                <a:solidFill>
                  <a:srgbClr val="000090"/>
                </a:solidFill>
              </a:rPr>
              <a:t> </a:t>
            </a:r>
            <a:r>
              <a:rPr lang="fr-FR" sz="2000" b="1" dirty="0" err="1">
                <a:solidFill>
                  <a:srgbClr val="000090"/>
                </a:solidFill>
              </a:rPr>
              <a:t>rental</a:t>
            </a:r>
            <a:r>
              <a:rPr lang="fr-FR" sz="2000" b="1" dirty="0">
                <a:solidFill>
                  <a:srgbClr val="000090"/>
                </a:solidFill>
              </a:rPr>
              <a:t> </a:t>
            </a:r>
            <a:r>
              <a:rPr lang="fr-FR" sz="2000" b="1" dirty="0" err="1">
                <a:solidFill>
                  <a:srgbClr val="000090"/>
                </a:solidFill>
              </a:rPr>
              <a:t>fee</a:t>
            </a:r>
            <a:r>
              <a:rPr lang="fr-FR" sz="2000" b="1" dirty="0">
                <a:solidFill>
                  <a:srgbClr val="000090"/>
                </a:solidFill>
              </a:rPr>
              <a:t> for </a:t>
            </a:r>
            <a:r>
              <a:rPr lang="fr-FR" sz="2000" b="1" dirty="0" err="1">
                <a:solidFill>
                  <a:srgbClr val="000090"/>
                </a:solidFill>
              </a:rPr>
              <a:t>external</a:t>
            </a:r>
            <a:r>
              <a:rPr lang="fr-FR" sz="2000" b="1" dirty="0">
                <a:solidFill>
                  <a:srgbClr val="000090"/>
                </a:solidFill>
              </a:rPr>
              <a:t> services </a:t>
            </a:r>
            <a:r>
              <a:rPr lang="fr-FR" sz="2000" b="1" dirty="0" err="1">
                <a:solidFill>
                  <a:srgbClr val="000090"/>
                </a:solidFill>
              </a:rPr>
              <a:t>hosted</a:t>
            </a:r>
            <a:r>
              <a:rPr lang="fr-FR" sz="2000" b="1" dirty="0">
                <a:solidFill>
                  <a:srgbClr val="000090"/>
                </a:solidFill>
              </a:rPr>
              <a:t> in a data center</a:t>
            </a:r>
          </a:p>
          <a:p>
            <a:pPr marL="1200150" lvl="2" indent="-285750" defTabSz="814388">
              <a:lnSpc>
                <a:spcPct val="95000"/>
              </a:lnSpc>
              <a:spcBef>
                <a:spcPts val="800"/>
              </a:spcBef>
              <a:buClr>
                <a:schemeClr val="accent1"/>
              </a:buClr>
              <a:buSzPct val="100000"/>
              <a:buFont typeface="Lucida Grande"/>
              <a:buChar char="-"/>
            </a:pPr>
            <a:r>
              <a:rPr lang="fr-FR" sz="1600" b="1" dirty="0">
                <a:solidFill>
                  <a:srgbClr val="000090"/>
                </a:solidFill>
              </a:rPr>
              <a:t>Per user for an application (SW as a Service, </a:t>
            </a:r>
            <a:r>
              <a:rPr lang="fr-FR" sz="1600" b="1" dirty="0" err="1">
                <a:solidFill>
                  <a:srgbClr val="000090"/>
                </a:solidFill>
              </a:rPr>
              <a:t>SaaS</a:t>
            </a:r>
            <a:r>
              <a:rPr lang="fr-FR" sz="1600" b="1" dirty="0">
                <a:solidFill>
                  <a:srgbClr val="000090"/>
                </a:solidFill>
              </a:rPr>
              <a:t>)</a:t>
            </a:r>
          </a:p>
          <a:p>
            <a:pPr marL="1200150" lvl="2" indent="-285750" defTabSz="814388">
              <a:lnSpc>
                <a:spcPct val="95000"/>
              </a:lnSpc>
              <a:spcBef>
                <a:spcPts val="800"/>
              </a:spcBef>
              <a:buClr>
                <a:schemeClr val="accent1"/>
              </a:buClr>
              <a:buSzPct val="100000"/>
              <a:buFont typeface="Lucida Grande"/>
              <a:buChar char="-"/>
            </a:pPr>
            <a:r>
              <a:rPr lang="fr-FR" sz="1600" b="1" dirty="0">
                <a:solidFill>
                  <a:srgbClr val="000090"/>
                </a:solidFill>
              </a:rPr>
              <a:t>By </a:t>
            </a:r>
            <a:r>
              <a:rPr lang="fr-FR" sz="1600" b="1" dirty="0" err="1">
                <a:solidFill>
                  <a:srgbClr val="000090"/>
                </a:solidFill>
              </a:rPr>
              <a:t>capacity</a:t>
            </a:r>
            <a:r>
              <a:rPr lang="fr-FR" sz="1600" b="1" dirty="0">
                <a:solidFill>
                  <a:srgbClr val="000090"/>
                </a:solidFill>
              </a:rPr>
              <a:t> for a server (Infrastructure as a Service </a:t>
            </a:r>
            <a:r>
              <a:rPr lang="fr-FR" sz="1600" b="1" dirty="0" err="1">
                <a:solidFill>
                  <a:srgbClr val="000090"/>
                </a:solidFill>
              </a:rPr>
              <a:t>IaaS</a:t>
            </a:r>
            <a:r>
              <a:rPr lang="fr-FR" sz="1600" b="1" dirty="0">
                <a:solidFill>
                  <a:srgbClr val="000090"/>
                </a:solidFill>
              </a:rPr>
              <a:t>)</a:t>
            </a:r>
          </a:p>
          <a:p>
            <a:pPr marL="1200150" lvl="2" indent="-285750" defTabSz="814388">
              <a:lnSpc>
                <a:spcPct val="95000"/>
              </a:lnSpc>
              <a:spcBef>
                <a:spcPts val="800"/>
              </a:spcBef>
              <a:buClr>
                <a:schemeClr val="accent1"/>
              </a:buClr>
              <a:buSzPct val="100000"/>
              <a:buFont typeface="Lucida Grande"/>
              <a:buChar char="-"/>
            </a:pPr>
            <a:r>
              <a:rPr lang="fr-FR" sz="1600" b="1" dirty="0">
                <a:solidFill>
                  <a:srgbClr val="000090"/>
                </a:solidFill>
              </a:rPr>
              <a:t>By usage for a SW </a:t>
            </a:r>
            <a:r>
              <a:rPr lang="fr-FR" sz="1600" b="1" dirty="0" err="1">
                <a:solidFill>
                  <a:srgbClr val="000090"/>
                </a:solidFill>
              </a:rPr>
              <a:t>development</a:t>
            </a:r>
            <a:r>
              <a:rPr lang="fr-FR" sz="1600" b="1" dirty="0">
                <a:solidFill>
                  <a:srgbClr val="000090"/>
                </a:solidFill>
              </a:rPr>
              <a:t> </a:t>
            </a:r>
            <a:r>
              <a:rPr lang="fr-FR" sz="1600" b="1" dirty="0" err="1">
                <a:solidFill>
                  <a:srgbClr val="000090"/>
                </a:solidFill>
              </a:rPr>
              <a:t>environment</a:t>
            </a:r>
            <a:r>
              <a:rPr lang="fr-FR" sz="1600" b="1" dirty="0">
                <a:solidFill>
                  <a:srgbClr val="000090"/>
                </a:solidFill>
              </a:rPr>
              <a:t> (Platform as a Service or </a:t>
            </a:r>
            <a:r>
              <a:rPr lang="fr-FR" sz="1600" b="1" dirty="0" err="1">
                <a:solidFill>
                  <a:srgbClr val="000090"/>
                </a:solidFill>
              </a:rPr>
              <a:t>PaaS</a:t>
            </a:r>
            <a:r>
              <a:rPr lang="fr-FR" sz="1600" b="1" dirty="0">
                <a:solidFill>
                  <a:srgbClr val="000090"/>
                </a:solidFill>
              </a:rPr>
              <a:t>)</a:t>
            </a:r>
          </a:p>
          <a:p>
            <a:pPr marL="742950" lvl="1" indent="-285750" defTabSz="814388">
              <a:lnSpc>
                <a:spcPct val="95000"/>
              </a:lnSpc>
              <a:spcBef>
                <a:spcPct val="50000"/>
              </a:spcBef>
              <a:buClr>
                <a:schemeClr val="accent1"/>
              </a:buClr>
              <a:buSzPct val="100000"/>
              <a:buFont typeface="Arial"/>
              <a:buChar char="•"/>
            </a:pPr>
            <a:r>
              <a:rPr lang="fr-FR" sz="2000" b="1" dirty="0">
                <a:solidFill>
                  <a:srgbClr val="000090"/>
                </a:solidFill>
              </a:rPr>
              <a:t>SLA monitoring </a:t>
            </a:r>
            <a:r>
              <a:rPr lang="fr-FR" sz="2000" b="1" dirty="0" err="1">
                <a:solidFill>
                  <a:srgbClr val="000090"/>
                </a:solidFill>
              </a:rPr>
              <a:t>is</a:t>
            </a:r>
            <a:r>
              <a:rPr lang="fr-FR" sz="2000" b="1" dirty="0">
                <a:solidFill>
                  <a:srgbClr val="000090"/>
                </a:solidFill>
              </a:rPr>
              <a:t> essential</a:t>
            </a:r>
          </a:p>
          <a:p>
            <a:pPr marL="742950" lvl="1" indent="-285750" defTabSz="814388">
              <a:lnSpc>
                <a:spcPct val="95000"/>
              </a:lnSpc>
              <a:spcBef>
                <a:spcPct val="50000"/>
              </a:spcBef>
              <a:buClr>
                <a:schemeClr val="accent1"/>
              </a:buClr>
              <a:buSzPct val="100000"/>
              <a:buFont typeface="Arial"/>
              <a:buChar char="•"/>
            </a:pPr>
            <a:r>
              <a:rPr lang="fr-FR" sz="2000" b="1" dirty="0">
                <a:solidFill>
                  <a:srgbClr val="000090"/>
                </a:solidFill>
              </a:rPr>
              <a:t>No capital </a:t>
            </a:r>
            <a:r>
              <a:rPr lang="fr-FR" sz="2000" b="1" dirty="0" err="1">
                <a:solidFill>
                  <a:srgbClr val="000090"/>
                </a:solidFill>
              </a:rPr>
              <a:t>costs</a:t>
            </a:r>
            <a:r>
              <a:rPr lang="fr-FR" sz="2000" b="1" dirty="0">
                <a:solidFill>
                  <a:srgbClr val="000090"/>
                </a:solidFill>
              </a:rPr>
              <a:t> (no HW </a:t>
            </a:r>
            <a:r>
              <a:rPr lang="fr-FR" sz="2000" b="1" dirty="0" err="1">
                <a:solidFill>
                  <a:srgbClr val="000090"/>
                </a:solidFill>
              </a:rPr>
              <a:t>purchased</a:t>
            </a:r>
            <a:r>
              <a:rPr lang="fr-FR" sz="2000" b="1" dirty="0">
                <a:solidFill>
                  <a:srgbClr val="000090"/>
                </a:solidFill>
              </a:rPr>
              <a:t>, no </a:t>
            </a:r>
            <a:r>
              <a:rPr lang="fr-FR" sz="2000" b="1" dirty="0" err="1">
                <a:solidFill>
                  <a:srgbClr val="000090"/>
                </a:solidFill>
              </a:rPr>
              <a:t>assset</a:t>
            </a:r>
            <a:r>
              <a:rPr lang="fr-FR" sz="2000" b="1" dirty="0">
                <a:solidFill>
                  <a:srgbClr val="000090"/>
                </a:solidFill>
              </a:rPr>
              <a:t> </a:t>
            </a:r>
            <a:r>
              <a:rPr lang="fr-FR" sz="2000" b="1" dirty="0" err="1">
                <a:solidFill>
                  <a:srgbClr val="000090"/>
                </a:solidFill>
              </a:rPr>
              <a:t>created</a:t>
            </a:r>
            <a:r>
              <a:rPr lang="fr-FR" sz="2000" b="1" dirty="0">
                <a:solidFill>
                  <a:srgbClr val="000090"/>
                </a:solidFill>
              </a:rPr>
              <a:t>…), </a:t>
            </a:r>
            <a:r>
              <a:rPr lang="fr-FR" sz="2000" b="1" dirty="0" err="1">
                <a:solidFill>
                  <a:srgbClr val="000090"/>
                </a:solidFill>
              </a:rPr>
              <a:t>only</a:t>
            </a:r>
            <a:r>
              <a:rPr lang="fr-FR" sz="2000" b="1" dirty="0">
                <a:solidFill>
                  <a:srgbClr val="000090"/>
                </a:solidFill>
              </a:rPr>
              <a:t> </a:t>
            </a:r>
            <a:r>
              <a:rPr lang="fr-FR" sz="2000" b="1" dirty="0" err="1">
                <a:solidFill>
                  <a:srgbClr val="000090"/>
                </a:solidFill>
              </a:rPr>
              <a:t>Opex</a:t>
            </a:r>
            <a:endParaRPr lang="fr-FR" sz="2000" b="1" dirty="0">
              <a:solidFill>
                <a:srgbClr val="000090"/>
              </a:solidFill>
            </a:endParaRPr>
          </a:p>
          <a:p>
            <a:pPr marL="742950" lvl="1" indent="-285750" defTabSz="814388">
              <a:lnSpc>
                <a:spcPct val="95000"/>
              </a:lnSpc>
              <a:spcBef>
                <a:spcPct val="50000"/>
              </a:spcBef>
              <a:buClr>
                <a:schemeClr val="accent1"/>
              </a:buClr>
              <a:buSzPct val="100000"/>
              <a:buFont typeface="Arial"/>
              <a:buChar char="•"/>
            </a:pPr>
            <a:r>
              <a:rPr lang="fr-FR" sz="2000" b="1" dirty="0">
                <a:solidFill>
                  <a:srgbClr val="000090"/>
                </a:solidFill>
              </a:rPr>
              <a:t>Impact on </a:t>
            </a:r>
            <a:r>
              <a:rPr lang="fr-FR" sz="2000" b="1" dirty="0" err="1">
                <a:solidFill>
                  <a:srgbClr val="000090"/>
                </a:solidFill>
              </a:rPr>
              <a:t>budgeting</a:t>
            </a:r>
            <a:r>
              <a:rPr lang="fr-FR" sz="2000" b="1" dirty="0">
                <a:solidFill>
                  <a:srgbClr val="000090"/>
                </a:solidFill>
              </a:rPr>
              <a:t>…</a:t>
            </a:r>
          </a:p>
          <a:p>
            <a:pPr marL="1200150" lvl="2" indent="-285750" defTabSz="814388">
              <a:lnSpc>
                <a:spcPct val="95000"/>
              </a:lnSpc>
              <a:spcBef>
                <a:spcPts val="800"/>
              </a:spcBef>
              <a:buClr>
                <a:schemeClr val="accent1"/>
              </a:buClr>
              <a:buSzPct val="100000"/>
              <a:buFont typeface="Lucida Grande"/>
              <a:buChar char="-"/>
            </a:pPr>
            <a:r>
              <a:rPr lang="fr-FR" sz="1600" b="1" dirty="0" err="1">
                <a:solidFill>
                  <a:srgbClr val="000090"/>
                </a:solidFill>
              </a:rPr>
              <a:t>Usually</a:t>
            </a:r>
            <a:r>
              <a:rPr lang="fr-FR" sz="1600" b="1" dirty="0">
                <a:solidFill>
                  <a:srgbClr val="000090"/>
                </a:solidFill>
              </a:rPr>
              <a:t>, CIO </a:t>
            </a:r>
            <a:r>
              <a:rPr lang="fr-FR" sz="1600" b="1" dirty="0" err="1">
                <a:solidFill>
                  <a:srgbClr val="000090"/>
                </a:solidFill>
              </a:rPr>
              <a:t>prefer</a:t>
            </a:r>
            <a:r>
              <a:rPr lang="fr-FR" sz="1600" b="1" dirty="0">
                <a:solidFill>
                  <a:srgbClr val="000090"/>
                </a:solidFill>
              </a:rPr>
              <a:t> </a:t>
            </a:r>
            <a:r>
              <a:rPr lang="fr-FR" sz="1600" b="1" dirty="0" err="1">
                <a:solidFill>
                  <a:srgbClr val="000090"/>
                </a:solidFill>
              </a:rPr>
              <a:t>Capex</a:t>
            </a:r>
            <a:r>
              <a:rPr lang="fr-FR" sz="1600" b="1" dirty="0">
                <a:solidFill>
                  <a:srgbClr val="000090"/>
                </a:solidFill>
              </a:rPr>
              <a:t> as </a:t>
            </a:r>
            <a:r>
              <a:rPr lang="fr-FR" sz="1600" b="1" dirty="0" err="1">
                <a:solidFill>
                  <a:srgbClr val="000090"/>
                </a:solidFill>
              </a:rPr>
              <a:t>it</a:t>
            </a:r>
            <a:r>
              <a:rPr lang="fr-FR" sz="1600" b="1" dirty="0">
                <a:solidFill>
                  <a:srgbClr val="000090"/>
                </a:solidFill>
              </a:rPr>
              <a:t> has a </a:t>
            </a:r>
            <a:r>
              <a:rPr lang="fr-FR" sz="1600" b="1" dirty="0" err="1">
                <a:solidFill>
                  <a:srgbClr val="000090"/>
                </a:solidFill>
              </a:rPr>
              <a:t>lower</a:t>
            </a:r>
            <a:r>
              <a:rPr lang="fr-FR" sz="1600" b="1" dirty="0">
                <a:solidFill>
                  <a:srgbClr val="000090"/>
                </a:solidFill>
              </a:rPr>
              <a:t> impact on </a:t>
            </a:r>
            <a:r>
              <a:rPr lang="fr-FR" sz="1600" b="1" dirty="0" err="1">
                <a:solidFill>
                  <a:srgbClr val="000090"/>
                </a:solidFill>
              </a:rPr>
              <a:t>Opex</a:t>
            </a:r>
            <a:r>
              <a:rPr lang="fr-FR" sz="1600" b="1" dirty="0">
                <a:solidFill>
                  <a:srgbClr val="000090"/>
                </a:solidFill>
              </a:rPr>
              <a:t>..</a:t>
            </a:r>
            <a:r>
              <a:rPr lang="fr-FR" sz="1600" b="1" dirty="0" err="1">
                <a:solidFill>
                  <a:srgbClr val="000090"/>
                </a:solidFill>
              </a:rPr>
              <a:t>Pushes</a:t>
            </a:r>
            <a:r>
              <a:rPr lang="fr-FR" sz="1600" b="1" dirty="0">
                <a:solidFill>
                  <a:srgbClr val="000090"/>
                </a:solidFill>
              </a:rPr>
              <a:t> </a:t>
            </a:r>
            <a:r>
              <a:rPr lang="fr-FR" sz="1600" b="1" dirty="0" err="1">
                <a:solidFill>
                  <a:srgbClr val="000090"/>
                </a:solidFill>
              </a:rPr>
              <a:t>today’s</a:t>
            </a:r>
            <a:r>
              <a:rPr lang="fr-FR" sz="1600" b="1" dirty="0">
                <a:solidFill>
                  <a:srgbClr val="000090"/>
                </a:solidFill>
              </a:rPr>
              <a:t> </a:t>
            </a:r>
            <a:r>
              <a:rPr lang="fr-FR" sz="1600" b="1" dirty="0" err="1">
                <a:solidFill>
                  <a:srgbClr val="000090"/>
                </a:solidFill>
              </a:rPr>
              <a:t>costs</a:t>
            </a:r>
            <a:r>
              <a:rPr lang="fr-FR" sz="1600" b="1" dirty="0">
                <a:solidFill>
                  <a:srgbClr val="000090"/>
                </a:solidFill>
              </a:rPr>
              <a:t> to future </a:t>
            </a:r>
            <a:r>
              <a:rPr lang="fr-FR" sz="1600" b="1" dirty="0" err="1">
                <a:solidFill>
                  <a:srgbClr val="000090"/>
                </a:solidFill>
              </a:rPr>
              <a:t>costs</a:t>
            </a:r>
            <a:endParaRPr lang="fr-FR" sz="1600" b="1" dirty="0">
              <a:solidFill>
                <a:srgbClr val="000090"/>
              </a:solidFill>
            </a:endParaRPr>
          </a:p>
          <a:p>
            <a:pPr marL="1200150" lvl="2" indent="-285750" defTabSz="814388">
              <a:lnSpc>
                <a:spcPct val="95000"/>
              </a:lnSpc>
              <a:spcBef>
                <a:spcPts val="800"/>
              </a:spcBef>
              <a:buClr>
                <a:schemeClr val="accent1"/>
              </a:buClr>
              <a:buSzPct val="100000"/>
              <a:buFont typeface="Lucida Grande"/>
              <a:buChar char="-"/>
            </a:pPr>
            <a:r>
              <a:rPr lang="fr-FR" sz="1600" b="1" dirty="0" err="1">
                <a:solidFill>
                  <a:srgbClr val="000090"/>
                </a:solidFill>
              </a:rPr>
              <a:t>Could</a:t>
            </a:r>
            <a:r>
              <a:rPr lang="fr-FR" sz="1600" b="1" dirty="0">
                <a:solidFill>
                  <a:srgbClr val="000090"/>
                </a:solidFill>
              </a:rPr>
              <a:t> argue </a:t>
            </a:r>
            <a:r>
              <a:rPr lang="fr-FR" sz="1600" b="1" dirty="0" err="1">
                <a:solidFill>
                  <a:srgbClr val="000090"/>
                </a:solidFill>
              </a:rPr>
              <a:t>that</a:t>
            </a:r>
            <a:r>
              <a:rPr lang="fr-FR" sz="1600" b="1" dirty="0">
                <a:solidFill>
                  <a:srgbClr val="000090"/>
                </a:solidFill>
              </a:rPr>
              <a:t> the longer </a:t>
            </a:r>
            <a:r>
              <a:rPr lang="fr-FR" sz="1600" b="1" dirty="0" err="1">
                <a:solidFill>
                  <a:srgbClr val="000090"/>
                </a:solidFill>
              </a:rPr>
              <a:t>you</a:t>
            </a:r>
            <a:r>
              <a:rPr lang="fr-FR" sz="1600" b="1" dirty="0">
                <a:solidFill>
                  <a:srgbClr val="000090"/>
                </a:solidFill>
              </a:rPr>
              <a:t> </a:t>
            </a:r>
            <a:r>
              <a:rPr lang="fr-FR" sz="1600" b="1" dirty="0" err="1">
                <a:solidFill>
                  <a:srgbClr val="000090"/>
                </a:solidFill>
              </a:rPr>
              <a:t>keep</a:t>
            </a:r>
            <a:r>
              <a:rPr lang="fr-FR" sz="1600" b="1" dirty="0">
                <a:solidFill>
                  <a:srgbClr val="000090"/>
                </a:solidFill>
              </a:rPr>
              <a:t> a system, the more </a:t>
            </a:r>
            <a:r>
              <a:rPr lang="fr-FR" sz="1600" b="1" dirty="0" err="1">
                <a:solidFill>
                  <a:srgbClr val="000090"/>
                </a:solidFill>
              </a:rPr>
              <a:t>expensive</a:t>
            </a:r>
            <a:r>
              <a:rPr lang="fr-FR" sz="1600" b="1" dirty="0">
                <a:solidFill>
                  <a:srgbClr val="000090"/>
                </a:solidFill>
              </a:rPr>
              <a:t> </a:t>
            </a:r>
            <a:r>
              <a:rPr lang="fr-FR" sz="1600" b="1" dirty="0" err="1">
                <a:solidFill>
                  <a:srgbClr val="000090"/>
                </a:solidFill>
              </a:rPr>
              <a:t>rental</a:t>
            </a:r>
            <a:r>
              <a:rPr lang="fr-FR" sz="1600" b="1" dirty="0">
                <a:solidFill>
                  <a:srgbClr val="000090"/>
                </a:solidFill>
              </a:rPr>
              <a:t> </a:t>
            </a:r>
            <a:r>
              <a:rPr lang="fr-FR" sz="1600" b="1" dirty="0" err="1">
                <a:solidFill>
                  <a:srgbClr val="000090"/>
                </a:solidFill>
              </a:rPr>
              <a:t>becomes</a:t>
            </a:r>
            <a:r>
              <a:rPr lang="fr-FR" sz="1600" b="1" dirty="0">
                <a:solidFill>
                  <a:srgbClr val="000090"/>
                </a:solidFill>
              </a:rPr>
              <a:t> (</a:t>
            </a:r>
            <a:r>
              <a:rPr lang="fr-FR" sz="1600" b="1" dirty="0" err="1">
                <a:solidFill>
                  <a:srgbClr val="000090"/>
                </a:solidFill>
              </a:rPr>
              <a:t>depreciation</a:t>
            </a:r>
            <a:r>
              <a:rPr lang="fr-FR" sz="1600" b="1" dirty="0">
                <a:solidFill>
                  <a:srgbClr val="000090"/>
                </a:solidFill>
              </a:rPr>
              <a:t> has an end)</a:t>
            </a:r>
          </a:p>
        </p:txBody>
      </p:sp>
    </p:spTree>
    <p:extLst>
      <p:ext uri="{BB962C8B-B14F-4D97-AF65-F5344CB8AC3E}">
        <p14:creationId xmlns:p14="http://schemas.microsoft.com/office/powerpoint/2010/main" val="3772631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Cloud computing or</a:t>
            </a:r>
            <a:br>
              <a:rPr lang="en-US" dirty="0"/>
            </a:br>
            <a:r>
              <a:rPr lang="en-US" dirty="0" err="1"/>
              <a:t>ITaaS</a:t>
            </a:r>
            <a:r>
              <a:rPr lang="en-US" dirty="0"/>
              <a:t> (IT as a Service)</a:t>
            </a:r>
          </a:p>
        </p:txBody>
      </p:sp>
      <p:sp>
        <p:nvSpPr>
          <p:cNvPr id="2" name="Rectangle 1"/>
          <p:cNvSpPr/>
          <p:nvPr/>
        </p:nvSpPr>
        <p:spPr>
          <a:xfrm>
            <a:off x="-220401" y="2297234"/>
            <a:ext cx="9156700" cy="384721"/>
          </a:xfrm>
          <a:prstGeom prst="rect">
            <a:avLst/>
          </a:prstGeom>
        </p:spPr>
        <p:txBody>
          <a:bodyPr wrap="square">
            <a:spAutoFit/>
          </a:bodyPr>
          <a:lstStyle/>
          <a:p>
            <a:pPr marL="742950" lvl="1" indent="-285750" defTabSz="814388">
              <a:lnSpc>
                <a:spcPct val="95000"/>
              </a:lnSpc>
              <a:spcBef>
                <a:spcPct val="50000"/>
              </a:spcBef>
              <a:buClr>
                <a:schemeClr val="accent1"/>
              </a:buClr>
              <a:buSzPct val="100000"/>
              <a:buFont typeface="Arial"/>
              <a:buChar char="•"/>
            </a:pPr>
            <a:r>
              <a:rPr lang="fr-FR" sz="2000" b="1" dirty="0">
                <a:solidFill>
                  <a:srgbClr val="000090"/>
                </a:solidFill>
              </a:rPr>
              <a:t>SLA </a:t>
            </a:r>
            <a:r>
              <a:rPr lang="fr-FR" sz="2000" b="1" dirty="0" err="1">
                <a:solidFill>
                  <a:srgbClr val="000090"/>
                </a:solidFill>
              </a:rPr>
              <a:t>example</a:t>
            </a:r>
            <a:endParaRPr lang="fr-FR" sz="2000" b="1" dirty="0">
              <a:solidFill>
                <a:srgbClr val="000090"/>
              </a:solidFill>
            </a:endParaRPr>
          </a:p>
        </p:txBody>
      </p:sp>
      <p:pic>
        <p:nvPicPr>
          <p:cNvPr id="4" name="Picture 3">
            <a:extLst>
              <a:ext uri="{FF2B5EF4-FFF2-40B4-BE49-F238E27FC236}">
                <a16:creationId xmlns:a16="http://schemas.microsoft.com/office/drawing/2014/main" id="{DC5B490E-69FC-C54E-8895-210A6072F41A}"/>
              </a:ext>
            </a:extLst>
          </p:cNvPr>
          <p:cNvPicPr>
            <a:picLocks noChangeAspect="1"/>
          </p:cNvPicPr>
          <p:nvPr/>
        </p:nvPicPr>
        <p:blipFill rotWithShape="1">
          <a:blip r:embed="rId2"/>
          <a:srcRect l="20506" t="27468" r="21266" b="17443"/>
          <a:stretch/>
        </p:blipFill>
        <p:spPr>
          <a:xfrm>
            <a:off x="931762" y="2777922"/>
            <a:ext cx="6684380" cy="3952503"/>
          </a:xfrm>
          <a:prstGeom prst="rect">
            <a:avLst/>
          </a:prstGeom>
        </p:spPr>
      </p:pic>
    </p:spTree>
    <p:extLst>
      <p:ext uri="{BB962C8B-B14F-4D97-AF65-F5344CB8AC3E}">
        <p14:creationId xmlns:p14="http://schemas.microsoft.com/office/powerpoint/2010/main" val="1456764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Cloud computing or</a:t>
            </a:r>
            <a:br>
              <a:rPr lang="en-US" dirty="0"/>
            </a:br>
            <a:r>
              <a:rPr lang="en-US" dirty="0" err="1"/>
              <a:t>ITaaS</a:t>
            </a:r>
            <a:r>
              <a:rPr lang="en-US" dirty="0"/>
              <a:t> (IT as a Service)</a:t>
            </a:r>
          </a:p>
        </p:txBody>
      </p:sp>
      <p:pic>
        <p:nvPicPr>
          <p:cNvPr id="2" name="Picture 1">
            <a:extLst>
              <a:ext uri="{FF2B5EF4-FFF2-40B4-BE49-F238E27FC236}">
                <a16:creationId xmlns:a16="http://schemas.microsoft.com/office/drawing/2014/main" id="{A0F08875-8CF1-DB4F-BFEE-F87089FDC938}"/>
              </a:ext>
            </a:extLst>
          </p:cNvPr>
          <p:cNvPicPr>
            <a:picLocks noChangeAspect="1"/>
          </p:cNvPicPr>
          <p:nvPr/>
        </p:nvPicPr>
        <p:blipFill rotWithShape="1">
          <a:blip r:embed="rId2"/>
          <a:srcRect l="29368" t="24836" r="8227" b="14608"/>
          <a:stretch/>
        </p:blipFill>
        <p:spPr>
          <a:xfrm>
            <a:off x="1365813" y="2650603"/>
            <a:ext cx="5706320" cy="3460830"/>
          </a:xfrm>
          <a:prstGeom prst="rect">
            <a:avLst/>
          </a:prstGeom>
        </p:spPr>
      </p:pic>
    </p:spTree>
    <p:extLst>
      <p:ext uri="{BB962C8B-B14F-4D97-AF65-F5344CB8AC3E}">
        <p14:creationId xmlns:p14="http://schemas.microsoft.com/office/powerpoint/2010/main" val="1325262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Cloud computing or</a:t>
            </a:r>
            <a:br>
              <a:rPr lang="en-US" dirty="0"/>
            </a:br>
            <a:r>
              <a:rPr lang="en-US" dirty="0" err="1"/>
              <a:t>ITaaS</a:t>
            </a:r>
            <a:r>
              <a:rPr lang="en-US" dirty="0"/>
              <a:t> (IT as a Service)</a:t>
            </a:r>
          </a:p>
        </p:txBody>
      </p:sp>
      <p:sp>
        <p:nvSpPr>
          <p:cNvPr id="2" name="Rectangle 1"/>
          <p:cNvSpPr/>
          <p:nvPr/>
        </p:nvSpPr>
        <p:spPr>
          <a:xfrm>
            <a:off x="-197252" y="2592148"/>
            <a:ext cx="9156700" cy="3632276"/>
          </a:xfrm>
          <a:prstGeom prst="rect">
            <a:avLst/>
          </a:prstGeom>
        </p:spPr>
        <p:txBody>
          <a:bodyPr wrap="square">
            <a:spAutoFit/>
          </a:bodyPr>
          <a:lstStyle/>
          <a:p>
            <a:pPr marL="800100" lvl="1" indent="-342900" defTabSz="814388">
              <a:lnSpc>
                <a:spcPct val="95000"/>
              </a:lnSpc>
              <a:spcBef>
                <a:spcPct val="50000"/>
              </a:spcBef>
              <a:buClr>
                <a:schemeClr val="accent1"/>
              </a:buClr>
              <a:buSzPct val="100000"/>
              <a:buFont typeface="Arial"/>
              <a:buChar char="•"/>
            </a:pPr>
            <a:r>
              <a:rPr lang="fr-FR" sz="2400" b="1" dirty="0" err="1">
                <a:solidFill>
                  <a:srgbClr val="000090"/>
                </a:solidFill>
              </a:rPr>
              <a:t>Why</a:t>
            </a:r>
            <a:r>
              <a:rPr lang="fr-FR" sz="2400" b="1" dirty="0">
                <a:solidFill>
                  <a:srgbClr val="000090"/>
                </a:solidFill>
              </a:rPr>
              <a:t> </a:t>
            </a:r>
            <a:r>
              <a:rPr lang="fr-FR" sz="2400" b="1" dirty="0" err="1">
                <a:solidFill>
                  <a:srgbClr val="000090"/>
                </a:solidFill>
              </a:rPr>
              <a:t>is</a:t>
            </a:r>
            <a:r>
              <a:rPr lang="fr-FR" sz="2400" b="1" dirty="0">
                <a:solidFill>
                  <a:srgbClr val="000090"/>
                </a:solidFill>
              </a:rPr>
              <a:t> Cloud </a:t>
            </a:r>
            <a:r>
              <a:rPr lang="fr-FR" sz="2400" b="1" dirty="0" err="1">
                <a:solidFill>
                  <a:srgbClr val="000090"/>
                </a:solidFill>
              </a:rPr>
              <a:t>computing</a:t>
            </a:r>
            <a:r>
              <a:rPr lang="fr-FR" sz="2400" b="1" dirty="0">
                <a:solidFill>
                  <a:srgbClr val="000090"/>
                </a:solidFill>
              </a:rPr>
              <a:t> </a:t>
            </a:r>
            <a:r>
              <a:rPr lang="fr-FR" sz="2400" b="1" dirty="0" err="1">
                <a:solidFill>
                  <a:srgbClr val="000090"/>
                </a:solidFill>
              </a:rPr>
              <a:t>so</a:t>
            </a:r>
            <a:r>
              <a:rPr lang="fr-FR" sz="2400" b="1" dirty="0">
                <a:solidFill>
                  <a:srgbClr val="000090"/>
                </a:solidFill>
              </a:rPr>
              <a:t> </a:t>
            </a:r>
            <a:r>
              <a:rPr lang="fr-FR" sz="2400" b="1" dirty="0" err="1">
                <a:solidFill>
                  <a:srgbClr val="000090"/>
                </a:solidFill>
              </a:rPr>
              <a:t>successful</a:t>
            </a:r>
            <a:r>
              <a:rPr lang="fr-FR" sz="2400" b="1" dirty="0">
                <a:solidFill>
                  <a:srgbClr val="000090"/>
                </a:solidFill>
              </a:rPr>
              <a:t> </a:t>
            </a:r>
            <a:r>
              <a:rPr lang="fr-FR" sz="2400" b="1" dirty="0" err="1">
                <a:solidFill>
                  <a:srgbClr val="000090"/>
                </a:solidFill>
              </a:rPr>
              <a:t>then</a:t>
            </a:r>
            <a:r>
              <a:rPr lang="fr-FR" sz="2400" b="1" dirty="0">
                <a:solidFill>
                  <a:srgbClr val="000090"/>
                </a:solidFill>
              </a:rPr>
              <a:t> ?</a:t>
            </a:r>
          </a:p>
          <a:p>
            <a:pPr marL="1150938" lvl="2" indent="-236538" defTabSz="814388">
              <a:lnSpc>
                <a:spcPct val="95000"/>
              </a:lnSpc>
              <a:spcBef>
                <a:spcPts val="800"/>
              </a:spcBef>
              <a:buClr>
                <a:schemeClr val="accent1"/>
              </a:buClr>
              <a:buSzPct val="100000"/>
              <a:buFont typeface="Lucida Grande" charset="0"/>
              <a:buChar char="-"/>
            </a:pPr>
            <a:r>
              <a:rPr lang="fr-FR" b="1" dirty="0" err="1">
                <a:solidFill>
                  <a:srgbClr val="000090"/>
                </a:solidFill>
              </a:rPr>
              <a:t>Less</a:t>
            </a:r>
            <a:r>
              <a:rPr lang="fr-FR" b="1" dirty="0">
                <a:solidFill>
                  <a:srgbClr val="000090"/>
                </a:solidFill>
              </a:rPr>
              <a:t> impact on Cash</a:t>
            </a:r>
          </a:p>
          <a:p>
            <a:pPr marL="1150938" lvl="2" indent="-236538" defTabSz="814388">
              <a:lnSpc>
                <a:spcPct val="95000"/>
              </a:lnSpc>
              <a:spcBef>
                <a:spcPts val="800"/>
              </a:spcBef>
              <a:buClr>
                <a:schemeClr val="accent1"/>
              </a:buClr>
              <a:buSzPct val="100000"/>
              <a:buFont typeface="Lucida Grande" charset="0"/>
              <a:buChar char="-"/>
            </a:pPr>
            <a:r>
              <a:rPr lang="fr-FR" b="1" dirty="0">
                <a:solidFill>
                  <a:srgbClr val="000090"/>
                </a:solidFill>
              </a:rPr>
              <a:t>No </a:t>
            </a:r>
            <a:r>
              <a:rPr lang="fr-FR" b="1" dirty="0" err="1">
                <a:solidFill>
                  <a:srgbClr val="000090"/>
                </a:solidFill>
              </a:rPr>
              <a:t>need</a:t>
            </a:r>
            <a:r>
              <a:rPr lang="fr-FR" b="1" dirty="0">
                <a:solidFill>
                  <a:srgbClr val="000090"/>
                </a:solidFill>
              </a:rPr>
              <a:t> to </a:t>
            </a:r>
            <a:r>
              <a:rPr lang="fr-FR" b="1" dirty="0" err="1">
                <a:solidFill>
                  <a:srgbClr val="000090"/>
                </a:solidFill>
              </a:rPr>
              <a:t>forecast</a:t>
            </a:r>
            <a:r>
              <a:rPr lang="fr-FR" b="1" dirty="0">
                <a:solidFill>
                  <a:srgbClr val="000090"/>
                </a:solidFill>
              </a:rPr>
              <a:t> future </a:t>
            </a:r>
            <a:r>
              <a:rPr lang="fr-FR" b="1" dirty="0" err="1">
                <a:solidFill>
                  <a:srgbClr val="000090"/>
                </a:solidFill>
              </a:rPr>
              <a:t>capacity</a:t>
            </a:r>
            <a:endParaRPr lang="fr-FR" b="1" dirty="0">
              <a:solidFill>
                <a:srgbClr val="000090"/>
              </a:solidFill>
            </a:endParaRPr>
          </a:p>
          <a:p>
            <a:pPr marL="1150938" lvl="2" indent="-236538" defTabSz="814388">
              <a:lnSpc>
                <a:spcPct val="95000"/>
              </a:lnSpc>
              <a:spcBef>
                <a:spcPts val="800"/>
              </a:spcBef>
              <a:buClr>
                <a:schemeClr val="accent1"/>
              </a:buClr>
              <a:buSzPct val="100000"/>
              <a:buFont typeface="Lucida Grande" charset="0"/>
              <a:buChar char="-"/>
            </a:pPr>
            <a:r>
              <a:rPr lang="fr-FR" b="1" dirty="0">
                <a:solidFill>
                  <a:srgbClr val="000090"/>
                </a:solidFill>
              </a:rPr>
              <a:t>No « </a:t>
            </a:r>
            <a:r>
              <a:rPr lang="fr-FR" b="1" dirty="0" err="1">
                <a:solidFill>
                  <a:srgbClr val="000090"/>
                </a:solidFill>
              </a:rPr>
              <a:t>locked</a:t>
            </a:r>
            <a:r>
              <a:rPr lang="fr-FR" b="1" dirty="0">
                <a:solidFill>
                  <a:srgbClr val="000090"/>
                </a:solidFill>
              </a:rPr>
              <a:t> in » as </a:t>
            </a:r>
            <a:r>
              <a:rPr lang="fr-FR" b="1" dirty="0" err="1">
                <a:solidFill>
                  <a:srgbClr val="000090"/>
                </a:solidFill>
              </a:rPr>
              <a:t>with</a:t>
            </a:r>
            <a:r>
              <a:rPr lang="fr-FR" b="1" dirty="0">
                <a:solidFill>
                  <a:srgbClr val="000090"/>
                </a:solidFill>
              </a:rPr>
              <a:t> on </a:t>
            </a:r>
            <a:r>
              <a:rPr lang="fr-FR" b="1" dirty="0" err="1">
                <a:solidFill>
                  <a:srgbClr val="000090"/>
                </a:solidFill>
              </a:rPr>
              <a:t>premises</a:t>
            </a:r>
            <a:r>
              <a:rPr lang="fr-FR" b="1" dirty="0">
                <a:solidFill>
                  <a:srgbClr val="000090"/>
                </a:solidFill>
              </a:rPr>
              <a:t> data center</a:t>
            </a:r>
          </a:p>
          <a:p>
            <a:pPr marL="1150938" lvl="2" indent="-236538" defTabSz="814388">
              <a:lnSpc>
                <a:spcPct val="95000"/>
              </a:lnSpc>
              <a:spcBef>
                <a:spcPts val="800"/>
              </a:spcBef>
              <a:buClr>
                <a:schemeClr val="accent1"/>
              </a:buClr>
              <a:buSzPct val="100000"/>
              <a:buFont typeface="Lucida Grande" charset="0"/>
              <a:buChar char="-"/>
            </a:pPr>
            <a:r>
              <a:rPr lang="fr-FR" b="1" dirty="0" err="1">
                <a:solidFill>
                  <a:srgbClr val="000090"/>
                </a:solidFill>
              </a:rPr>
              <a:t>Pay</a:t>
            </a:r>
            <a:r>
              <a:rPr lang="fr-FR" b="1" dirty="0">
                <a:solidFill>
                  <a:srgbClr val="000090"/>
                </a:solidFill>
              </a:rPr>
              <a:t> </a:t>
            </a:r>
            <a:r>
              <a:rPr lang="fr-FR" b="1" dirty="0" err="1">
                <a:solidFill>
                  <a:srgbClr val="000090"/>
                </a:solidFill>
              </a:rPr>
              <a:t>only</a:t>
            </a:r>
            <a:r>
              <a:rPr lang="fr-FR" b="1" dirty="0">
                <a:solidFill>
                  <a:srgbClr val="000090"/>
                </a:solidFill>
              </a:rPr>
              <a:t> for the </a:t>
            </a:r>
            <a:r>
              <a:rPr lang="fr-FR" b="1" dirty="0" err="1">
                <a:solidFill>
                  <a:srgbClr val="000090"/>
                </a:solidFill>
              </a:rPr>
              <a:t>capacity</a:t>
            </a:r>
            <a:r>
              <a:rPr lang="fr-FR" b="1" dirty="0">
                <a:solidFill>
                  <a:srgbClr val="000090"/>
                </a:solidFill>
              </a:rPr>
              <a:t> </a:t>
            </a:r>
            <a:r>
              <a:rPr lang="fr-FR" b="1" dirty="0" err="1">
                <a:solidFill>
                  <a:srgbClr val="000090"/>
                </a:solidFill>
              </a:rPr>
              <a:t>you</a:t>
            </a:r>
            <a:r>
              <a:rPr lang="fr-FR" b="1" dirty="0">
                <a:solidFill>
                  <a:srgbClr val="000090"/>
                </a:solidFill>
              </a:rPr>
              <a:t> </a:t>
            </a:r>
            <a:r>
              <a:rPr lang="fr-FR" b="1" dirty="0" err="1">
                <a:solidFill>
                  <a:srgbClr val="000090"/>
                </a:solidFill>
              </a:rPr>
              <a:t>need</a:t>
            </a:r>
            <a:r>
              <a:rPr lang="fr-FR" b="1" dirty="0">
                <a:solidFill>
                  <a:srgbClr val="000090"/>
                </a:solidFill>
              </a:rPr>
              <a:t> at </a:t>
            </a:r>
            <a:r>
              <a:rPr lang="fr-FR" b="1" dirty="0" err="1">
                <a:solidFill>
                  <a:srgbClr val="000090"/>
                </a:solidFill>
              </a:rPr>
              <a:t>any</a:t>
            </a:r>
            <a:r>
              <a:rPr lang="fr-FR" b="1" dirty="0">
                <a:solidFill>
                  <a:srgbClr val="000090"/>
                </a:solidFill>
              </a:rPr>
              <a:t> point in time</a:t>
            </a:r>
          </a:p>
          <a:p>
            <a:pPr marL="1150938" lvl="2" indent="-236538" defTabSz="814388">
              <a:lnSpc>
                <a:spcPct val="95000"/>
              </a:lnSpc>
              <a:spcBef>
                <a:spcPts val="800"/>
              </a:spcBef>
              <a:buClr>
                <a:schemeClr val="accent1"/>
              </a:buClr>
              <a:buSzPct val="100000"/>
              <a:buFont typeface="Lucida Grande" charset="0"/>
              <a:buChar char="-"/>
            </a:pPr>
            <a:r>
              <a:rPr lang="fr-FR" b="1" dirty="0" err="1">
                <a:solidFill>
                  <a:srgbClr val="000090"/>
                </a:solidFill>
              </a:rPr>
              <a:t>Predictable</a:t>
            </a:r>
            <a:endParaRPr lang="fr-FR" b="1" dirty="0">
              <a:solidFill>
                <a:srgbClr val="000090"/>
              </a:solidFill>
            </a:endParaRPr>
          </a:p>
          <a:p>
            <a:pPr marL="1150938" lvl="2" indent="-236538" defTabSz="814388">
              <a:lnSpc>
                <a:spcPct val="95000"/>
              </a:lnSpc>
              <a:spcBef>
                <a:spcPts val="800"/>
              </a:spcBef>
              <a:buClr>
                <a:schemeClr val="accent1"/>
              </a:buClr>
              <a:buSzPct val="100000"/>
              <a:buFont typeface="Lucida Grande" charset="0"/>
              <a:buChar char="-"/>
            </a:pPr>
            <a:r>
              <a:rPr lang="fr-FR" b="1" dirty="0">
                <a:solidFill>
                  <a:srgbClr val="000090"/>
                </a:solidFill>
              </a:rPr>
              <a:t>Can </a:t>
            </a:r>
            <a:r>
              <a:rPr lang="fr-FR" b="1" dirty="0" err="1">
                <a:solidFill>
                  <a:srgbClr val="000090"/>
                </a:solidFill>
              </a:rPr>
              <a:t>be</a:t>
            </a:r>
            <a:r>
              <a:rPr lang="fr-FR" b="1" dirty="0">
                <a:solidFill>
                  <a:srgbClr val="000090"/>
                </a:solidFill>
              </a:rPr>
              <a:t> </a:t>
            </a:r>
            <a:r>
              <a:rPr lang="fr-FR" b="1" dirty="0" err="1">
                <a:solidFill>
                  <a:srgbClr val="000090"/>
                </a:solidFill>
              </a:rPr>
              <a:t>scaled</a:t>
            </a:r>
            <a:r>
              <a:rPr lang="fr-FR" b="1" dirty="0">
                <a:solidFill>
                  <a:srgbClr val="000090"/>
                </a:solidFill>
              </a:rPr>
              <a:t> up and down</a:t>
            </a:r>
          </a:p>
          <a:p>
            <a:pPr marL="1150938" lvl="2" indent="-236538" defTabSz="814388">
              <a:lnSpc>
                <a:spcPct val="95000"/>
              </a:lnSpc>
              <a:spcBef>
                <a:spcPts val="800"/>
              </a:spcBef>
              <a:buClr>
                <a:schemeClr val="accent1"/>
              </a:buClr>
              <a:buSzPct val="100000"/>
              <a:buFont typeface="Lucida Grande" charset="0"/>
              <a:buChar char="-"/>
            </a:pPr>
            <a:r>
              <a:rPr lang="fr-FR" b="1" dirty="0" err="1">
                <a:solidFill>
                  <a:srgbClr val="000090"/>
                </a:solidFill>
              </a:rPr>
              <a:t>Flexibility</a:t>
            </a:r>
            <a:r>
              <a:rPr lang="fr-FR" b="1" dirty="0">
                <a:solidFill>
                  <a:srgbClr val="000090"/>
                </a:solidFill>
              </a:rPr>
              <a:t> to pull out </a:t>
            </a:r>
            <a:r>
              <a:rPr lang="fr-FR" b="1" dirty="0" err="1">
                <a:solidFill>
                  <a:srgbClr val="000090"/>
                </a:solidFill>
              </a:rPr>
              <a:t>at</a:t>
            </a:r>
            <a:r>
              <a:rPr lang="fr-FR" b="1" dirty="0">
                <a:solidFill>
                  <a:srgbClr val="000090"/>
                </a:solidFill>
              </a:rPr>
              <a:t> no </a:t>
            </a:r>
            <a:r>
              <a:rPr lang="fr-FR" b="1" dirty="0" err="1">
                <a:solidFill>
                  <a:srgbClr val="000090"/>
                </a:solidFill>
              </a:rPr>
              <a:t>cost</a:t>
            </a:r>
            <a:endParaRPr lang="fr-FR" b="1" dirty="0">
              <a:solidFill>
                <a:srgbClr val="000090"/>
              </a:solidFill>
            </a:endParaRPr>
          </a:p>
          <a:p>
            <a:pPr marL="1150938" lvl="2" indent="-236538" defTabSz="814388">
              <a:lnSpc>
                <a:spcPct val="95000"/>
              </a:lnSpc>
              <a:spcBef>
                <a:spcPts val="800"/>
              </a:spcBef>
              <a:buClr>
                <a:schemeClr val="accent1"/>
              </a:buClr>
              <a:buSzPct val="100000"/>
              <a:buFont typeface="Lucida Grande" charset="0"/>
              <a:buChar char="-"/>
            </a:pPr>
            <a:r>
              <a:rPr lang="fr-FR" b="1" dirty="0" err="1">
                <a:solidFill>
                  <a:srgbClr val="000090"/>
                </a:solidFill>
              </a:rPr>
              <a:t>Should</a:t>
            </a:r>
            <a:r>
              <a:rPr lang="fr-FR" b="1" dirty="0">
                <a:solidFill>
                  <a:srgbClr val="000090"/>
                </a:solidFill>
              </a:rPr>
              <a:t> </a:t>
            </a:r>
            <a:r>
              <a:rPr lang="fr-FR" b="1" dirty="0" err="1">
                <a:solidFill>
                  <a:srgbClr val="000090"/>
                </a:solidFill>
              </a:rPr>
              <a:t>be</a:t>
            </a:r>
            <a:r>
              <a:rPr lang="fr-FR" b="1" dirty="0">
                <a:solidFill>
                  <a:srgbClr val="000090"/>
                </a:solidFill>
              </a:rPr>
              <a:t> more </a:t>
            </a:r>
            <a:r>
              <a:rPr lang="fr-FR" b="1" dirty="0" err="1">
                <a:solidFill>
                  <a:srgbClr val="000090"/>
                </a:solidFill>
              </a:rPr>
              <a:t>cost</a:t>
            </a:r>
            <a:r>
              <a:rPr lang="fr-FR" b="1" dirty="0">
                <a:solidFill>
                  <a:srgbClr val="000090"/>
                </a:solidFill>
              </a:rPr>
              <a:t> effective (</a:t>
            </a:r>
            <a:r>
              <a:rPr lang="fr-FR" b="1" dirty="0" err="1">
                <a:solidFill>
                  <a:srgbClr val="000090"/>
                </a:solidFill>
              </a:rPr>
              <a:t>vendors</a:t>
            </a:r>
            <a:r>
              <a:rPr lang="fr-FR" b="1" dirty="0">
                <a:solidFill>
                  <a:srgbClr val="000090"/>
                </a:solidFill>
              </a:rPr>
              <a:t> </a:t>
            </a:r>
            <a:r>
              <a:rPr lang="fr-FR" b="1" dirty="0" err="1">
                <a:solidFill>
                  <a:srgbClr val="000090"/>
                </a:solidFill>
              </a:rPr>
              <a:t>could</a:t>
            </a:r>
            <a:r>
              <a:rPr lang="fr-FR" b="1" dirty="0">
                <a:solidFill>
                  <a:srgbClr val="000090"/>
                </a:solidFill>
              </a:rPr>
              <a:t> </a:t>
            </a:r>
            <a:r>
              <a:rPr lang="fr-FR" b="1" dirty="0" err="1">
                <a:solidFill>
                  <a:srgbClr val="000090"/>
                </a:solidFill>
              </a:rPr>
              <a:t>realize</a:t>
            </a:r>
            <a:r>
              <a:rPr lang="fr-FR" b="1" dirty="0">
                <a:solidFill>
                  <a:srgbClr val="000090"/>
                </a:solidFill>
              </a:rPr>
              <a:t> </a:t>
            </a:r>
            <a:r>
              <a:rPr lang="fr-FR" b="1" dirty="0" err="1">
                <a:solidFill>
                  <a:srgbClr val="000090"/>
                </a:solidFill>
              </a:rPr>
              <a:t>better</a:t>
            </a:r>
            <a:r>
              <a:rPr lang="fr-FR" b="1" dirty="0">
                <a:solidFill>
                  <a:srgbClr val="000090"/>
                </a:solidFill>
              </a:rPr>
              <a:t> </a:t>
            </a:r>
            <a:r>
              <a:rPr lang="fr-FR" b="1" dirty="0" err="1">
                <a:solidFill>
                  <a:srgbClr val="000090"/>
                </a:solidFill>
              </a:rPr>
              <a:t>economies</a:t>
            </a:r>
            <a:r>
              <a:rPr lang="fr-FR" b="1" dirty="0">
                <a:solidFill>
                  <a:srgbClr val="000090"/>
                </a:solidFill>
              </a:rPr>
              <a:t> of </a:t>
            </a:r>
            <a:r>
              <a:rPr lang="fr-FR" b="1" dirty="0" err="1">
                <a:solidFill>
                  <a:srgbClr val="000090"/>
                </a:solidFill>
              </a:rPr>
              <a:t>scale</a:t>
            </a:r>
            <a:r>
              <a:rPr lang="fr-FR" b="1" dirty="0">
                <a:solidFill>
                  <a:srgbClr val="000090"/>
                </a:solidFill>
              </a:rPr>
              <a:t> </a:t>
            </a:r>
            <a:r>
              <a:rPr lang="fr-FR" b="1" dirty="0" err="1">
                <a:solidFill>
                  <a:srgbClr val="000090"/>
                </a:solidFill>
              </a:rPr>
              <a:t>than</a:t>
            </a:r>
            <a:r>
              <a:rPr lang="fr-FR" b="1" dirty="0">
                <a:solidFill>
                  <a:srgbClr val="000090"/>
                </a:solidFill>
              </a:rPr>
              <a:t> IT </a:t>
            </a:r>
            <a:r>
              <a:rPr lang="fr-FR" b="1" dirty="0" err="1">
                <a:solidFill>
                  <a:srgbClr val="000090"/>
                </a:solidFill>
              </a:rPr>
              <a:t>departments</a:t>
            </a:r>
            <a:r>
              <a:rPr lang="fr-FR" b="1" dirty="0">
                <a:solidFill>
                  <a:srgbClr val="000090"/>
                </a:solidFill>
              </a:rPr>
              <a:t>)</a:t>
            </a:r>
          </a:p>
        </p:txBody>
      </p:sp>
    </p:spTree>
    <p:extLst>
      <p:ext uri="{BB962C8B-B14F-4D97-AF65-F5344CB8AC3E}">
        <p14:creationId xmlns:p14="http://schemas.microsoft.com/office/powerpoint/2010/main" val="1288343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032" y="1610610"/>
            <a:ext cx="7772400" cy="2376950"/>
          </a:xfrm>
        </p:spPr>
        <p:txBody>
          <a:bodyPr/>
          <a:lstStyle/>
          <a:p>
            <a:r>
              <a:rPr lang="en-US" dirty="0"/>
              <a:t>Planning and Budgeting</a:t>
            </a:r>
          </a:p>
        </p:txBody>
      </p:sp>
    </p:spTree>
    <p:extLst>
      <p:ext uri="{BB962C8B-B14F-4D97-AF65-F5344CB8AC3E}">
        <p14:creationId xmlns:p14="http://schemas.microsoft.com/office/powerpoint/2010/main" val="1087692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5DE4E-7543-B235-9519-5A2445209F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3C85F5-5E29-9444-A6F9-7336908C525D}"/>
              </a:ext>
            </a:extLst>
          </p:cNvPr>
          <p:cNvSpPr>
            <a:spLocks noGrp="1"/>
          </p:cNvSpPr>
          <p:nvPr>
            <p:ph idx="1"/>
          </p:nvPr>
        </p:nvSpPr>
        <p:spPr>
          <a:xfrm>
            <a:off x="239487" y="2373084"/>
            <a:ext cx="8479970" cy="4386943"/>
          </a:xfrm>
        </p:spPr>
        <p:txBody>
          <a:bodyPr>
            <a:normAutofit fontScale="85000" lnSpcReduction="20000"/>
          </a:bodyPr>
          <a:lstStyle/>
          <a:p>
            <a:pPr>
              <a:buFont typeface="Arial"/>
              <a:buChar char="•"/>
            </a:pPr>
            <a:r>
              <a:rPr lang="en-US" b="1" dirty="0"/>
              <a:t>A Financial plan for the upcoming year : </a:t>
            </a:r>
          </a:p>
          <a:p>
            <a:pPr lvl="1">
              <a:buFont typeface="Arial"/>
              <a:buChar char="•"/>
            </a:pPr>
            <a:r>
              <a:rPr lang="en-US" b="1" dirty="0"/>
              <a:t>Broken down by month</a:t>
            </a:r>
          </a:p>
          <a:p>
            <a:pPr lvl="1">
              <a:buFont typeface="Arial"/>
              <a:buChar char="•"/>
            </a:pPr>
            <a:r>
              <a:rPr lang="en-US" b="1" dirty="0"/>
              <a:t>Detailed spendings by cost items :</a:t>
            </a:r>
          </a:p>
          <a:p>
            <a:pPr lvl="2">
              <a:buFont typeface="Arial"/>
              <a:buChar char="•"/>
            </a:pPr>
            <a:r>
              <a:rPr lang="en-US" b="1" dirty="0"/>
              <a:t>People (Full time employees, Contractors, Temp employees….)</a:t>
            </a:r>
          </a:p>
          <a:p>
            <a:pPr lvl="2">
              <a:buFont typeface="Arial"/>
              <a:buChar char="•"/>
            </a:pPr>
            <a:r>
              <a:rPr lang="en-US" b="1" dirty="0"/>
              <a:t>HW costs (Servers, Network equipment…)</a:t>
            </a:r>
          </a:p>
          <a:p>
            <a:pPr lvl="2">
              <a:buFont typeface="Arial"/>
              <a:buChar char="•"/>
            </a:pPr>
            <a:r>
              <a:rPr lang="en-US" b="1" dirty="0"/>
              <a:t>SW costs (</a:t>
            </a:r>
            <a:r>
              <a:rPr lang="en-US" b="1" dirty="0" err="1"/>
              <a:t>Licences</a:t>
            </a:r>
            <a:r>
              <a:rPr lang="en-US" b="1" dirty="0"/>
              <a:t>, SW maintenance….)</a:t>
            </a:r>
          </a:p>
          <a:p>
            <a:pPr lvl="2">
              <a:buFont typeface="Arial"/>
              <a:buChar char="•"/>
            </a:pPr>
            <a:r>
              <a:rPr lang="en-US" b="1" dirty="0"/>
              <a:t>Services (Outsourcing, </a:t>
            </a:r>
            <a:r>
              <a:rPr lang="en-US" b="1" dirty="0" err="1"/>
              <a:t>Coud</a:t>
            </a:r>
            <a:r>
              <a:rPr lang="en-US" b="1" dirty="0"/>
              <a:t> Computing….)</a:t>
            </a:r>
          </a:p>
          <a:p>
            <a:pPr lvl="2">
              <a:buFont typeface="Arial"/>
              <a:buChar char="•"/>
            </a:pPr>
            <a:r>
              <a:rPr lang="en-US" b="1" dirty="0"/>
              <a:t>Projects</a:t>
            </a:r>
          </a:p>
          <a:p>
            <a:pPr lvl="2">
              <a:buFont typeface="Arial"/>
              <a:buChar char="•"/>
            </a:pPr>
            <a:r>
              <a:rPr lang="en-US" b="1" dirty="0"/>
              <a:t>….</a:t>
            </a:r>
          </a:p>
          <a:p>
            <a:pPr lvl="2">
              <a:buFont typeface="Arial"/>
              <a:buChar char="•"/>
            </a:pPr>
            <a:endParaRPr lang="en-US" sz="1400" b="1" dirty="0"/>
          </a:p>
          <a:p>
            <a:pPr>
              <a:buFont typeface="Arial"/>
              <a:buChar char="•"/>
            </a:pPr>
            <a:r>
              <a:rPr lang="en-US" b="1" dirty="0"/>
              <a:t>A contract between department, project Manager or others and Top Management on what they are allowed to spend during the coming year…</a:t>
            </a:r>
          </a:p>
          <a:p>
            <a:pPr>
              <a:buFont typeface="Arial"/>
              <a:buChar char="•"/>
            </a:pPr>
            <a:endParaRPr lang="en-US" sz="1400" b="1" dirty="0"/>
          </a:p>
          <a:p>
            <a:pPr>
              <a:buFont typeface="Arial"/>
              <a:buChar char="•"/>
            </a:pPr>
            <a:r>
              <a:rPr lang="en-US" b="1" dirty="0"/>
              <a:t>Budget represents the means for a department, Project </a:t>
            </a:r>
            <a:r>
              <a:rPr lang="en-US" b="1" dirty="0" err="1"/>
              <a:t>etc</a:t>
            </a:r>
            <a:r>
              <a:rPr lang="en-US" b="1" dirty="0"/>
              <a:t>… to achieve their objectives</a:t>
            </a:r>
          </a:p>
          <a:p>
            <a:pPr>
              <a:buFont typeface="Arial"/>
              <a:buChar char="•"/>
            </a:pPr>
            <a:endParaRPr lang="en-US" sz="1300" b="1" dirty="0"/>
          </a:p>
        </p:txBody>
      </p:sp>
      <p:sp>
        <p:nvSpPr>
          <p:cNvPr id="3" name="Title 2">
            <a:extLst>
              <a:ext uri="{FF2B5EF4-FFF2-40B4-BE49-F238E27FC236}">
                <a16:creationId xmlns:a16="http://schemas.microsoft.com/office/drawing/2014/main" id="{371D8D36-6CB3-A81F-FB30-84D43F5AB0CD}"/>
              </a:ext>
            </a:extLst>
          </p:cNvPr>
          <p:cNvSpPr>
            <a:spLocks noGrp="1"/>
          </p:cNvSpPr>
          <p:nvPr>
            <p:ph type="title"/>
          </p:nvPr>
        </p:nvSpPr>
        <p:spPr/>
        <p:txBody>
          <a:bodyPr/>
          <a:lstStyle/>
          <a:p>
            <a:r>
              <a:rPr lang="en-US" dirty="0"/>
              <a:t>What is a budget ? </a:t>
            </a:r>
            <a:r>
              <a:rPr lang="en-US" sz="3200" dirty="0"/>
              <a:t>(1/2)</a:t>
            </a:r>
            <a:endParaRPr lang="en-US" dirty="0"/>
          </a:p>
        </p:txBody>
      </p:sp>
    </p:spTree>
    <p:extLst>
      <p:ext uri="{BB962C8B-B14F-4D97-AF65-F5344CB8AC3E}">
        <p14:creationId xmlns:p14="http://schemas.microsoft.com/office/powerpoint/2010/main" val="1816566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1EC8-F32D-8A9C-70D8-DADB619067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88FB1C-B538-2A57-AA46-0F3BB7E19EBA}"/>
              </a:ext>
            </a:extLst>
          </p:cNvPr>
          <p:cNvSpPr>
            <a:spLocks noGrp="1"/>
          </p:cNvSpPr>
          <p:nvPr>
            <p:ph idx="1"/>
          </p:nvPr>
        </p:nvSpPr>
        <p:spPr>
          <a:xfrm>
            <a:off x="332015" y="2721427"/>
            <a:ext cx="8479970" cy="4386943"/>
          </a:xfrm>
        </p:spPr>
        <p:txBody>
          <a:bodyPr>
            <a:normAutofit/>
          </a:bodyPr>
          <a:lstStyle/>
          <a:p>
            <a:pPr>
              <a:buFont typeface="Arial"/>
              <a:buChar char="•"/>
            </a:pPr>
            <a:r>
              <a:rPr lang="en-US" b="1" dirty="0"/>
              <a:t>Budgeting is a critical success factor to your job….</a:t>
            </a:r>
          </a:p>
          <a:p>
            <a:pPr lvl="1">
              <a:buFont typeface="Arial"/>
              <a:buChar char="•"/>
            </a:pPr>
            <a:r>
              <a:rPr lang="en-US" b="1" dirty="0"/>
              <a:t>It ensures you have the means to achieve your objectives….</a:t>
            </a:r>
          </a:p>
          <a:p>
            <a:pPr lvl="1">
              <a:buFont typeface="Arial"/>
              <a:buChar char="•"/>
            </a:pPr>
            <a:r>
              <a:rPr lang="en-US" b="1" dirty="0"/>
              <a:t>It is part of your Management activities….You will be assessed on it….</a:t>
            </a:r>
          </a:p>
        </p:txBody>
      </p:sp>
      <p:sp>
        <p:nvSpPr>
          <p:cNvPr id="3" name="Title 2">
            <a:extLst>
              <a:ext uri="{FF2B5EF4-FFF2-40B4-BE49-F238E27FC236}">
                <a16:creationId xmlns:a16="http://schemas.microsoft.com/office/drawing/2014/main" id="{4DD50EB3-4AD1-CB8C-BA42-8F7A8BF92829}"/>
              </a:ext>
            </a:extLst>
          </p:cNvPr>
          <p:cNvSpPr>
            <a:spLocks noGrp="1"/>
          </p:cNvSpPr>
          <p:nvPr>
            <p:ph type="title"/>
          </p:nvPr>
        </p:nvSpPr>
        <p:spPr/>
        <p:txBody>
          <a:bodyPr/>
          <a:lstStyle/>
          <a:p>
            <a:r>
              <a:rPr lang="en-US" dirty="0"/>
              <a:t>What is a budget ? </a:t>
            </a:r>
            <a:r>
              <a:rPr lang="en-US" sz="3200" dirty="0"/>
              <a:t>(2/2)</a:t>
            </a:r>
            <a:endParaRPr lang="en-US" dirty="0"/>
          </a:p>
        </p:txBody>
      </p:sp>
    </p:spTree>
    <p:extLst>
      <p:ext uri="{BB962C8B-B14F-4D97-AF65-F5344CB8AC3E}">
        <p14:creationId xmlns:p14="http://schemas.microsoft.com/office/powerpoint/2010/main" val="610798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97582-B9CF-F75C-86AE-E01B39D9AE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C7A0F0-B307-3E00-5B0B-436725F872FE}"/>
              </a:ext>
            </a:extLst>
          </p:cNvPr>
          <p:cNvSpPr>
            <a:spLocks noGrp="1"/>
          </p:cNvSpPr>
          <p:nvPr>
            <p:ph idx="1"/>
          </p:nvPr>
        </p:nvSpPr>
        <p:spPr>
          <a:xfrm>
            <a:off x="457200" y="2754085"/>
            <a:ext cx="7823200" cy="3655106"/>
          </a:xfrm>
        </p:spPr>
        <p:txBody>
          <a:bodyPr>
            <a:normAutofit/>
          </a:bodyPr>
          <a:lstStyle/>
          <a:p>
            <a:pPr>
              <a:buFont typeface="Arial"/>
              <a:buChar char="•"/>
            </a:pPr>
            <a:r>
              <a:rPr lang="en-US" b="1" dirty="0"/>
              <a:t>Financial template : Excel model</a:t>
            </a:r>
          </a:p>
          <a:p>
            <a:pPr lvl="1">
              <a:buFont typeface="Arial"/>
              <a:buChar char="•"/>
            </a:pPr>
            <a:r>
              <a:rPr lang="en-US" b="1" dirty="0"/>
              <a:t>Lines = Cost items </a:t>
            </a:r>
          </a:p>
          <a:p>
            <a:pPr lvl="1">
              <a:buFont typeface="Arial"/>
              <a:buChar char="•"/>
            </a:pPr>
            <a:r>
              <a:rPr lang="en-US" b="1" dirty="0"/>
              <a:t>Columns = Timeline</a:t>
            </a:r>
          </a:p>
          <a:p>
            <a:pPr lvl="2">
              <a:buFont typeface="Arial"/>
              <a:buChar char="•"/>
            </a:pPr>
            <a:r>
              <a:rPr lang="en-US" b="1" dirty="0"/>
              <a:t>Col 1 : Previous Year spendings</a:t>
            </a:r>
          </a:p>
          <a:p>
            <a:pPr lvl="2">
              <a:buFont typeface="Arial"/>
              <a:buChar char="•"/>
            </a:pPr>
            <a:r>
              <a:rPr lang="en-US" b="1" dirty="0"/>
              <a:t>Col 2 – 13 : Month 1 to 12 Budget</a:t>
            </a:r>
          </a:p>
          <a:p>
            <a:pPr lvl="2">
              <a:buFont typeface="Arial"/>
              <a:buChar char="•"/>
            </a:pPr>
            <a:r>
              <a:rPr lang="en-US" b="1" dirty="0"/>
              <a:t>Col 14 : Sum Month1 to Month 12</a:t>
            </a:r>
          </a:p>
        </p:txBody>
      </p:sp>
      <p:sp>
        <p:nvSpPr>
          <p:cNvPr id="3" name="Title 2">
            <a:extLst>
              <a:ext uri="{FF2B5EF4-FFF2-40B4-BE49-F238E27FC236}">
                <a16:creationId xmlns:a16="http://schemas.microsoft.com/office/drawing/2014/main" id="{F3C14E4F-2DF0-1EDE-F225-453BA39433E4}"/>
              </a:ext>
            </a:extLst>
          </p:cNvPr>
          <p:cNvSpPr>
            <a:spLocks noGrp="1"/>
          </p:cNvSpPr>
          <p:nvPr>
            <p:ph type="title"/>
          </p:nvPr>
        </p:nvSpPr>
        <p:spPr/>
        <p:txBody>
          <a:bodyPr/>
          <a:lstStyle/>
          <a:p>
            <a:r>
              <a:rPr lang="en-US" dirty="0"/>
              <a:t>Budget format </a:t>
            </a:r>
            <a:r>
              <a:rPr lang="en-US" sz="2800" dirty="0"/>
              <a:t>(1/4)</a:t>
            </a:r>
            <a:endParaRPr lang="en-US" dirty="0"/>
          </a:p>
        </p:txBody>
      </p:sp>
    </p:spTree>
    <p:extLst>
      <p:ext uri="{BB962C8B-B14F-4D97-AF65-F5344CB8AC3E}">
        <p14:creationId xmlns:p14="http://schemas.microsoft.com/office/powerpoint/2010/main" val="2795336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Budget model </a:t>
            </a:r>
            <a:r>
              <a:rPr lang="en-US" sz="2400" dirty="0"/>
              <a:t>(2/4)</a:t>
            </a:r>
          </a:p>
        </p:txBody>
      </p:sp>
      <p:pic>
        <p:nvPicPr>
          <p:cNvPr id="5" name="Picture 4"/>
          <p:cNvPicPr>
            <a:picLocks noChangeAspect="1"/>
          </p:cNvPicPr>
          <p:nvPr/>
        </p:nvPicPr>
        <p:blipFill rotWithShape="1">
          <a:blip r:embed="rId2"/>
          <a:srcRect l="2221" t="22889" r="3334" b="11555"/>
          <a:stretch/>
        </p:blipFill>
        <p:spPr>
          <a:xfrm>
            <a:off x="203200" y="2743200"/>
            <a:ext cx="8636000" cy="3746500"/>
          </a:xfrm>
          <a:prstGeom prst="rect">
            <a:avLst/>
          </a:prstGeom>
        </p:spPr>
      </p:pic>
    </p:spTree>
    <p:extLst>
      <p:ext uri="{BB962C8B-B14F-4D97-AF65-F5344CB8AC3E}">
        <p14:creationId xmlns:p14="http://schemas.microsoft.com/office/powerpoint/2010/main" val="769518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Budget model </a:t>
            </a:r>
            <a:r>
              <a:rPr lang="en-US" sz="2400" dirty="0"/>
              <a:t>(3/4)</a:t>
            </a:r>
          </a:p>
        </p:txBody>
      </p:sp>
      <p:pic>
        <p:nvPicPr>
          <p:cNvPr id="2" name="Picture 1"/>
          <p:cNvPicPr>
            <a:picLocks noChangeAspect="1"/>
          </p:cNvPicPr>
          <p:nvPr/>
        </p:nvPicPr>
        <p:blipFill rotWithShape="1">
          <a:blip r:embed="rId2"/>
          <a:srcRect l="2640" t="23333" r="74583" b="12444"/>
          <a:stretch/>
        </p:blipFill>
        <p:spPr>
          <a:xfrm>
            <a:off x="457200" y="2311400"/>
            <a:ext cx="2082800" cy="3670300"/>
          </a:xfrm>
          <a:prstGeom prst="rect">
            <a:avLst/>
          </a:prstGeom>
        </p:spPr>
      </p:pic>
      <p:pic>
        <p:nvPicPr>
          <p:cNvPr id="5" name="Picture 4"/>
          <p:cNvPicPr>
            <a:picLocks noChangeAspect="1"/>
          </p:cNvPicPr>
          <p:nvPr/>
        </p:nvPicPr>
        <p:blipFill rotWithShape="1">
          <a:blip r:embed="rId3"/>
          <a:srcRect l="2639" t="24222" r="72779" b="7110"/>
          <a:stretch/>
        </p:blipFill>
        <p:spPr>
          <a:xfrm>
            <a:off x="3340100" y="2438400"/>
            <a:ext cx="2247900" cy="3924300"/>
          </a:xfrm>
          <a:prstGeom prst="rect">
            <a:avLst/>
          </a:prstGeom>
        </p:spPr>
      </p:pic>
      <p:pic>
        <p:nvPicPr>
          <p:cNvPr id="6" name="Picture 5"/>
          <p:cNvPicPr>
            <a:picLocks noChangeAspect="1"/>
          </p:cNvPicPr>
          <p:nvPr/>
        </p:nvPicPr>
        <p:blipFill rotWithShape="1">
          <a:blip r:embed="rId4"/>
          <a:srcRect l="2361" t="22889" r="76389" b="8222"/>
          <a:stretch/>
        </p:blipFill>
        <p:spPr>
          <a:xfrm>
            <a:off x="6743700" y="2768600"/>
            <a:ext cx="1943100" cy="3937000"/>
          </a:xfrm>
          <a:prstGeom prst="rect">
            <a:avLst/>
          </a:prstGeom>
        </p:spPr>
      </p:pic>
    </p:spTree>
    <p:extLst>
      <p:ext uri="{BB962C8B-B14F-4D97-AF65-F5344CB8AC3E}">
        <p14:creationId xmlns:p14="http://schemas.microsoft.com/office/powerpoint/2010/main" val="219451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1367" y="2184737"/>
            <a:ext cx="8792633" cy="4915973"/>
          </a:xfrm>
        </p:spPr>
        <p:txBody>
          <a:bodyPr>
            <a:normAutofit fontScale="85000" lnSpcReduction="10000"/>
          </a:bodyPr>
          <a:lstStyle/>
          <a:p>
            <a:pPr>
              <a:buFont typeface="Arial"/>
              <a:buChar char="•"/>
            </a:pPr>
            <a:r>
              <a:rPr lang="en-US" dirty="0"/>
              <a:t>Model looks large and complex….</a:t>
            </a:r>
          </a:p>
          <a:p>
            <a:pPr>
              <a:buFont typeface="Arial"/>
              <a:buChar char="•"/>
            </a:pPr>
            <a:r>
              <a:rPr lang="en-US" dirty="0"/>
              <a:t>…but if we focus </a:t>
            </a:r>
            <a:r>
              <a:rPr lang="en-US" b="1" dirty="0"/>
              <a:t>on what’s material (</a:t>
            </a:r>
            <a:r>
              <a:rPr lang="en-US" b="1" dirty="0" err="1"/>
              <a:t>ie</a:t>
            </a:r>
            <a:r>
              <a:rPr lang="en-US" b="1" dirty="0"/>
              <a:t> big numbers…), </a:t>
            </a:r>
            <a:r>
              <a:rPr lang="en-US" dirty="0"/>
              <a:t>It is not so bad</a:t>
            </a:r>
          </a:p>
          <a:p>
            <a:pPr>
              <a:buFont typeface="Arial"/>
              <a:buChar char="•"/>
            </a:pPr>
            <a:r>
              <a:rPr lang="en-US" dirty="0"/>
              <a:t>Need to forecast :</a:t>
            </a:r>
          </a:p>
          <a:p>
            <a:pPr lvl="1">
              <a:buFont typeface="Arial"/>
              <a:buChar char="•"/>
            </a:pPr>
            <a:r>
              <a:rPr lang="en-US" sz="1800" dirty="0"/>
              <a:t>On going operations</a:t>
            </a:r>
          </a:p>
          <a:p>
            <a:pPr lvl="1">
              <a:buFont typeface="Arial"/>
              <a:buChar char="•"/>
            </a:pPr>
            <a:r>
              <a:rPr lang="en-US" sz="1800" dirty="0"/>
              <a:t>Projects</a:t>
            </a:r>
          </a:p>
          <a:p>
            <a:pPr>
              <a:buFont typeface="Arial"/>
              <a:buChar char="•"/>
            </a:pPr>
            <a:r>
              <a:rPr lang="en-US" dirty="0"/>
              <a:t>Material items in an IT budget :</a:t>
            </a:r>
          </a:p>
          <a:p>
            <a:pPr lvl="1">
              <a:buFont typeface="Arial"/>
              <a:buChar char="•"/>
            </a:pPr>
            <a:r>
              <a:rPr lang="en-US" sz="2000" dirty="0"/>
              <a:t>Revenue, if any…</a:t>
            </a:r>
          </a:p>
          <a:p>
            <a:pPr lvl="1">
              <a:buFont typeface="Arial"/>
              <a:buChar char="•"/>
            </a:pPr>
            <a:r>
              <a:rPr lang="en-US" sz="2000" dirty="0"/>
              <a:t>Headcount, </a:t>
            </a:r>
            <a:r>
              <a:rPr lang="en-US" sz="2000" dirty="0" err="1"/>
              <a:t>ie</a:t>
            </a:r>
            <a:r>
              <a:rPr lang="en-US" sz="2000" dirty="0"/>
              <a:t> employees : Permanent, Temporary, Contractors, Consultants</a:t>
            </a:r>
          </a:p>
          <a:p>
            <a:pPr lvl="2">
              <a:buFont typeface="Arial"/>
              <a:buChar char="•"/>
            </a:pPr>
            <a:r>
              <a:rPr lang="en-US" sz="1800" dirty="0"/>
              <a:t>How many ?</a:t>
            </a:r>
          </a:p>
          <a:p>
            <a:pPr lvl="2">
              <a:buFont typeface="Arial"/>
              <a:buChar char="•"/>
            </a:pPr>
            <a:r>
              <a:rPr lang="en-US" sz="1800" dirty="0"/>
              <a:t>Which cost ?</a:t>
            </a:r>
          </a:p>
          <a:p>
            <a:pPr lvl="1">
              <a:buFont typeface="Arial"/>
              <a:buChar char="•"/>
            </a:pPr>
            <a:r>
              <a:rPr lang="en-US" sz="2000" dirty="0"/>
              <a:t>IT equipment : capex (Servers, Telecoms equipment…) and </a:t>
            </a:r>
            <a:r>
              <a:rPr lang="en-US" sz="2000" dirty="0" err="1"/>
              <a:t>opex</a:t>
            </a:r>
            <a:r>
              <a:rPr lang="en-US" sz="2000" dirty="0"/>
              <a:t> (desktops, </a:t>
            </a:r>
            <a:r>
              <a:rPr lang="en-US" sz="2000" dirty="0" err="1"/>
              <a:t>etc</a:t>
            </a:r>
            <a:r>
              <a:rPr lang="en-US" sz="2000" dirty="0"/>
              <a:t>…)</a:t>
            </a:r>
          </a:p>
          <a:p>
            <a:pPr lvl="1">
              <a:buFont typeface="Arial"/>
              <a:buChar char="•"/>
            </a:pPr>
            <a:r>
              <a:rPr lang="en-US" sz="2000" dirty="0"/>
              <a:t>SW expenses : </a:t>
            </a:r>
            <a:r>
              <a:rPr lang="en-US" sz="2000" dirty="0" err="1"/>
              <a:t>Licences</a:t>
            </a:r>
            <a:r>
              <a:rPr lang="en-US" sz="2000" dirty="0"/>
              <a:t>, subscriptions</a:t>
            </a:r>
          </a:p>
          <a:p>
            <a:pPr lvl="1">
              <a:buFont typeface="Arial"/>
              <a:buChar char="•"/>
            </a:pPr>
            <a:r>
              <a:rPr lang="en-US" sz="2000" dirty="0"/>
              <a:t>IT services (ex Cloud provider) or outsourcing contracts</a:t>
            </a:r>
          </a:p>
          <a:p>
            <a:pPr lvl="1">
              <a:buFont typeface="Arial"/>
              <a:buChar char="•"/>
            </a:pPr>
            <a:r>
              <a:rPr lang="en-US" sz="2000" dirty="0"/>
              <a:t>Projects…</a:t>
            </a:r>
          </a:p>
          <a:p>
            <a:pPr lvl="1">
              <a:buFont typeface="Arial"/>
              <a:buChar char="•"/>
            </a:pPr>
            <a:r>
              <a:rPr lang="en-US" sz="2000" dirty="0"/>
              <a:t>Others : office supplies, Employees related expenses, Payroll, legal services…Leave it to Finance to handle</a:t>
            </a:r>
          </a:p>
        </p:txBody>
      </p:sp>
      <p:sp>
        <p:nvSpPr>
          <p:cNvPr id="3" name="Title 2"/>
          <p:cNvSpPr>
            <a:spLocks noGrp="1"/>
          </p:cNvSpPr>
          <p:nvPr>
            <p:ph type="title"/>
          </p:nvPr>
        </p:nvSpPr>
        <p:spPr/>
        <p:txBody>
          <a:bodyPr/>
          <a:lstStyle/>
          <a:p>
            <a:r>
              <a:rPr lang="en-US" dirty="0"/>
              <a:t>Budget model </a:t>
            </a:r>
            <a:r>
              <a:rPr lang="en-US" sz="2400" dirty="0"/>
              <a:t>(4/4)</a:t>
            </a:r>
            <a:endParaRPr lang="en-US" dirty="0"/>
          </a:p>
        </p:txBody>
      </p:sp>
    </p:spTree>
    <p:extLst>
      <p:ext uri="{BB962C8B-B14F-4D97-AF65-F5344CB8AC3E}">
        <p14:creationId xmlns:p14="http://schemas.microsoft.com/office/powerpoint/2010/main" val="902584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Key elements to a budget?</a:t>
            </a:r>
          </a:p>
        </p:txBody>
      </p:sp>
      <p:sp>
        <p:nvSpPr>
          <p:cNvPr id="3" name="Content Placeholder 2"/>
          <p:cNvSpPr>
            <a:spLocks noGrp="1"/>
          </p:cNvSpPr>
          <p:nvPr>
            <p:ph sz="quarter" idx="13"/>
          </p:nvPr>
        </p:nvSpPr>
        <p:spPr/>
        <p:txBody>
          <a:bodyPr>
            <a:normAutofit fontScale="92500" lnSpcReduction="20000"/>
          </a:bodyPr>
          <a:lstStyle/>
          <a:p>
            <a:pPr marL="0" indent="0">
              <a:buNone/>
            </a:pPr>
            <a:r>
              <a:rPr lang="en-US" b="1" dirty="0"/>
              <a:t>Situation overview:</a:t>
            </a:r>
          </a:p>
          <a:p>
            <a:pPr>
              <a:buFont typeface="Arial"/>
              <a:buChar char="•"/>
            </a:pPr>
            <a:r>
              <a:rPr lang="en-US" dirty="0"/>
              <a:t>You were recently hired as IT manager at New Corp.</a:t>
            </a:r>
          </a:p>
          <a:p>
            <a:pPr>
              <a:buFont typeface="Arial"/>
              <a:buChar char="•"/>
            </a:pPr>
            <a:r>
              <a:rPr lang="en-US" dirty="0"/>
              <a:t>Your CEO asked you to prepare a first cut of your IT budget for 2023</a:t>
            </a:r>
          </a:p>
          <a:p>
            <a:pPr marL="0" indent="0">
              <a:buNone/>
            </a:pPr>
            <a:endParaRPr lang="en-US" dirty="0"/>
          </a:p>
          <a:p>
            <a:pPr marL="0" indent="0">
              <a:buNone/>
            </a:pPr>
            <a:r>
              <a:rPr lang="en-US" b="1" dirty="0"/>
              <a:t>Q1: </a:t>
            </a:r>
            <a:r>
              <a:rPr lang="en-US" dirty="0"/>
              <a:t>What do you need to know before you start?</a:t>
            </a:r>
          </a:p>
          <a:p>
            <a:pPr marL="0" indent="0">
              <a:buNone/>
            </a:pPr>
            <a:r>
              <a:rPr lang="en-US" b="1" dirty="0"/>
              <a:t>Q2: </a:t>
            </a:r>
            <a:r>
              <a:rPr lang="en-US" dirty="0"/>
              <a:t>What elements will you include into your budget?</a:t>
            </a:r>
          </a:p>
        </p:txBody>
      </p:sp>
      <p:sp>
        <p:nvSpPr>
          <p:cNvPr id="4" name="Content Placeholder 3"/>
          <p:cNvSpPr>
            <a:spLocks noGrp="1"/>
          </p:cNvSpPr>
          <p:nvPr>
            <p:ph sz="quarter" idx="14"/>
          </p:nvPr>
        </p:nvSpPr>
        <p:spPr>
          <a:xfrm>
            <a:off x="4645152" y="2679192"/>
            <a:ext cx="4041648" cy="3447288"/>
          </a:xfrm>
        </p:spPr>
        <p:txBody>
          <a:bodyPr>
            <a:normAutofit fontScale="85000" lnSpcReduction="20000"/>
          </a:bodyPr>
          <a:lstStyle/>
          <a:p>
            <a:pPr marL="0" indent="0">
              <a:buNone/>
            </a:pPr>
            <a:r>
              <a:rPr lang="en-US" b="1" dirty="0"/>
              <a:t>Q1:</a:t>
            </a:r>
          </a:p>
          <a:p>
            <a:pPr marL="457200" indent="-457200">
              <a:buFont typeface="+mj-lt"/>
              <a:buAutoNum type="alphaUcPeriod"/>
            </a:pPr>
            <a:r>
              <a:rPr lang="en-US" dirty="0"/>
              <a:t>Last year’s budget, corporate guidelines &amp; rules</a:t>
            </a:r>
          </a:p>
          <a:p>
            <a:pPr marL="457200" indent="-457200">
              <a:buFont typeface="+mj-lt"/>
              <a:buAutoNum type="alphaUcPeriod"/>
            </a:pPr>
            <a:r>
              <a:rPr lang="en-US" dirty="0"/>
              <a:t>Your CEO’s strategy, expectations, priorities and guidelines</a:t>
            </a:r>
          </a:p>
          <a:p>
            <a:pPr marL="457200" indent="-457200">
              <a:buFont typeface="+mj-lt"/>
              <a:buAutoNum type="alphaUcPeriod"/>
            </a:pPr>
            <a:r>
              <a:rPr lang="en-US" dirty="0"/>
              <a:t>Details on your organization, scope, goals, team, etc…</a:t>
            </a:r>
          </a:p>
          <a:p>
            <a:pPr marL="0" indent="0">
              <a:buNone/>
            </a:pPr>
            <a:r>
              <a:rPr lang="en-US" b="1" dirty="0"/>
              <a:t>Q2:</a:t>
            </a:r>
          </a:p>
          <a:p>
            <a:pPr marL="457200" indent="-457200">
              <a:buFont typeface="+mj-lt"/>
              <a:buAutoNum type="alphaUcPeriod"/>
            </a:pPr>
            <a:r>
              <a:rPr lang="en-US" dirty="0"/>
              <a:t>Hardware, Software, People, Services, Expenses, etc…</a:t>
            </a:r>
          </a:p>
          <a:p>
            <a:pPr marL="457200" indent="-457200">
              <a:buFont typeface="+mj-lt"/>
              <a:buAutoNum type="alphaUcPeriod"/>
            </a:pPr>
            <a:r>
              <a:rPr lang="en-US" dirty="0"/>
              <a:t>Assumptions and comments</a:t>
            </a:r>
          </a:p>
        </p:txBody>
      </p:sp>
    </p:spTree>
    <p:extLst>
      <p:ext uri="{BB962C8B-B14F-4D97-AF65-F5344CB8AC3E}">
        <p14:creationId xmlns:p14="http://schemas.microsoft.com/office/powerpoint/2010/main" val="351555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additive="base">
                                        <p:cTn id="33" dur="500" fill="hold"/>
                                        <p:tgtEl>
                                          <p:spTgt spid="4">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plan &amp; budget?</a:t>
            </a:r>
          </a:p>
        </p:txBody>
      </p:sp>
      <p:sp>
        <p:nvSpPr>
          <p:cNvPr id="3" name="Content Placeholder 2"/>
          <p:cNvSpPr>
            <a:spLocks noGrp="1"/>
          </p:cNvSpPr>
          <p:nvPr>
            <p:ph sz="quarter" idx="13"/>
          </p:nvPr>
        </p:nvSpPr>
        <p:spPr/>
        <p:txBody>
          <a:bodyPr>
            <a:normAutofit/>
          </a:bodyPr>
          <a:lstStyle/>
          <a:p>
            <a:pPr marL="0" indent="0">
              <a:buNone/>
            </a:pPr>
            <a:r>
              <a:rPr lang="en-US" b="1" dirty="0"/>
              <a:t>Q3: </a:t>
            </a:r>
            <a:r>
              <a:rPr lang="en-US" dirty="0"/>
              <a:t>Why is it important to budget?</a:t>
            </a:r>
          </a:p>
          <a:p>
            <a:pPr marL="0" indent="0">
              <a:buNone/>
            </a:pPr>
            <a:r>
              <a:rPr lang="en-US" b="1" dirty="0"/>
              <a:t>Q4: </a:t>
            </a:r>
            <a:r>
              <a:rPr lang="en-US" dirty="0"/>
              <a:t>What will you be able to do with a budget?</a:t>
            </a:r>
          </a:p>
        </p:txBody>
      </p:sp>
      <p:sp>
        <p:nvSpPr>
          <p:cNvPr id="4" name="Content Placeholder 3"/>
          <p:cNvSpPr>
            <a:spLocks noGrp="1"/>
          </p:cNvSpPr>
          <p:nvPr>
            <p:ph sz="quarter" idx="14"/>
          </p:nvPr>
        </p:nvSpPr>
        <p:spPr>
          <a:xfrm>
            <a:off x="4377037" y="2169903"/>
            <a:ext cx="4672949" cy="4463094"/>
          </a:xfrm>
        </p:spPr>
        <p:txBody>
          <a:bodyPr>
            <a:noAutofit/>
          </a:bodyPr>
          <a:lstStyle/>
          <a:p>
            <a:pPr marL="0" indent="0">
              <a:buNone/>
            </a:pPr>
            <a:r>
              <a:rPr lang="en-US" sz="1600" b="1" dirty="0"/>
              <a:t>Q3</a:t>
            </a:r>
            <a:r>
              <a:rPr lang="en-US" sz="1600" dirty="0"/>
              <a:t>:</a:t>
            </a:r>
          </a:p>
          <a:p>
            <a:pPr marL="457200" indent="-457200">
              <a:buFont typeface="+mj-lt"/>
              <a:buAutoNum type="alphaUcPeriod"/>
            </a:pPr>
            <a:r>
              <a:rPr lang="en-US" sz="1600" dirty="0"/>
              <a:t>Plan and demonstrate how you will contribute in achieving your organization objectives (maximize revenue, reduce capital costs, for example)</a:t>
            </a:r>
          </a:p>
          <a:p>
            <a:pPr marL="457200" indent="-457200">
              <a:buFont typeface="+mj-lt"/>
              <a:buAutoNum type="alphaUcPeriod"/>
            </a:pPr>
            <a:r>
              <a:rPr lang="en-US" sz="1600" dirty="0"/>
              <a:t>Helps you assess &amp; negotiate the resources needed to deliver on your role, goals, projects</a:t>
            </a:r>
          </a:p>
          <a:p>
            <a:pPr marL="457200" indent="-457200">
              <a:buFont typeface="+mj-lt"/>
              <a:buAutoNum type="alphaUcPeriod"/>
            </a:pPr>
            <a:r>
              <a:rPr lang="en-US" sz="1600" dirty="0"/>
              <a:t>Basis for cost control and monitor progress, etc…</a:t>
            </a:r>
          </a:p>
          <a:p>
            <a:pPr marL="0" indent="0">
              <a:buNone/>
            </a:pPr>
            <a:r>
              <a:rPr lang="en-US" sz="1600" b="1" dirty="0"/>
              <a:t>Q4:</a:t>
            </a:r>
          </a:p>
          <a:p>
            <a:pPr marL="457200" indent="-457200">
              <a:buFont typeface="+mj-lt"/>
              <a:buAutoNum type="alphaUcPeriod"/>
            </a:pPr>
            <a:r>
              <a:rPr lang="en-US" sz="1600" dirty="0"/>
              <a:t>Demonstrate your impact</a:t>
            </a:r>
          </a:p>
          <a:p>
            <a:pPr marL="457200" indent="-457200">
              <a:buFont typeface="+mj-lt"/>
              <a:buAutoNum type="alphaUcPeriod"/>
            </a:pPr>
            <a:r>
              <a:rPr lang="en-US" sz="1600" dirty="0"/>
              <a:t>Plan investments &amp;  prioritize your requests</a:t>
            </a:r>
          </a:p>
          <a:p>
            <a:pPr marL="457200" indent="-457200">
              <a:buFont typeface="+mj-lt"/>
              <a:buAutoNum type="alphaUcPeriod"/>
            </a:pPr>
            <a:r>
              <a:rPr lang="en-US" sz="1600" dirty="0"/>
              <a:t>Increase your chances of success by increasing your level of visibility and control</a:t>
            </a:r>
          </a:p>
          <a:p>
            <a:pPr marL="457200" indent="-457200">
              <a:buFont typeface="+mj-lt"/>
              <a:buAutoNum type="alphaUcPeriod"/>
            </a:pPr>
            <a:r>
              <a:rPr lang="en-US" sz="1600" dirty="0"/>
              <a:t>Reduce risks</a:t>
            </a:r>
          </a:p>
          <a:p>
            <a:pPr marL="457200" indent="-457200">
              <a:buFont typeface="+mj-lt"/>
              <a:buAutoNum type="alphaUcPeriod"/>
            </a:pPr>
            <a:r>
              <a:rPr lang="en-US" sz="1600" dirty="0"/>
              <a:t>Increase your ability to deliver an IT project on time and within budget, etc…</a:t>
            </a:r>
          </a:p>
        </p:txBody>
      </p:sp>
    </p:spTree>
    <p:extLst>
      <p:ext uri="{BB962C8B-B14F-4D97-AF65-F5344CB8AC3E}">
        <p14:creationId xmlns:p14="http://schemas.microsoft.com/office/powerpoint/2010/main" val="108356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dissolve">
                                      <p:cBhvr>
                                        <p:cTn id="10" dur="500"/>
                                        <p:tgtEl>
                                          <p:spTgt spid="4">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dissolve">
                                      <p:cBhvr>
                                        <p:cTn id="13" dur="500"/>
                                        <p:tgtEl>
                                          <p:spTgt spid="4">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dissolve">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dissolve">
                                      <p:cBhvr>
                                        <p:cTn id="21" dur="500"/>
                                        <p:tgtEl>
                                          <p:spTgt spid="4">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dissolve">
                                      <p:cBhvr>
                                        <p:cTn id="24" dur="500"/>
                                        <p:tgtEl>
                                          <p:spTgt spid="4">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dissolve">
                                      <p:cBhvr>
                                        <p:cTn id="27" dur="500"/>
                                        <p:tgtEl>
                                          <p:spTgt spid="4">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dissolve">
                                      <p:cBhvr>
                                        <p:cTn id="30" dur="500"/>
                                        <p:tgtEl>
                                          <p:spTgt spid="4">
                                            <p:txEl>
                                              <p:pRg st="7" end="7"/>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dissolve">
                                      <p:cBhvr>
                                        <p:cTn id="33" dur="500"/>
                                        <p:tgtEl>
                                          <p:spTgt spid="4">
                                            <p:txEl>
                                              <p:pRg st="8" end="8"/>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4">
                                            <p:txEl>
                                              <p:pRg st="9" end="9"/>
                                            </p:txEl>
                                          </p:spTgt>
                                        </p:tgtEl>
                                        <p:attrNameLst>
                                          <p:attrName>style.visibility</p:attrName>
                                        </p:attrNameLst>
                                      </p:cBhvr>
                                      <p:to>
                                        <p:strVal val="visible"/>
                                      </p:to>
                                    </p:set>
                                    <p:animEffect transition="in" filter="dissolve">
                                      <p:cBhvr>
                                        <p:cTn id="36"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Planning and Budgeting process</a:t>
            </a:r>
          </a:p>
        </p:txBody>
      </p:sp>
      <p:sp>
        <p:nvSpPr>
          <p:cNvPr id="5" name="Rectangle 4"/>
          <p:cNvSpPr/>
          <p:nvPr/>
        </p:nvSpPr>
        <p:spPr bwMode="auto">
          <a:xfrm>
            <a:off x="815975" y="2109731"/>
            <a:ext cx="2343150" cy="703837"/>
          </a:xfrm>
          <a:prstGeom prst="rect">
            <a:avLst/>
          </a:prstGeom>
          <a:solidFill>
            <a:schemeClr val="bg1">
              <a:lumMod val="85000"/>
            </a:schemeClr>
          </a:solidFill>
          <a:ln w="9525" cap="flat" cmpd="sng" algn="ctr">
            <a:noFill/>
            <a:prstDash val="solid"/>
            <a:round/>
            <a:headEnd type="none" w="med" len="med"/>
            <a:tailEnd type="none" w="med" len="med"/>
          </a:ln>
          <a:effectLst>
            <a:outerShdw blurRad="50800" dist="38100" dir="2700000" algn="tl" rotWithShape="0">
              <a:schemeClr val="accent5">
                <a:lumMod val="75000"/>
                <a:alpha val="43000"/>
              </a:schemeClr>
            </a:outerShdw>
          </a:effectLst>
        </p:spPr>
        <p:txBody>
          <a:bodyPr wrap="square" lIns="82124" tIns="41061" rIns="82124" bIns="41061" anchor="ctr">
            <a:spAutoFit/>
          </a:bodyPr>
          <a:lstStyle/>
          <a:p>
            <a:pPr algn="ctr" defTabSz="814388">
              <a:defRPr/>
            </a:pPr>
            <a:endParaRPr lang="en-US">
              <a:ea typeface="+mn-ea"/>
              <a:cs typeface="+mn-cs"/>
            </a:endParaRPr>
          </a:p>
        </p:txBody>
      </p:sp>
      <p:sp>
        <p:nvSpPr>
          <p:cNvPr id="6" name="Rectangle 17"/>
          <p:cNvSpPr>
            <a:spLocks noChangeArrowheads="1"/>
          </p:cNvSpPr>
          <p:nvPr/>
        </p:nvSpPr>
        <p:spPr bwMode="auto">
          <a:xfrm>
            <a:off x="758825" y="2277826"/>
            <a:ext cx="249555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fr-FR" sz="1600" b="1" dirty="0">
                <a:solidFill>
                  <a:srgbClr val="2B95BB"/>
                </a:solidFill>
              </a:rPr>
              <a:t>Vision / Mission</a:t>
            </a:r>
            <a:endParaRPr lang="en-US" sz="1600" dirty="0">
              <a:solidFill>
                <a:srgbClr val="2B95BB"/>
              </a:solidFill>
            </a:endParaRPr>
          </a:p>
        </p:txBody>
      </p:sp>
      <p:sp>
        <p:nvSpPr>
          <p:cNvPr id="7" name="Rectangle 6"/>
          <p:cNvSpPr/>
          <p:nvPr/>
        </p:nvSpPr>
        <p:spPr bwMode="auto">
          <a:xfrm>
            <a:off x="844550" y="3402413"/>
            <a:ext cx="2343150" cy="703837"/>
          </a:xfrm>
          <a:prstGeom prst="rect">
            <a:avLst/>
          </a:prstGeom>
          <a:solidFill>
            <a:schemeClr val="bg1">
              <a:lumMod val="85000"/>
            </a:schemeClr>
          </a:solidFill>
          <a:ln w="9525" cap="flat" cmpd="sng" algn="ctr">
            <a:noFill/>
            <a:prstDash val="solid"/>
            <a:round/>
            <a:headEnd type="none" w="med" len="med"/>
            <a:tailEnd type="none" w="med" len="med"/>
          </a:ln>
          <a:effectLst>
            <a:outerShdw blurRad="50800" dist="38100" dir="2700000" algn="tl" rotWithShape="0">
              <a:schemeClr val="accent5">
                <a:lumMod val="75000"/>
                <a:alpha val="43000"/>
              </a:schemeClr>
            </a:outerShdw>
          </a:effectLst>
        </p:spPr>
        <p:txBody>
          <a:bodyPr wrap="square" lIns="82124" tIns="41061" rIns="82124" bIns="41061" anchor="ctr">
            <a:spAutoFit/>
          </a:bodyPr>
          <a:lstStyle/>
          <a:p>
            <a:pPr algn="ctr" defTabSz="814388">
              <a:defRPr/>
            </a:pPr>
            <a:endParaRPr lang="en-US">
              <a:ea typeface="+mn-ea"/>
              <a:cs typeface="+mn-cs"/>
            </a:endParaRPr>
          </a:p>
        </p:txBody>
      </p:sp>
      <p:sp>
        <p:nvSpPr>
          <p:cNvPr id="8" name="Rectangle 17"/>
          <p:cNvSpPr>
            <a:spLocks noChangeArrowheads="1"/>
          </p:cNvSpPr>
          <p:nvPr/>
        </p:nvSpPr>
        <p:spPr bwMode="auto">
          <a:xfrm>
            <a:off x="815975" y="3400824"/>
            <a:ext cx="2495550" cy="584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fr-FR" sz="1600" b="1" dirty="0" err="1">
                <a:solidFill>
                  <a:srgbClr val="2B95BB"/>
                </a:solidFill>
              </a:rPr>
              <a:t>Strategic</a:t>
            </a:r>
            <a:r>
              <a:rPr lang="fr-FR" sz="1600" b="1" dirty="0">
                <a:solidFill>
                  <a:srgbClr val="2B95BB"/>
                </a:solidFill>
              </a:rPr>
              <a:t> plan</a:t>
            </a:r>
          </a:p>
          <a:p>
            <a:pPr algn="ctr"/>
            <a:r>
              <a:rPr lang="fr-FR" sz="1600" b="1" dirty="0">
                <a:solidFill>
                  <a:srgbClr val="2B95BB"/>
                </a:solidFill>
              </a:rPr>
              <a:t>Long </a:t>
            </a:r>
            <a:r>
              <a:rPr lang="fr-FR" sz="1600" b="1" dirty="0" err="1">
                <a:solidFill>
                  <a:srgbClr val="2B95BB"/>
                </a:solidFill>
              </a:rPr>
              <a:t>term</a:t>
            </a:r>
            <a:r>
              <a:rPr lang="fr-FR" sz="1600" b="1" dirty="0">
                <a:solidFill>
                  <a:srgbClr val="2B95BB"/>
                </a:solidFill>
              </a:rPr>
              <a:t> goals</a:t>
            </a:r>
            <a:endParaRPr lang="en-US" sz="1600" dirty="0">
              <a:solidFill>
                <a:srgbClr val="2B95BB"/>
              </a:solidFill>
            </a:endParaRPr>
          </a:p>
        </p:txBody>
      </p:sp>
      <p:sp>
        <p:nvSpPr>
          <p:cNvPr id="9" name="Rectangle 8"/>
          <p:cNvSpPr/>
          <p:nvPr/>
        </p:nvSpPr>
        <p:spPr bwMode="auto">
          <a:xfrm>
            <a:off x="911225" y="4738697"/>
            <a:ext cx="2343150" cy="703837"/>
          </a:xfrm>
          <a:prstGeom prst="rect">
            <a:avLst/>
          </a:prstGeom>
          <a:solidFill>
            <a:schemeClr val="bg1">
              <a:lumMod val="85000"/>
            </a:schemeClr>
          </a:solidFill>
          <a:ln w="9525" cap="flat" cmpd="sng" algn="ctr">
            <a:noFill/>
            <a:prstDash val="solid"/>
            <a:round/>
            <a:headEnd type="none" w="med" len="med"/>
            <a:tailEnd type="none" w="med" len="med"/>
          </a:ln>
          <a:effectLst>
            <a:outerShdw blurRad="50800" dist="38100" dir="2700000" algn="tl" rotWithShape="0">
              <a:schemeClr val="accent5">
                <a:lumMod val="75000"/>
                <a:alpha val="43000"/>
              </a:schemeClr>
            </a:outerShdw>
          </a:effectLst>
        </p:spPr>
        <p:txBody>
          <a:bodyPr wrap="square" lIns="82124" tIns="41061" rIns="82124" bIns="41061" anchor="ctr">
            <a:spAutoFit/>
          </a:bodyPr>
          <a:lstStyle/>
          <a:p>
            <a:pPr algn="ctr" defTabSz="814388">
              <a:defRPr/>
            </a:pPr>
            <a:endParaRPr lang="en-US">
              <a:ea typeface="+mn-ea"/>
              <a:cs typeface="+mn-cs"/>
            </a:endParaRPr>
          </a:p>
        </p:txBody>
      </p:sp>
      <p:sp>
        <p:nvSpPr>
          <p:cNvPr id="10" name="Rectangle 17"/>
          <p:cNvSpPr>
            <a:spLocks noChangeArrowheads="1"/>
          </p:cNvSpPr>
          <p:nvPr/>
        </p:nvSpPr>
        <p:spPr bwMode="auto">
          <a:xfrm>
            <a:off x="815975" y="4738697"/>
            <a:ext cx="2495550" cy="584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fr-FR" sz="1600" b="1" dirty="0">
                <a:solidFill>
                  <a:srgbClr val="2B95BB"/>
                </a:solidFill>
              </a:rPr>
              <a:t>Operating plan</a:t>
            </a:r>
          </a:p>
          <a:p>
            <a:pPr algn="ctr"/>
            <a:r>
              <a:rPr lang="fr-FR" sz="1600" b="1" dirty="0">
                <a:solidFill>
                  <a:srgbClr val="2B95BB"/>
                </a:solidFill>
              </a:rPr>
              <a:t>Short </a:t>
            </a:r>
            <a:r>
              <a:rPr lang="fr-FR" sz="1600" b="1" dirty="0" err="1">
                <a:solidFill>
                  <a:srgbClr val="2B95BB"/>
                </a:solidFill>
              </a:rPr>
              <a:t>term</a:t>
            </a:r>
            <a:r>
              <a:rPr lang="fr-FR" sz="1600" b="1" dirty="0">
                <a:solidFill>
                  <a:srgbClr val="2B95BB"/>
                </a:solidFill>
              </a:rPr>
              <a:t> goals</a:t>
            </a:r>
            <a:endParaRPr lang="en-US" sz="1600" dirty="0">
              <a:solidFill>
                <a:srgbClr val="2B95BB"/>
              </a:solidFill>
            </a:endParaRPr>
          </a:p>
        </p:txBody>
      </p:sp>
      <p:sp>
        <p:nvSpPr>
          <p:cNvPr id="11" name="Rectangle 10"/>
          <p:cNvSpPr/>
          <p:nvPr/>
        </p:nvSpPr>
        <p:spPr bwMode="auto">
          <a:xfrm>
            <a:off x="911225" y="5935099"/>
            <a:ext cx="2343150" cy="703837"/>
          </a:xfrm>
          <a:prstGeom prst="rect">
            <a:avLst/>
          </a:prstGeom>
          <a:solidFill>
            <a:schemeClr val="bg1">
              <a:lumMod val="85000"/>
            </a:schemeClr>
          </a:solidFill>
          <a:ln w="9525" cap="flat" cmpd="sng" algn="ctr">
            <a:noFill/>
            <a:prstDash val="solid"/>
            <a:round/>
            <a:headEnd type="none" w="med" len="med"/>
            <a:tailEnd type="none" w="med" len="med"/>
          </a:ln>
          <a:effectLst>
            <a:outerShdw blurRad="50800" dist="38100" dir="2700000" algn="tl" rotWithShape="0">
              <a:schemeClr val="accent5">
                <a:lumMod val="75000"/>
                <a:alpha val="43000"/>
              </a:schemeClr>
            </a:outerShdw>
          </a:effectLst>
        </p:spPr>
        <p:txBody>
          <a:bodyPr wrap="square" lIns="82124" tIns="41061" rIns="82124" bIns="41061" anchor="ctr">
            <a:spAutoFit/>
          </a:bodyPr>
          <a:lstStyle/>
          <a:p>
            <a:pPr algn="ctr" defTabSz="814388">
              <a:defRPr/>
            </a:pPr>
            <a:endParaRPr lang="en-US">
              <a:ea typeface="+mn-ea"/>
              <a:cs typeface="+mn-cs"/>
            </a:endParaRPr>
          </a:p>
        </p:txBody>
      </p:sp>
      <p:sp>
        <p:nvSpPr>
          <p:cNvPr id="12" name="Rectangle 17"/>
          <p:cNvSpPr>
            <a:spLocks noChangeArrowheads="1"/>
          </p:cNvSpPr>
          <p:nvPr/>
        </p:nvSpPr>
        <p:spPr bwMode="auto">
          <a:xfrm>
            <a:off x="815975" y="5937767"/>
            <a:ext cx="2495550" cy="584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fr-FR" sz="1600" b="1" dirty="0">
                <a:solidFill>
                  <a:srgbClr val="2B95BB"/>
                </a:solidFill>
              </a:rPr>
              <a:t>Financial plan</a:t>
            </a:r>
          </a:p>
          <a:p>
            <a:pPr algn="ctr"/>
            <a:r>
              <a:rPr lang="fr-FR" sz="1600" b="1" dirty="0">
                <a:solidFill>
                  <a:srgbClr val="2B95BB"/>
                </a:solidFill>
              </a:rPr>
              <a:t>Budget</a:t>
            </a:r>
            <a:endParaRPr lang="en-US" sz="1600" dirty="0">
              <a:solidFill>
                <a:srgbClr val="2B95BB"/>
              </a:solidFill>
            </a:endParaRPr>
          </a:p>
        </p:txBody>
      </p:sp>
      <p:sp>
        <p:nvSpPr>
          <p:cNvPr id="13" name="Down Arrow 12"/>
          <p:cNvSpPr/>
          <p:nvPr/>
        </p:nvSpPr>
        <p:spPr bwMode="auto">
          <a:xfrm>
            <a:off x="1806575" y="4305676"/>
            <a:ext cx="304800" cy="433021"/>
          </a:xfrm>
          <a:prstGeom prst="downArrow">
            <a:avLst/>
          </a:prstGeom>
          <a:solidFill>
            <a:schemeClr val="accent5">
              <a:lumMod val="60000"/>
              <a:lumOff val="40000"/>
            </a:schemeClr>
          </a:solidFill>
          <a:ln w="9525" cap="flat" cmpd="sng" algn="ctr">
            <a:noFill/>
            <a:prstDash val="solid"/>
            <a:round/>
            <a:headEnd type="none" w="med" len="med"/>
            <a:tailEnd type="none" w="med" len="med"/>
          </a:ln>
          <a:effectLst/>
        </p:spPr>
        <p:txBody>
          <a:bodyPr lIns="82124" tIns="41061" rIns="82124" bIns="41061" anchor="ctr">
            <a:spAutoFit/>
          </a:bodyPr>
          <a:lstStyle/>
          <a:p>
            <a:pPr algn="ctr" defTabSz="814388">
              <a:defRPr/>
            </a:pPr>
            <a:endParaRPr lang="en-US">
              <a:ea typeface="+mn-ea"/>
              <a:cs typeface="+mn-cs"/>
            </a:endParaRPr>
          </a:p>
        </p:txBody>
      </p:sp>
      <p:sp>
        <p:nvSpPr>
          <p:cNvPr id="14" name="Down Arrow 13"/>
          <p:cNvSpPr/>
          <p:nvPr/>
        </p:nvSpPr>
        <p:spPr bwMode="auto">
          <a:xfrm>
            <a:off x="1806575" y="2969392"/>
            <a:ext cx="304800" cy="433021"/>
          </a:xfrm>
          <a:prstGeom prst="downArrow">
            <a:avLst/>
          </a:prstGeom>
          <a:solidFill>
            <a:schemeClr val="accent5">
              <a:lumMod val="60000"/>
              <a:lumOff val="40000"/>
            </a:schemeClr>
          </a:solidFill>
          <a:ln w="9525" cap="flat" cmpd="sng" algn="ctr">
            <a:noFill/>
            <a:prstDash val="solid"/>
            <a:round/>
            <a:headEnd type="none" w="med" len="med"/>
            <a:tailEnd type="none" w="med" len="med"/>
          </a:ln>
          <a:effectLst/>
        </p:spPr>
        <p:txBody>
          <a:bodyPr lIns="82124" tIns="41061" rIns="82124" bIns="41061" anchor="ctr">
            <a:spAutoFit/>
          </a:bodyPr>
          <a:lstStyle/>
          <a:p>
            <a:pPr algn="ctr" defTabSz="814388">
              <a:defRPr/>
            </a:pPr>
            <a:endParaRPr lang="en-US">
              <a:ea typeface="+mn-ea"/>
              <a:cs typeface="+mn-cs"/>
            </a:endParaRPr>
          </a:p>
        </p:txBody>
      </p:sp>
      <p:sp>
        <p:nvSpPr>
          <p:cNvPr id="15" name="Down Arrow 14"/>
          <p:cNvSpPr/>
          <p:nvPr/>
        </p:nvSpPr>
        <p:spPr bwMode="auto">
          <a:xfrm>
            <a:off x="1806575" y="5502078"/>
            <a:ext cx="304800" cy="433021"/>
          </a:xfrm>
          <a:prstGeom prst="downArrow">
            <a:avLst/>
          </a:prstGeom>
          <a:solidFill>
            <a:schemeClr val="accent5">
              <a:lumMod val="60000"/>
              <a:lumOff val="40000"/>
            </a:schemeClr>
          </a:solidFill>
          <a:ln w="9525" cap="flat" cmpd="sng" algn="ctr">
            <a:noFill/>
            <a:prstDash val="solid"/>
            <a:round/>
            <a:headEnd type="none" w="med" len="med"/>
            <a:tailEnd type="none" w="med" len="med"/>
          </a:ln>
          <a:effectLst/>
        </p:spPr>
        <p:txBody>
          <a:bodyPr lIns="82124" tIns="41061" rIns="82124" bIns="41061" anchor="ctr">
            <a:spAutoFit/>
          </a:bodyPr>
          <a:lstStyle/>
          <a:p>
            <a:pPr algn="ctr" defTabSz="814388">
              <a:defRPr/>
            </a:pPr>
            <a:endParaRPr lang="en-US">
              <a:ea typeface="+mn-ea"/>
              <a:cs typeface="+mn-cs"/>
            </a:endParaRPr>
          </a:p>
        </p:txBody>
      </p:sp>
      <p:sp>
        <p:nvSpPr>
          <p:cNvPr id="16" name="Rectangle 14"/>
          <p:cNvSpPr>
            <a:spLocks noChangeArrowheads="1"/>
          </p:cNvSpPr>
          <p:nvPr/>
        </p:nvSpPr>
        <p:spPr bwMode="auto">
          <a:xfrm>
            <a:off x="3022600" y="4931926"/>
            <a:ext cx="216852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fr-FR" b="1" dirty="0"/>
              <a:t>SMART goals</a:t>
            </a:r>
            <a:endParaRPr lang="en-US" dirty="0"/>
          </a:p>
        </p:txBody>
      </p:sp>
    </p:spTree>
    <p:extLst>
      <p:ext uri="{BB962C8B-B14F-4D97-AF65-F5344CB8AC3E}">
        <p14:creationId xmlns:p14="http://schemas.microsoft.com/office/powerpoint/2010/main" val="1526098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Typical planning processes</a:t>
            </a:r>
          </a:p>
        </p:txBody>
      </p:sp>
      <p:sp>
        <p:nvSpPr>
          <p:cNvPr id="5" name="Rectangle 4"/>
          <p:cNvSpPr/>
          <p:nvPr/>
        </p:nvSpPr>
        <p:spPr>
          <a:xfrm>
            <a:off x="6067601" y="4716370"/>
            <a:ext cx="1138008" cy="1011596"/>
          </a:xfrm>
          <a:prstGeom prst="rect">
            <a:avLst/>
          </a:prstGeom>
          <a:effectLst>
            <a:outerShdw blurRad="76200" dir="18900000" sy="23000" kx="-1200000" algn="bl" rotWithShape="0">
              <a:prstClr val="black">
                <a:alpha val="2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dirty="0">
                <a:solidFill>
                  <a:schemeClr val="bg1"/>
                </a:solidFill>
              </a:rPr>
              <a:t>ACTUALS</a:t>
            </a:r>
          </a:p>
        </p:txBody>
      </p:sp>
      <p:sp>
        <p:nvSpPr>
          <p:cNvPr id="12" name="Rectangle 11"/>
          <p:cNvSpPr/>
          <p:nvPr/>
        </p:nvSpPr>
        <p:spPr>
          <a:xfrm>
            <a:off x="3872388" y="4716370"/>
            <a:ext cx="1138008" cy="1011596"/>
          </a:xfrm>
          <a:prstGeom prst="rect">
            <a:avLst/>
          </a:prstGeom>
          <a:effectLst>
            <a:outerShdw blurRad="76200" dir="18900000" sy="23000" kx="-1200000" algn="bl" rotWithShape="0">
              <a:prstClr val="black">
                <a:alpha val="2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dirty="0">
                <a:solidFill>
                  <a:schemeClr val="bg1"/>
                </a:solidFill>
              </a:rPr>
              <a:t>BUDGET</a:t>
            </a:r>
          </a:p>
          <a:p>
            <a:pPr algn="ctr"/>
            <a:r>
              <a:rPr lang="en-US" sz="1400" dirty="0"/>
              <a:t>1 year</a:t>
            </a:r>
          </a:p>
        </p:txBody>
      </p:sp>
      <p:sp>
        <p:nvSpPr>
          <p:cNvPr id="14" name="Rectangle 13"/>
          <p:cNvSpPr/>
          <p:nvPr/>
        </p:nvSpPr>
        <p:spPr>
          <a:xfrm>
            <a:off x="1613620" y="4716370"/>
            <a:ext cx="1138008" cy="1011596"/>
          </a:xfrm>
          <a:prstGeom prst="rect">
            <a:avLst/>
          </a:prstGeom>
          <a:effectLst>
            <a:outerShdw blurRad="76200" dir="18900000" sy="23000" kx="-1200000" algn="bl" rotWithShape="0">
              <a:prstClr val="black">
                <a:alpha val="20000"/>
              </a:prstClr>
            </a:outerShdw>
          </a:effectLst>
          <a:scene3d>
            <a:camera prst="obliqueTopRight"/>
            <a:lightRig rig="flat" dir="tl">
              <a:rot lat="0" lon="0" rev="6360000"/>
            </a:lightRig>
          </a:scene3d>
          <a:sp3d contourW="19050" prstMaterial="flat">
            <a:bevelT w="63500" h="63500"/>
            <a:contourClr>
              <a:schemeClr val="accent5">
                <a:shade val="25000"/>
                <a:satMod val="180000"/>
              </a:schemeClr>
            </a:contourClr>
          </a:sp3d>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dirty="0">
                <a:solidFill>
                  <a:schemeClr val="bg1"/>
                </a:solidFill>
              </a:rPr>
              <a:t>IT PLAN</a:t>
            </a:r>
          </a:p>
          <a:p>
            <a:pPr algn="ctr"/>
            <a:r>
              <a:rPr lang="en-US" sz="1400" dirty="0"/>
              <a:t>1 to 3 years</a:t>
            </a:r>
          </a:p>
        </p:txBody>
      </p:sp>
      <p:pic>
        <p:nvPicPr>
          <p:cNvPr id="4" name="Picture 3"/>
          <p:cNvPicPr>
            <a:picLocks noChangeAspect="1"/>
          </p:cNvPicPr>
          <p:nvPr/>
        </p:nvPicPr>
        <p:blipFill>
          <a:blip r:embed="rId2"/>
          <a:stretch>
            <a:fillRect/>
          </a:stretch>
        </p:blipFill>
        <p:spPr>
          <a:xfrm>
            <a:off x="344877" y="2817194"/>
            <a:ext cx="2046956" cy="934859"/>
          </a:xfrm>
          <a:prstGeom prst="rect">
            <a:avLst/>
          </a:prstGeom>
        </p:spPr>
      </p:pic>
      <p:pic>
        <p:nvPicPr>
          <p:cNvPr id="18" name="Picture 17"/>
          <p:cNvPicPr>
            <a:picLocks noChangeAspect="1"/>
          </p:cNvPicPr>
          <p:nvPr/>
        </p:nvPicPr>
        <p:blipFill>
          <a:blip r:embed="rId2"/>
          <a:stretch>
            <a:fillRect/>
          </a:stretch>
        </p:blipFill>
        <p:spPr>
          <a:xfrm>
            <a:off x="2515188" y="2817194"/>
            <a:ext cx="2046956" cy="934859"/>
          </a:xfrm>
          <a:prstGeom prst="rect">
            <a:avLst/>
          </a:prstGeom>
        </p:spPr>
      </p:pic>
      <p:pic>
        <p:nvPicPr>
          <p:cNvPr id="19" name="Picture 18"/>
          <p:cNvPicPr>
            <a:picLocks noChangeAspect="1"/>
          </p:cNvPicPr>
          <p:nvPr/>
        </p:nvPicPr>
        <p:blipFill>
          <a:blip r:embed="rId2"/>
          <a:stretch>
            <a:fillRect/>
          </a:stretch>
        </p:blipFill>
        <p:spPr>
          <a:xfrm>
            <a:off x="4685499" y="2817194"/>
            <a:ext cx="2046956" cy="934859"/>
          </a:xfrm>
          <a:prstGeom prst="rect">
            <a:avLst/>
          </a:prstGeom>
        </p:spPr>
      </p:pic>
      <p:pic>
        <p:nvPicPr>
          <p:cNvPr id="20" name="Picture 19"/>
          <p:cNvPicPr>
            <a:picLocks noChangeAspect="1"/>
          </p:cNvPicPr>
          <p:nvPr/>
        </p:nvPicPr>
        <p:blipFill>
          <a:blip r:embed="rId2"/>
          <a:stretch>
            <a:fillRect/>
          </a:stretch>
        </p:blipFill>
        <p:spPr>
          <a:xfrm>
            <a:off x="6855810" y="2817194"/>
            <a:ext cx="2046956" cy="934859"/>
          </a:xfrm>
          <a:prstGeom prst="rect">
            <a:avLst/>
          </a:prstGeom>
        </p:spPr>
      </p:pic>
      <p:sp>
        <p:nvSpPr>
          <p:cNvPr id="6" name="TextBox 5"/>
          <p:cNvSpPr txBox="1"/>
          <p:nvPr/>
        </p:nvSpPr>
        <p:spPr>
          <a:xfrm>
            <a:off x="332426" y="2938698"/>
            <a:ext cx="1220238" cy="646331"/>
          </a:xfrm>
          <a:prstGeom prst="rect">
            <a:avLst/>
          </a:prstGeom>
          <a:noFill/>
        </p:spPr>
        <p:txBody>
          <a:bodyPr wrap="square" rtlCol="0">
            <a:spAutoFit/>
          </a:bodyPr>
          <a:lstStyle/>
          <a:p>
            <a:pPr algn="ctr"/>
            <a:r>
              <a:rPr lang="en-US" b="1" dirty="0"/>
              <a:t>Strategic Planning</a:t>
            </a:r>
          </a:p>
        </p:txBody>
      </p:sp>
      <p:sp>
        <p:nvSpPr>
          <p:cNvPr id="21" name="TextBox 20"/>
          <p:cNvSpPr txBox="1"/>
          <p:nvPr/>
        </p:nvSpPr>
        <p:spPr>
          <a:xfrm>
            <a:off x="2490286" y="2938698"/>
            <a:ext cx="1382102" cy="646331"/>
          </a:xfrm>
          <a:prstGeom prst="rect">
            <a:avLst/>
          </a:prstGeom>
          <a:noFill/>
        </p:spPr>
        <p:txBody>
          <a:bodyPr wrap="square" rtlCol="0">
            <a:spAutoFit/>
          </a:bodyPr>
          <a:lstStyle/>
          <a:p>
            <a:pPr algn="ctr"/>
            <a:r>
              <a:rPr lang="en-US" b="1" dirty="0">
                <a:solidFill>
                  <a:srgbClr val="000000"/>
                </a:solidFill>
              </a:rPr>
              <a:t>Planning &amp; Budgeting</a:t>
            </a:r>
          </a:p>
        </p:txBody>
      </p:sp>
      <p:sp>
        <p:nvSpPr>
          <p:cNvPr id="22" name="TextBox 21"/>
          <p:cNvSpPr txBox="1"/>
          <p:nvPr/>
        </p:nvSpPr>
        <p:spPr>
          <a:xfrm>
            <a:off x="4685499" y="2938698"/>
            <a:ext cx="1382102" cy="646331"/>
          </a:xfrm>
          <a:prstGeom prst="rect">
            <a:avLst/>
          </a:prstGeom>
          <a:noFill/>
        </p:spPr>
        <p:txBody>
          <a:bodyPr wrap="square" rtlCol="0">
            <a:spAutoFit/>
          </a:bodyPr>
          <a:lstStyle/>
          <a:p>
            <a:pPr algn="ctr"/>
            <a:r>
              <a:rPr lang="en-US" b="1" dirty="0">
                <a:solidFill>
                  <a:srgbClr val="000000"/>
                </a:solidFill>
              </a:rPr>
              <a:t>Cost </a:t>
            </a:r>
            <a:r>
              <a:rPr lang="en-US" b="1" dirty="0" err="1">
                <a:solidFill>
                  <a:srgbClr val="000000"/>
                </a:solidFill>
              </a:rPr>
              <a:t>Mgt</a:t>
            </a:r>
            <a:r>
              <a:rPr lang="en-US" b="1" dirty="0">
                <a:solidFill>
                  <a:srgbClr val="000000"/>
                </a:solidFill>
              </a:rPr>
              <a:t> &amp; Forecasting</a:t>
            </a:r>
          </a:p>
        </p:txBody>
      </p:sp>
      <p:sp>
        <p:nvSpPr>
          <p:cNvPr id="23" name="TextBox 22"/>
          <p:cNvSpPr txBox="1"/>
          <p:nvPr/>
        </p:nvSpPr>
        <p:spPr>
          <a:xfrm>
            <a:off x="6855810" y="3061104"/>
            <a:ext cx="1382102" cy="369332"/>
          </a:xfrm>
          <a:prstGeom prst="rect">
            <a:avLst/>
          </a:prstGeom>
          <a:noFill/>
        </p:spPr>
        <p:txBody>
          <a:bodyPr wrap="square" rtlCol="0">
            <a:spAutoFit/>
          </a:bodyPr>
          <a:lstStyle/>
          <a:p>
            <a:pPr algn="ctr"/>
            <a:r>
              <a:rPr lang="en-US" b="1" dirty="0">
                <a:solidFill>
                  <a:srgbClr val="000000"/>
                </a:solidFill>
              </a:rPr>
              <a:t>Chargeback</a:t>
            </a:r>
          </a:p>
        </p:txBody>
      </p:sp>
      <p:sp>
        <p:nvSpPr>
          <p:cNvPr id="8" name="Right Brace 7"/>
          <p:cNvSpPr/>
          <p:nvPr/>
        </p:nvSpPr>
        <p:spPr>
          <a:xfrm rot="5400000">
            <a:off x="1524685" y="3193432"/>
            <a:ext cx="760756" cy="1942419"/>
          </a:xfrm>
          <a:prstGeom prst="rightBrace">
            <a:avLst>
              <a:gd name="adj1" fmla="val 8333"/>
              <a:gd name="adj2" fmla="val 39103"/>
            </a:avLst>
          </a:prstGeom>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24" name="Right Brace 23"/>
          <p:cNvSpPr/>
          <p:nvPr/>
        </p:nvSpPr>
        <p:spPr>
          <a:xfrm rot="5400000">
            <a:off x="3880984" y="3193430"/>
            <a:ext cx="760756" cy="1942419"/>
          </a:xfrm>
          <a:prstGeom prst="rightBrace">
            <a:avLst>
              <a:gd name="adj1" fmla="val 8333"/>
              <a:gd name="adj2" fmla="val 39744"/>
            </a:avLst>
          </a:prstGeom>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25" name="Right Brace 24"/>
          <p:cNvSpPr/>
          <p:nvPr/>
        </p:nvSpPr>
        <p:spPr>
          <a:xfrm rot="5400000">
            <a:off x="6084884" y="3193429"/>
            <a:ext cx="760756" cy="1942419"/>
          </a:xfrm>
          <a:prstGeom prst="rightBrace">
            <a:avLst>
              <a:gd name="adj1" fmla="val 8333"/>
              <a:gd name="adj2" fmla="val 41667"/>
            </a:avLst>
          </a:prstGeom>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918008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a:buChar char="•"/>
            </a:pPr>
            <a:r>
              <a:rPr lang="en-US" dirty="0"/>
              <a:t>Planning contributes to the objectives</a:t>
            </a:r>
          </a:p>
          <a:p>
            <a:pPr>
              <a:buFont typeface="Arial"/>
              <a:buChar char="•"/>
            </a:pPr>
            <a:r>
              <a:rPr lang="en-US" dirty="0"/>
              <a:t>A continuous process</a:t>
            </a:r>
          </a:p>
          <a:p>
            <a:pPr>
              <a:buFont typeface="Arial"/>
              <a:buChar char="•"/>
            </a:pPr>
            <a:r>
              <a:rPr lang="en-US" dirty="0"/>
              <a:t>Planning is part of managerial activities</a:t>
            </a:r>
          </a:p>
        </p:txBody>
      </p:sp>
      <p:sp>
        <p:nvSpPr>
          <p:cNvPr id="3" name="Title 2"/>
          <p:cNvSpPr>
            <a:spLocks noGrp="1"/>
          </p:cNvSpPr>
          <p:nvPr>
            <p:ph type="title"/>
          </p:nvPr>
        </p:nvSpPr>
        <p:spPr/>
        <p:txBody>
          <a:bodyPr/>
          <a:lstStyle/>
          <a:p>
            <a:r>
              <a:rPr lang="en-US" dirty="0"/>
              <a:t>Planning</a:t>
            </a:r>
          </a:p>
        </p:txBody>
      </p:sp>
    </p:spTree>
    <p:extLst>
      <p:ext uri="{BB962C8B-B14F-4D97-AF65-F5344CB8AC3E}">
        <p14:creationId xmlns:p14="http://schemas.microsoft.com/office/powerpoint/2010/main" val="4274545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6572" y="2735602"/>
            <a:ext cx="8469085" cy="3784070"/>
          </a:xfrm>
        </p:spPr>
        <p:txBody>
          <a:bodyPr>
            <a:normAutofit/>
          </a:bodyPr>
          <a:lstStyle/>
          <a:p>
            <a:pPr marL="0" indent="0">
              <a:buNone/>
            </a:pPr>
            <a:r>
              <a:rPr lang="en-US" b="1" dirty="0"/>
              <a:t>A basic management function involving formulation of a detailed plan to achieve optimum balance of needs or demands with the available resources. </a:t>
            </a:r>
          </a:p>
          <a:p>
            <a:pPr marL="0" indent="0">
              <a:buNone/>
            </a:pPr>
            <a:endParaRPr lang="en-US" sz="1000" b="1" dirty="0"/>
          </a:p>
          <a:p>
            <a:pPr marL="0" indent="0">
              <a:buNone/>
            </a:pPr>
            <a:r>
              <a:rPr lang="en-US" b="1" dirty="0"/>
              <a:t>The planning process:</a:t>
            </a:r>
          </a:p>
          <a:p>
            <a:pPr lvl="1">
              <a:buFont typeface="Arial"/>
              <a:buChar char="•"/>
            </a:pPr>
            <a:r>
              <a:rPr lang="en-US" b="1" dirty="0"/>
              <a:t>Identifies the goals or objectives to be achieved</a:t>
            </a:r>
          </a:p>
          <a:p>
            <a:pPr lvl="1">
              <a:buFont typeface="Arial"/>
              <a:buChar char="•"/>
            </a:pPr>
            <a:r>
              <a:rPr lang="en-US" b="1" dirty="0"/>
              <a:t>Formulates strategies to achieve them</a:t>
            </a:r>
          </a:p>
          <a:p>
            <a:pPr lvl="1">
              <a:buFont typeface="Arial"/>
              <a:buChar char="•"/>
            </a:pPr>
            <a:r>
              <a:rPr lang="en-US" b="1" dirty="0"/>
              <a:t>Arranges or creates the means required</a:t>
            </a:r>
          </a:p>
          <a:p>
            <a:pPr lvl="1">
              <a:buFont typeface="Arial"/>
              <a:buChar char="•"/>
            </a:pPr>
            <a:r>
              <a:rPr lang="en-US" b="1" dirty="0"/>
              <a:t>implements, directs, and monitors all steps in their proper sequence</a:t>
            </a:r>
          </a:p>
        </p:txBody>
      </p:sp>
      <p:sp>
        <p:nvSpPr>
          <p:cNvPr id="3" name="Title 2"/>
          <p:cNvSpPr>
            <a:spLocks noGrp="1"/>
          </p:cNvSpPr>
          <p:nvPr>
            <p:ph type="title"/>
          </p:nvPr>
        </p:nvSpPr>
        <p:spPr/>
        <p:txBody>
          <a:bodyPr/>
          <a:lstStyle/>
          <a:p>
            <a:r>
              <a:rPr lang="en-US" dirty="0"/>
              <a:t>Possible definition of planning</a:t>
            </a:r>
          </a:p>
        </p:txBody>
      </p:sp>
    </p:spTree>
    <p:extLst>
      <p:ext uri="{BB962C8B-B14F-4D97-AF65-F5344CB8AC3E}">
        <p14:creationId xmlns:p14="http://schemas.microsoft.com/office/powerpoint/2010/main" val="156280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7153" y="2711057"/>
            <a:ext cx="8837990" cy="4146944"/>
          </a:xfrm>
        </p:spPr>
        <p:txBody>
          <a:bodyPr>
            <a:normAutofit fontScale="77500" lnSpcReduction="20000"/>
          </a:bodyPr>
          <a:lstStyle/>
          <a:p>
            <a:pPr>
              <a:buFont typeface="Arial"/>
              <a:buChar char="•"/>
            </a:pPr>
            <a:r>
              <a:rPr lang="en-US" sz="2600" b="1" dirty="0"/>
              <a:t>It means determining the organization's goals and defining the means for achieving them. </a:t>
            </a:r>
          </a:p>
          <a:p>
            <a:pPr>
              <a:buFont typeface="Arial"/>
              <a:buChar char="•"/>
            </a:pPr>
            <a:endParaRPr lang="en-US" sz="1400" b="1" dirty="0"/>
          </a:p>
          <a:p>
            <a:pPr>
              <a:buFont typeface="Arial"/>
              <a:buChar char="•"/>
            </a:pPr>
            <a:r>
              <a:rPr lang="en-US" sz="2600" b="1" dirty="0"/>
              <a:t>In short, planning is preparing for tomorrow, today. It's the activity that allows managers to determine what they want and how they will achieve it.</a:t>
            </a:r>
          </a:p>
          <a:p>
            <a:pPr>
              <a:buFont typeface="Arial"/>
              <a:buChar char="•"/>
            </a:pPr>
            <a:endParaRPr lang="en-US" sz="1300" b="1" dirty="0"/>
          </a:p>
          <a:p>
            <a:pPr>
              <a:buFont typeface="Arial"/>
              <a:buChar char="•"/>
            </a:pPr>
            <a:r>
              <a:rPr lang="en-US" sz="2600" b="1" dirty="0"/>
              <a:t>Not only does planning provide direction and a unity of purpose for organizations, it also answers six basic questions in regard to any activity:</a:t>
            </a:r>
          </a:p>
          <a:p>
            <a:pPr marL="759143" lvl="1" indent="-457200">
              <a:buFont typeface="+mj-lt"/>
              <a:buAutoNum type="arabicPeriod"/>
            </a:pPr>
            <a:r>
              <a:rPr lang="en-US" b="1" dirty="0"/>
              <a:t>What needs to be accomplished?</a:t>
            </a:r>
          </a:p>
          <a:p>
            <a:pPr marL="759143" lvl="1" indent="-457200">
              <a:buFont typeface="+mj-lt"/>
              <a:buAutoNum type="arabicPeriod"/>
            </a:pPr>
            <a:r>
              <a:rPr lang="en-US" b="1" dirty="0"/>
              <a:t>When is the deadline?</a:t>
            </a:r>
          </a:p>
          <a:p>
            <a:pPr marL="759143" lvl="1" indent="-457200">
              <a:buFont typeface="+mj-lt"/>
              <a:buAutoNum type="arabicPeriod"/>
            </a:pPr>
            <a:r>
              <a:rPr lang="en-US" b="1" dirty="0"/>
              <a:t>Where will this be done?</a:t>
            </a:r>
          </a:p>
          <a:p>
            <a:pPr marL="759143" lvl="1" indent="-457200">
              <a:buFont typeface="+mj-lt"/>
              <a:buAutoNum type="arabicPeriod"/>
            </a:pPr>
            <a:r>
              <a:rPr lang="en-US" b="1" dirty="0"/>
              <a:t>Who will be responsible for it?</a:t>
            </a:r>
          </a:p>
          <a:p>
            <a:pPr marL="759143" lvl="1" indent="-457200">
              <a:buFont typeface="+mj-lt"/>
              <a:buAutoNum type="arabicPeriod"/>
            </a:pPr>
            <a:r>
              <a:rPr lang="en-US" b="1" dirty="0"/>
              <a:t>How will it get done?</a:t>
            </a:r>
          </a:p>
          <a:p>
            <a:pPr marL="759143" lvl="1" indent="-457200">
              <a:buFont typeface="+mj-lt"/>
              <a:buAutoNum type="arabicPeriod"/>
            </a:pPr>
            <a:r>
              <a:rPr lang="en-US" b="1" dirty="0"/>
              <a:t>How much time, energy, and resources are required to accomplish this goal?</a:t>
            </a:r>
          </a:p>
        </p:txBody>
      </p:sp>
      <p:sp>
        <p:nvSpPr>
          <p:cNvPr id="3" name="Title 2"/>
          <p:cNvSpPr>
            <a:spLocks noGrp="1"/>
          </p:cNvSpPr>
          <p:nvPr>
            <p:ph type="title"/>
          </p:nvPr>
        </p:nvSpPr>
        <p:spPr/>
        <p:txBody>
          <a:bodyPr/>
          <a:lstStyle/>
          <a:p>
            <a:r>
              <a:rPr lang="en-US" dirty="0"/>
              <a:t>Possible definition of planning</a:t>
            </a:r>
          </a:p>
        </p:txBody>
      </p:sp>
    </p:spTree>
    <p:extLst>
      <p:ext uri="{BB962C8B-B14F-4D97-AF65-F5344CB8AC3E}">
        <p14:creationId xmlns:p14="http://schemas.microsoft.com/office/powerpoint/2010/main" val="12100466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Arial"/>
              <a:buChar char="•"/>
            </a:pPr>
            <a:r>
              <a:rPr lang="en-US" dirty="0"/>
              <a:t>Strategic alignment</a:t>
            </a:r>
            <a:endParaRPr lang="en-US" dirty="0">
              <a:latin typeface="Calibri" charset="0"/>
              <a:cs typeface="Lucida Sans Unicode" charset="0"/>
            </a:endParaRPr>
          </a:p>
          <a:p>
            <a:pPr>
              <a:buFont typeface="Arial"/>
              <a:buChar char="•"/>
            </a:pPr>
            <a:r>
              <a:rPr lang="en-US" dirty="0">
                <a:latin typeface="Calibri" charset="0"/>
                <a:cs typeface="Lucida Sans Unicode" charset="0"/>
              </a:rPr>
              <a:t>Improved decision making</a:t>
            </a:r>
          </a:p>
          <a:p>
            <a:pPr>
              <a:buFont typeface="Arial"/>
              <a:buChar char="•"/>
            </a:pPr>
            <a:r>
              <a:rPr lang="en-US" dirty="0">
                <a:latin typeface="Calibri" charset="0"/>
                <a:cs typeface="Lucida Sans Unicode" charset="0"/>
              </a:rPr>
              <a:t>Reduced risks</a:t>
            </a:r>
          </a:p>
          <a:p>
            <a:pPr>
              <a:buFont typeface="Arial"/>
              <a:buChar char="•"/>
            </a:pPr>
            <a:r>
              <a:rPr lang="en-US" dirty="0">
                <a:latin typeface="Calibri" charset="0"/>
                <a:cs typeface="Lucida Sans Unicode" charset="0"/>
              </a:rPr>
              <a:t>Increased return on investment</a:t>
            </a:r>
          </a:p>
          <a:p>
            <a:pPr>
              <a:buFont typeface="Arial"/>
              <a:buChar char="•"/>
            </a:pPr>
            <a:r>
              <a:rPr lang="en-US" dirty="0">
                <a:latin typeface="Calibri" charset="0"/>
                <a:cs typeface="Lucida Sans Unicode" charset="0"/>
              </a:rPr>
              <a:t>Optimized resource allocation and workload</a:t>
            </a:r>
          </a:p>
        </p:txBody>
      </p:sp>
      <p:sp>
        <p:nvSpPr>
          <p:cNvPr id="3" name="Title 2"/>
          <p:cNvSpPr>
            <a:spLocks noGrp="1"/>
          </p:cNvSpPr>
          <p:nvPr>
            <p:ph type="title"/>
          </p:nvPr>
        </p:nvSpPr>
        <p:spPr/>
        <p:txBody>
          <a:bodyPr>
            <a:normAutofit/>
          </a:bodyPr>
          <a:lstStyle/>
          <a:p>
            <a:r>
              <a:rPr lang="en-US" dirty="0">
                <a:latin typeface="Calibri" charset="0"/>
                <a:cs typeface="Lucida Sans Unicode" charset="0"/>
              </a:rPr>
              <a:t>Benefits of planning</a:t>
            </a:r>
            <a:endParaRPr lang="en-US" dirty="0"/>
          </a:p>
        </p:txBody>
      </p:sp>
    </p:spTree>
    <p:extLst>
      <p:ext uri="{BB962C8B-B14F-4D97-AF65-F5344CB8AC3E}">
        <p14:creationId xmlns:p14="http://schemas.microsoft.com/office/powerpoint/2010/main" val="28542578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Budget process</a:t>
            </a:r>
          </a:p>
        </p:txBody>
      </p:sp>
      <p:sp>
        <p:nvSpPr>
          <p:cNvPr id="5" name="Rectangle 4"/>
          <p:cNvSpPr/>
          <p:nvPr/>
        </p:nvSpPr>
        <p:spPr>
          <a:xfrm>
            <a:off x="6231661" y="4569923"/>
            <a:ext cx="1556426" cy="12701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3. Secure and Allocate Resources</a:t>
            </a:r>
          </a:p>
          <a:p>
            <a:pPr algn="ctr"/>
            <a:r>
              <a:rPr lang="en-US" sz="1400" dirty="0"/>
              <a:t>To achieve the planned goals</a:t>
            </a:r>
          </a:p>
        </p:txBody>
      </p:sp>
      <p:sp>
        <p:nvSpPr>
          <p:cNvPr id="11" name="Rectangle 10"/>
          <p:cNvSpPr/>
          <p:nvPr/>
        </p:nvSpPr>
        <p:spPr>
          <a:xfrm>
            <a:off x="6231661" y="3044262"/>
            <a:ext cx="1556426" cy="12701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2. Plan</a:t>
            </a:r>
          </a:p>
          <a:p>
            <a:pPr algn="ctr"/>
            <a:r>
              <a:rPr lang="en-US" sz="1400" dirty="0"/>
              <a:t>The activity in a realistic and focused manner</a:t>
            </a:r>
          </a:p>
        </p:txBody>
      </p:sp>
      <p:sp>
        <p:nvSpPr>
          <p:cNvPr id="12" name="Rectangle 11"/>
          <p:cNvSpPr/>
          <p:nvPr/>
        </p:nvSpPr>
        <p:spPr>
          <a:xfrm>
            <a:off x="3648254" y="5432095"/>
            <a:ext cx="1556426" cy="12701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4. Implement</a:t>
            </a:r>
          </a:p>
          <a:p>
            <a:pPr algn="ctr"/>
            <a:r>
              <a:rPr lang="en-US" sz="1400" dirty="0"/>
              <a:t>The planned activity</a:t>
            </a:r>
          </a:p>
        </p:txBody>
      </p:sp>
      <p:sp>
        <p:nvSpPr>
          <p:cNvPr id="13" name="Rectangle 12"/>
          <p:cNvSpPr/>
          <p:nvPr/>
        </p:nvSpPr>
        <p:spPr>
          <a:xfrm>
            <a:off x="3648254" y="2209972"/>
            <a:ext cx="1556426" cy="12701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1. Review</a:t>
            </a:r>
          </a:p>
          <a:p>
            <a:pPr algn="ctr"/>
            <a:r>
              <a:rPr lang="en-US" sz="1400" dirty="0"/>
              <a:t>The previous planning period</a:t>
            </a:r>
          </a:p>
        </p:txBody>
      </p:sp>
      <p:sp>
        <p:nvSpPr>
          <p:cNvPr id="14" name="Rectangle 13"/>
          <p:cNvSpPr/>
          <p:nvPr/>
        </p:nvSpPr>
        <p:spPr>
          <a:xfrm>
            <a:off x="954989" y="4557471"/>
            <a:ext cx="1556426" cy="12701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5. Monitor</a:t>
            </a:r>
          </a:p>
          <a:p>
            <a:pPr algn="ctr"/>
            <a:r>
              <a:rPr lang="en-US" sz="1400" dirty="0"/>
              <a:t>The activity</a:t>
            </a:r>
          </a:p>
        </p:txBody>
      </p:sp>
      <p:sp>
        <p:nvSpPr>
          <p:cNvPr id="15" name="Rectangle 14"/>
          <p:cNvSpPr/>
          <p:nvPr/>
        </p:nvSpPr>
        <p:spPr>
          <a:xfrm>
            <a:off x="954989" y="3044261"/>
            <a:ext cx="1556426" cy="12701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6. Evaluate</a:t>
            </a:r>
          </a:p>
          <a:p>
            <a:pPr algn="ctr"/>
            <a:r>
              <a:rPr lang="en-US" sz="1400" dirty="0"/>
              <a:t>The effectiveness of the activity, feeding into future plans</a:t>
            </a:r>
          </a:p>
        </p:txBody>
      </p:sp>
      <p:cxnSp>
        <p:nvCxnSpPr>
          <p:cNvPr id="43" name="Elbow Connector 42"/>
          <p:cNvCxnSpPr>
            <a:stCxn id="5" idx="2"/>
            <a:endCxn id="12" idx="3"/>
          </p:cNvCxnSpPr>
          <p:nvPr/>
        </p:nvCxnSpPr>
        <p:spPr>
          <a:xfrm rot="5400000">
            <a:off x="5993720" y="5050998"/>
            <a:ext cx="227115" cy="1805194"/>
          </a:xfrm>
          <a:prstGeom prst="bentConnector2">
            <a:avLst/>
          </a:prstGeom>
          <a:ln>
            <a:solidFill>
              <a:srgbClr val="7F7F7F"/>
            </a:solidFill>
            <a:tailEnd type="arrow"/>
          </a:ln>
        </p:spPr>
        <p:style>
          <a:lnRef idx="2">
            <a:schemeClr val="accent1"/>
          </a:lnRef>
          <a:fillRef idx="0">
            <a:schemeClr val="accent1"/>
          </a:fillRef>
          <a:effectRef idx="1">
            <a:schemeClr val="accent1"/>
          </a:effectRef>
          <a:fontRef idx="minor">
            <a:schemeClr val="tx1"/>
          </a:fontRef>
        </p:style>
      </p:cxnSp>
      <p:cxnSp>
        <p:nvCxnSpPr>
          <p:cNvPr id="45" name="Elbow Connector 44"/>
          <p:cNvCxnSpPr>
            <a:stCxn id="13" idx="3"/>
            <a:endCxn id="11" idx="0"/>
          </p:cNvCxnSpPr>
          <p:nvPr/>
        </p:nvCxnSpPr>
        <p:spPr>
          <a:xfrm>
            <a:off x="5204680" y="2845030"/>
            <a:ext cx="1805194" cy="199232"/>
          </a:xfrm>
          <a:prstGeom prst="bentConnector2">
            <a:avLst/>
          </a:prstGeom>
          <a:ln>
            <a:solidFill>
              <a:srgbClr val="7F7F7F"/>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11" idx="2"/>
            <a:endCxn id="5" idx="0"/>
          </p:cNvCxnSpPr>
          <p:nvPr/>
        </p:nvCxnSpPr>
        <p:spPr>
          <a:xfrm>
            <a:off x="7009874" y="4314377"/>
            <a:ext cx="0" cy="255546"/>
          </a:xfrm>
          <a:prstGeom prst="straightConnector1">
            <a:avLst/>
          </a:prstGeom>
          <a:ln>
            <a:solidFill>
              <a:srgbClr val="7F7F7F"/>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14" idx="0"/>
            <a:endCxn id="15" idx="2"/>
          </p:cNvCxnSpPr>
          <p:nvPr/>
        </p:nvCxnSpPr>
        <p:spPr>
          <a:xfrm flipV="1">
            <a:off x="1733202" y="4314376"/>
            <a:ext cx="0" cy="243095"/>
          </a:xfrm>
          <a:prstGeom prst="straightConnector1">
            <a:avLst/>
          </a:prstGeom>
          <a:ln>
            <a:solidFill>
              <a:srgbClr val="7F7F7F"/>
            </a:solidFill>
            <a:tailEnd type="arrow"/>
          </a:ln>
        </p:spPr>
        <p:style>
          <a:lnRef idx="2">
            <a:schemeClr val="accent1"/>
          </a:lnRef>
          <a:fillRef idx="0">
            <a:schemeClr val="accent1"/>
          </a:fillRef>
          <a:effectRef idx="1">
            <a:schemeClr val="accent1"/>
          </a:effectRef>
          <a:fontRef idx="minor">
            <a:schemeClr val="tx1"/>
          </a:fontRef>
        </p:style>
      </p:cxnSp>
      <p:cxnSp>
        <p:nvCxnSpPr>
          <p:cNvPr id="52" name="Elbow Connector 51"/>
          <p:cNvCxnSpPr>
            <a:stCxn id="15" idx="0"/>
            <a:endCxn id="13" idx="1"/>
          </p:cNvCxnSpPr>
          <p:nvPr/>
        </p:nvCxnSpPr>
        <p:spPr>
          <a:xfrm rot="5400000" flipH="1" flipV="1">
            <a:off x="2591113" y="1987120"/>
            <a:ext cx="199231" cy="1915052"/>
          </a:xfrm>
          <a:prstGeom prst="bentConnector2">
            <a:avLst/>
          </a:prstGeom>
          <a:ln>
            <a:solidFill>
              <a:srgbClr val="7F7F7F"/>
            </a:solidFill>
            <a:tailEnd type="arrow"/>
          </a:ln>
        </p:spPr>
        <p:style>
          <a:lnRef idx="2">
            <a:schemeClr val="accent1"/>
          </a:lnRef>
          <a:fillRef idx="0">
            <a:schemeClr val="accent1"/>
          </a:fillRef>
          <a:effectRef idx="1">
            <a:schemeClr val="accent1"/>
          </a:effectRef>
          <a:fontRef idx="minor">
            <a:schemeClr val="tx1"/>
          </a:fontRef>
        </p:style>
      </p:cxnSp>
      <p:cxnSp>
        <p:nvCxnSpPr>
          <p:cNvPr id="54" name="Elbow Connector 53"/>
          <p:cNvCxnSpPr>
            <a:stCxn id="12" idx="1"/>
            <a:endCxn id="14" idx="2"/>
          </p:cNvCxnSpPr>
          <p:nvPr/>
        </p:nvCxnSpPr>
        <p:spPr>
          <a:xfrm rot="10800000">
            <a:off x="1733202" y="5827587"/>
            <a:ext cx="1915052" cy="239567"/>
          </a:xfrm>
          <a:prstGeom prst="bentConnector2">
            <a:avLst/>
          </a:prstGeom>
          <a:ln>
            <a:solidFill>
              <a:srgbClr val="7F7F7F"/>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1627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5167" y="2523067"/>
            <a:ext cx="8678333" cy="3318933"/>
          </a:xfrm>
        </p:spPr>
        <p:txBody>
          <a:bodyPr>
            <a:noAutofit/>
          </a:bodyPr>
          <a:lstStyle/>
          <a:p>
            <a:pPr marL="236538" indent="-236538" defTabSz="814388">
              <a:lnSpc>
                <a:spcPct val="95000"/>
              </a:lnSpc>
              <a:spcBef>
                <a:spcPct val="50000"/>
              </a:spcBef>
              <a:buFont typeface="Wingdings" charset="0"/>
              <a:buChar char="§"/>
            </a:pPr>
            <a:r>
              <a:rPr lang="fr-FR" b="1" dirty="0" err="1"/>
              <a:t>Starts</a:t>
            </a:r>
            <a:r>
              <a:rPr lang="fr-FR" b="1" dirty="0"/>
              <a:t> </a:t>
            </a:r>
            <a:r>
              <a:rPr lang="fr-FR" b="1" dirty="0" err="1"/>
              <a:t>with</a:t>
            </a:r>
            <a:r>
              <a:rPr lang="fr-FR" b="1" dirty="0"/>
              <a:t> Sales and Revenue </a:t>
            </a:r>
            <a:r>
              <a:rPr lang="fr-FR" b="1" dirty="0" err="1"/>
              <a:t>forecast</a:t>
            </a:r>
            <a:r>
              <a:rPr lang="fr-FR" b="1" dirty="0"/>
              <a:t> for the </a:t>
            </a:r>
            <a:r>
              <a:rPr lang="fr-FR" b="1" dirty="0" err="1"/>
              <a:t>coming</a:t>
            </a:r>
            <a:r>
              <a:rPr lang="fr-FR" b="1" dirty="0"/>
              <a:t> </a:t>
            </a:r>
            <a:r>
              <a:rPr lang="fr-FR" b="1" dirty="0" err="1"/>
              <a:t>year</a:t>
            </a:r>
            <a:r>
              <a:rPr lang="fr-FR" b="1" dirty="0"/>
              <a:t> :</a:t>
            </a:r>
          </a:p>
          <a:p>
            <a:pPr marL="693738" lvl="1" indent="-236538" defTabSz="814388">
              <a:lnSpc>
                <a:spcPct val="95000"/>
              </a:lnSpc>
              <a:spcBef>
                <a:spcPts val="800"/>
              </a:spcBef>
              <a:buFont typeface="Lucida Grande" charset="0"/>
              <a:buChar char="-"/>
            </a:pPr>
            <a:r>
              <a:rPr lang="fr-FR" sz="1800" b="1" dirty="0"/>
              <a:t>Must </a:t>
            </a:r>
            <a:r>
              <a:rPr lang="fr-FR" sz="1800" b="1" dirty="0" err="1"/>
              <a:t>involve</a:t>
            </a:r>
            <a:r>
              <a:rPr lang="fr-FR" sz="1800" b="1" dirty="0"/>
              <a:t> people in the </a:t>
            </a:r>
            <a:r>
              <a:rPr lang="fr-FR" sz="1800" b="1" dirty="0" err="1"/>
              <a:t>field</a:t>
            </a:r>
            <a:r>
              <a:rPr lang="fr-FR" sz="1800" b="1" dirty="0"/>
              <a:t> plus </a:t>
            </a:r>
            <a:r>
              <a:rPr lang="fr-FR" sz="1800" b="1" dirty="0" err="1"/>
              <a:t>some</a:t>
            </a:r>
            <a:r>
              <a:rPr lang="fr-FR" sz="1800" b="1" dirty="0"/>
              <a:t> </a:t>
            </a:r>
            <a:r>
              <a:rPr lang="fr-FR" sz="1800" b="1" dirty="0" err="1"/>
              <a:t>market</a:t>
            </a:r>
            <a:r>
              <a:rPr lang="fr-FR" sz="1800" b="1" dirty="0"/>
              <a:t> </a:t>
            </a:r>
            <a:r>
              <a:rPr lang="fr-FR" sz="1800" b="1" dirty="0" err="1"/>
              <a:t>analysts</a:t>
            </a:r>
            <a:r>
              <a:rPr lang="fr-FR" sz="1800" b="1" dirty="0"/>
              <a:t> </a:t>
            </a:r>
          </a:p>
          <a:p>
            <a:pPr marL="693738" lvl="1" indent="-236538" defTabSz="814388">
              <a:lnSpc>
                <a:spcPct val="95000"/>
              </a:lnSpc>
              <a:spcBef>
                <a:spcPts val="800"/>
              </a:spcBef>
              <a:buFont typeface="Lucida Grande" charset="0"/>
              <a:buChar char="-"/>
            </a:pPr>
            <a:r>
              <a:rPr lang="fr-FR" sz="1800" b="1" dirty="0"/>
              <a:t>Look </a:t>
            </a:r>
            <a:r>
              <a:rPr lang="fr-FR" sz="1800" b="1" dirty="0" err="1"/>
              <a:t>at</a:t>
            </a:r>
            <a:r>
              <a:rPr lang="fr-FR" sz="1800" b="1" dirty="0"/>
              <a:t> the </a:t>
            </a:r>
            <a:r>
              <a:rPr lang="fr-FR" sz="1800" b="1" dirty="0" err="1"/>
              <a:t>big</a:t>
            </a:r>
            <a:r>
              <a:rPr lang="fr-FR" sz="1800" b="1" dirty="0"/>
              <a:t> </a:t>
            </a:r>
            <a:r>
              <a:rPr lang="fr-FR" sz="1800" b="1" dirty="0" err="1"/>
              <a:t>customers</a:t>
            </a:r>
            <a:r>
              <a:rPr lang="fr-FR" sz="1800" b="1" dirty="0"/>
              <a:t> and </a:t>
            </a:r>
            <a:r>
              <a:rPr lang="fr-FR" sz="1800" b="1" dirty="0" err="1"/>
              <a:t>their</a:t>
            </a:r>
            <a:r>
              <a:rPr lang="fr-FR" sz="1800" b="1" dirty="0"/>
              <a:t> </a:t>
            </a:r>
            <a:r>
              <a:rPr lang="fr-FR" sz="1800" b="1" dirty="0" err="1"/>
              <a:t>buying</a:t>
            </a:r>
            <a:r>
              <a:rPr lang="fr-FR" sz="1800" b="1" dirty="0"/>
              <a:t> intentions for the </a:t>
            </a:r>
            <a:r>
              <a:rPr lang="fr-FR" sz="1800" b="1" dirty="0" err="1"/>
              <a:t>coming</a:t>
            </a:r>
            <a:r>
              <a:rPr lang="fr-FR" sz="1800" b="1" dirty="0"/>
              <a:t> </a:t>
            </a:r>
            <a:r>
              <a:rPr lang="fr-FR" sz="1800" b="1" dirty="0" err="1"/>
              <a:t>year</a:t>
            </a:r>
            <a:endParaRPr lang="fr-FR" sz="1800" b="1" dirty="0"/>
          </a:p>
          <a:p>
            <a:pPr marL="693738" lvl="1" indent="-236538" defTabSz="814388">
              <a:lnSpc>
                <a:spcPct val="95000"/>
              </a:lnSpc>
              <a:spcBef>
                <a:spcPts val="800"/>
              </a:spcBef>
              <a:buFont typeface="Lucida Grande" charset="0"/>
              <a:buChar char="-"/>
            </a:pPr>
            <a:r>
              <a:rPr lang="fr-FR" sz="1800" b="1" dirty="0"/>
              <a:t>Look </a:t>
            </a:r>
            <a:r>
              <a:rPr lang="fr-FR" sz="1800" b="1" dirty="0" err="1"/>
              <a:t>at</a:t>
            </a:r>
            <a:r>
              <a:rPr lang="fr-FR" sz="1800" b="1" dirty="0"/>
              <a:t> </a:t>
            </a:r>
            <a:r>
              <a:rPr lang="fr-FR" sz="1800" b="1" dirty="0" err="1"/>
              <a:t>historical</a:t>
            </a:r>
            <a:r>
              <a:rPr lang="fr-FR" sz="1800" b="1" dirty="0"/>
              <a:t> Sales trends</a:t>
            </a:r>
          </a:p>
          <a:p>
            <a:pPr marL="693738" lvl="1" indent="-236538" defTabSz="814388">
              <a:lnSpc>
                <a:spcPct val="95000"/>
              </a:lnSpc>
              <a:spcBef>
                <a:spcPts val="800"/>
              </a:spcBef>
              <a:buFont typeface="Lucida Grande" charset="0"/>
              <a:buChar char="-"/>
            </a:pPr>
            <a:r>
              <a:rPr lang="fr-FR" sz="1800" b="1" dirty="0" err="1"/>
              <a:t>Analyze</a:t>
            </a:r>
            <a:r>
              <a:rPr lang="fr-FR" sz="1800" b="1" dirty="0"/>
              <a:t> « adressable » </a:t>
            </a:r>
            <a:r>
              <a:rPr lang="fr-FR" sz="1800" b="1" dirty="0" err="1"/>
              <a:t>market</a:t>
            </a:r>
            <a:r>
              <a:rPr lang="fr-FR" sz="1800" b="1" dirty="0"/>
              <a:t> : </a:t>
            </a:r>
            <a:r>
              <a:rPr lang="fr-FR" sz="1800" b="1" dirty="0" err="1"/>
              <a:t>existing</a:t>
            </a:r>
            <a:r>
              <a:rPr lang="fr-FR" sz="1800" b="1" dirty="0"/>
              <a:t> </a:t>
            </a:r>
            <a:r>
              <a:rPr lang="fr-FR" sz="1800" b="1" dirty="0" err="1"/>
              <a:t>customers</a:t>
            </a:r>
            <a:r>
              <a:rPr lang="fr-FR" sz="1800" b="1" dirty="0"/>
              <a:t> and prospects</a:t>
            </a:r>
          </a:p>
          <a:p>
            <a:pPr marL="693738" lvl="1" indent="-236538" defTabSz="814388">
              <a:lnSpc>
                <a:spcPct val="95000"/>
              </a:lnSpc>
              <a:spcBef>
                <a:spcPts val="800"/>
              </a:spcBef>
              <a:buFont typeface="Lucida Grande" charset="0"/>
              <a:buChar char="-"/>
            </a:pPr>
            <a:r>
              <a:rPr lang="fr-FR" sz="1800" b="1" dirty="0" err="1"/>
              <a:t>Combination</a:t>
            </a:r>
            <a:r>
              <a:rPr lang="fr-FR" sz="1800" b="1" dirty="0"/>
              <a:t> of </a:t>
            </a:r>
            <a:r>
              <a:rPr lang="fr-FR" sz="1800" b="1" dirty="0" err="1"/>
              <a:t>above</a:t>
            </a:r>
            <a:r>
              <a:rPr lang="fr-FR" sz="1800" b="1" dirty="0"/>
              <a:t> </a:t>
            </a:r>
            <a:r>
              <a:rPr lang="fr-FR" sz="1800" b="1" dirty="0" err="1"/>
              <a:t>is</a:t>
            </a:r>
            <a:r>
              <a:rPr lang="fr-FR" sz="1800" b="1" dirty="0"/>
              <a:t> </a:t>
            </a:r>
            <a:r>
              <a:rPr lang="fr-FR" sz="1800" b="1" dirty="0" err="1"/>
              <a:t>likely</a:t>
            </a:r>
            <a:r>
              <a:rPr lang="fr-FR" sz="1800" b="1" dirty="0"/>
              <a:t> to </a:t>
            </a:r>
            <a:r>
              <a:rPr lang="fr-FR" sz="1800" b="1" dirty="0" err="1"/>
              <a:t>provide</a:t>
            </a:r>
            <a:r>
              <a:rPr lang="fr-FR" sz="1800" b="1" dirty="0"/>
              <a:t> </a:t>
            </a:r>
            <a:r>
              <a:rPr lang="fr-FR" sz="1800" b="1" dirty="0" err="1"/>
              <a:t>better</a:t>
            </a:r>
            <a:r>
              <a:rPr lang="fr-FR" sz="1800" b="1" dirty="0"/>
              <a:t> </a:t>
            </a:r>
            <a:r>
              <a:rPr lang="fr-FR" sz="1800" b="1" dirty="0" err="1"/>
              <a:t>resul</a:t>
            </a:r>
            <a:endParaRPr lang="fr-FR" sz="2000" b="1" dirty="0"/>
          </a:p>
          <a:p>
            <a:pPr marL="236538" indent="-236538" defTabSz="814388">
              <a:lnSpc>
                <a:spcPct val="95000"/>
              </a:lnSpc>
              <a:spcBef>
                <a:spcPct val="50000"/>
              </a:spcBef>
              <a:buFont typeface="Wingdings" charset="0"/>
              <a:buChar char="§"/>
            </a:pPr>
            <a:r>
              <a:rPr lang="fr-FR" b="1" dirty="0"/>
              <a:t>Plan must show </a:t>
            </a:r>
            <a:r>
              <a:rPr lang="fr-FR" b="1" dirty="0" err="1"/>
              <a:t>reasonable</a:t>
            </a:r>
            <a:r>
              <a:rPr lang="fr-FR" b="1" dirty="0"/>
              <a:t> balance </a:t>
            </a:r>
            <a:r>
              <a:rPr lang="fr-FR" b="1" dirty="0" err="1"/>
              <a:t>between</a:t>
            </a:r>
            <a:r>
              <a:rPr lang="fr-FR" b="1" dirty="0"/>
              <a:t> </a:t>
            </a:r>
            <a:r>
              <a:rPr lang="fr-FR" b="1" dirty="0" err="1"/>
              <a:t>aggressiveness</a:t>
            </a:r>
            <a:r>
              <a:rPr lang="fr-FR" b="1" dirty="0"/>
              <a:t> and </a:t>
            </a:r>
            <a:r>
              <a:rPr lang="fr-FR" b="1" dirty="0" err="1"/>
              <a:t>conservatism</a:t>
            </a:r>
            <a:r>
              <a:rPr lang="fr-FR" b="1" dirty="0"/>
              <a:t> and</a:t>
            </a:r>
          </a:p>
          <a:p>
            <a:pPr marL="693738" lvl="1" indent="-236538" defTabSz="814388">
              <a:lnSpc>
                <a:spcPct val="95000"/>
              </a:lnSpc>
              <a:spcBef>
                <a:spcPct val="50000"/>
              </a:spcBef>
              <a:buFont typeface="Lucida Grande" charset="0"/>
              <a:buChar char="-"/>
            </a:pPr>
            <a:r>
              <a:rPr lang="fr-FR" sz="1800" b="1" dirty="0"/>
              <a:t>…Be </a:t>
            </a:r>
            <a:r>
              <a:rPr lang="fr-FR" sz="1800" b="1" dirty="0" err="1"/>
              <a:t>accepted</a:t>
            </a:r>
            <a:r>
              <a:rPr lang="fr-FR" sz="1800" b="1" dirty="0"/>
              <a:t> by Sales people</a:t>
            </a:r>
          </a:p>
          <a:p>
            <a:pPr marL="693738" lvl="1" indent="-236538" defTabSz="814388">
              <a:lnSpc>
                <a:spcPct val="95000"/>
              </a:lnSpc>
              <a:spcBef>
                <a:spcPct val="50000"/>
              </a:spcBef>
              <a:buFont typeface="Lucida Grande" charset="0"/>
              <a:buChar char="-"/>
            </a:pPr>
            <a:r>
              <a:rPr lang="fr-FR" sz="1800" b="1" dirty="0"/>
              <a:t>…Be </a:t>
            </a:r>
            <a:r>
              <a:rPr lang="fr-FR" sz="1800" b="1" dirty="0" err="1"/>
              <a:t>supported</a:t>
            </a:r>
            <a:r>
              <a:rPr lang="fr-FR" sz="1800" b="1" dirty="0"/>
              <a:t> by </a:t>
            </a:r>
            <a:r>
              <a:rPr lang="fr-FR" sz="1800" b="1" dirty="0" err="1"/>
              <a:t>manufacturing</a:t>
            </a:r>
            <a:r>
              <a:rPr lang="fr-FR" sz="1800" b="1" dirty="0"/>
              <a:t> </a:t>
            </a:r>
            <a:r>
              <a:rPr lang="fr-FR" sz="1800" b="1" dirty="0" err="1"/>
              <a:t>capacity</a:t>
            </a:r>
            <a:endParaRPr lang="fr-FR" sz="1800" b="1" dirty="0"/>
          </a:p>
        </p:txBody>
      </p:sp>
      <p:sp>
        <p:nvSpPr>
          <p:cNvPr id="3" name="Title 2"/>
          <p:cNvSpPr>
            <a:spLocks noGrp="1"/>
          </p:cNvSpPr>
          <p:nvPr>
            <p:ph type="title"/>
          </p:nvPr>
        </p:nvSpPr>
        <p:spPr/>
        <p:txBody>
          <a:bodyPr>
            <a:normAutofit fontScale="90000"/>
          </a:bodyPr>
          <a:lstStyle/>
          <a:p>
            <a:r>
              <a:rPr lang="en-US" dirty="0"/>
              <a:t>IT budget is part of a larger “company budget”</a:t>
            </a:r>
          </a:p>
        </p:txBody>
      </p:sp>
    </p:spTree>
    <p:extLst>
      <p:ext uri="{BB962C8B-B14F-4D97-AF65-F5344CB8AC3E}">
        <p14:creationId xmlns:p14="http://schemas.microsoft.com/office/powerpoint/2010/main" val="6068396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5167" y="2383367"/>
            <a:ext cx="8678333" cy="3318933"/>
          </a:xfrm>
        </p:spPr>
        <p:txBody>
          <a:bodyPr>
            <a:noAutofit/>
          </a:bodyPr>
          <a:lstStyle/>
          <a:p>
            <a:pPr marL="236538" indent="-236538" defTabSz="814388">
              <a:lnSpc>
                <a:spcPct val="95000"/>
              </a:lnSpc>
              <a:spcBef>
                <a:spcPct val="50000"/>
              </a:spcBef>
              <a:buFont typeface="Wingdings" charset="0"/>
              <a:buChar char="§"/>
            </a:pPr>
            <a:r>
              <a:rPr lang="fr-FR" b="1" dirty="0"/>
              <a:t>Once Sales / Revenue </a:t>
            </a:r>
            <a:r>
              <a:rPr lang="fr-FR" b="1" dirty="0" err="1"/>
              <a:t>is</a:t>
            </a:r>
            <a:r>
              <a:rPr lang="fr-FR" b="1" dirty="0"/>
              <a:t> </a:t>
            </a:r>
            <a:r>
              <a:rPr lang="fr-FR" b="1" dirty="0" err="1"/>
              <a:t>determine</a:t>
            </a:r>
            <a:r>
              <a:rPr lang="fr-FR" b="1" dirty="0"/>
              <a:t>, </a:t>
            </a:r>
            <a:r>
              <a:rPr lang="fr-FR" b="1" dirty="0" err="1"/>
              <a:t>apply</a:t>
            </a:r>
            <a:r>
              <a:rPr lang="fr-FR" b="1" dirty="0"/>
              <a:t> </a:t>
            </a:r>
            <a:r>
              <a:rPr lang="fr-FR" b="1" dirty="0" err="1"/>
              <a:t>company’s</a:t>
            </a:r>
            <a:r>
              <a:rPr lang="fr-FR" b="1" dirty="0"/>
              <a:t> </a:t>
            </a:r>
            <a:r>
              <a:rPr lang="fr-FR" b="1" dirty="0" err="1"/>
              <a:t>financial</a:t>
            </a:r>
            <a:r>
              <a:rPr lang="fr-FR" b="1" dirty="0"/>
              <a:t> model to </a:t>
            </a:r>
            <a:r>
              <a:rPr lang="fr-FR" b="1" dirty="0" err="1"/>
              <a:t>get</a:t>
            </a:r>
            <a:r>
              <a:rPr lang="fr-FR" b="1" dirty="0"/>
              <a:t> the </a:t>
            </a:r>
            <a:r>
              <a:rPr lang="fr-FR" b="1" dirty="0" err="1"/>
              <a:t>rest</a:t>
            </a:r>
            <a:r>
              <a:rPr lang="fr-FR" b="1" dirty="0"/>
              <a:t> of the P&amp;L</a:t>
            </a:r>
          </a:p>
          <a:p>
            <a:pPr marL="693738" lvl="1" indent="-236538" defTabSz="814388">
              <a:lnSpc>
                <a:spcPct val="95000"/>
              </a:lnSpc>
              <a:spcBef>
                <a:spcPts val="800"/>
              </a:spcBef>
              <a:buFont typeface="Lucida Grande" charset="0"/>
              <a:buChar char="-"/>
            </a:pPr>
            <a:r>
              <a:rPr lang="fr-FR" sz="1800" b="1" dirty="0"/>
              <a:t>Gross profit</a:t>
            </a:r>
          </a:p>
          <a:p>
            <a:pPr marL="693738" lvl="1" indent="-236538" defTabSz="814388">
              <a:lnSpc>
                <a:spcPct val="95000"/>
              </a:lnSpc>
              <a:spcBef>
                <a:spcPts val="800"/>
              </a:spcBef>
              <a:buFont typeface="Lucida Grande" charset="0"/>
              <a:buChar char="-"/>
            </a:pPr>
            <a:r>
              <a:rPr lang="fr-FR" sz="1800" b="1" dirty="0"/>
              <a:t>% of </a:t>
            </a:r>
            <a:r>
              <a:rPr lang="fr-FR" sz="1800" b="1" dirty="0" err="1"/>
              <a:t>expenses</a:t>
            </a:r>
            <a:endParaRPr lang="fr-FR" sz="1800" b="1" dirty="0"/>
          </a:p>
          <a:p>
            <a:pPr marL="693738" lvl="1" indent="-236538" defTabSz="814388">
              <a:lnSpc>
                <a:spcPct val="95000"/>
              </a:lnSpc>
              <a:spcBef>
                <a:spcPts val="800"/>
              </a:spcBef>
              <a:buFont typeface="Lucida Grande" charset="0"/>
              <a:buChar char="-"/>
            </a:pPr>
            <a:r>
              <a:rPr lang="fr-FR" sz="1800" b="1" dirty="0"/>
              <a:t>Split of </a:t>
            </a:r>
            <a:r>
              <a:rPr lang="fr-FR" sz="1800" b="1" dirty="0" err="1"/>
              <a:t>expenses</a:t>
            </a:r>
            <a:r>
              <a:rPr lang="fr-FR" sz="1800" b="1" dirty="0"/>
              <a:t> : R&amp;D, Sales and Marketing, G&amp;A </a:t>
            </a:r>
            <a:r>
              <a:rPr lang="fr-FR" sz="1800" b="1" dirty="0" err="1"/>
              <a:t>including</a:t>
            </a:r>
            <a:r>
              <a:rPr lang="fr-FR" sz="1800" b="1" dirty="0"/>
              <a:t> IT</a:t>
            </a:r>
          </a:p>
          <a:p>
            <a:pPr marL="693738" lvl="1" indent="-236538" defTabSz="814388">
              <a:lnSpc>
                <a:spcPct val="95000"/>
              </a:lnSpc>
              <a:spcBef>
                <a:spcPts val="800"/>
              </a:spcBef>
              <a:buFont typeface="Lucida Grande" charset="0"/>
              <a:buChar char="-"/>
            </a:pPr>
            <a:r>
              <a:rPr lang="fr-FR" sz="1800" b="1" dirty="0"/>
              <a:t>Net </a:t>
            </a:r>
            <a:r>
              <a:rPr lang="fr-FR" sz="1800" b="1" dirty="0" err="1"/>
              <a:t>income</a:t>
            </a:r>
            <a:r>
              <a:rPr lang="fr-FR" sz="1800" b="1" dirty="0"/>
              <a:t> </a:t>
            </a:r>
            <a:endParaRPr lang="fr-FR" sz="2000" b="1" dirty="0"/>
          </a:p>
          <a:p>
            <a:pPr marL="236538" indent="-236538" defTabSz="814388">
              <a:lnSpc>
                <a:spcPct val="95000"/>
              </a:lnSpc>
              <a:spcBef>
                <a:spcPct val="50000"/>
              </a:spcBef>
              <a:buFont typeface="Wingdings" charset="0"/>
              <a:buChar char="§"/>
            </a:pPr>
            <a:r>
              <a:rPr lang="fr-FR" b="1" dirty="0" err="1"/>
              <a:t>Budgeting</a:t>
            </a:r>
            <a:r>
              <a:rPr lang="fr-FR" b="1" dirty="0"/>
              <a:t> </a:t>
            </a:r>
            <a:r>
              <a:rPr lang="fr-FR" b="1" dirty="0" err="1"/>
              <a:t>is</a:t>
            </a:r>
            <a:r>
              <a:rPr lang="fr-FR" b="1" dirty="0"/>
              <a:t> a « Trial and </a:t>
            </a:r>
            <a:r>
              <a:rPr lang="fr-FR" b="1" dirty="0" err="1"/>
              <a:t>error</a:t>
            </a:r>
            <a:r>
              <a:rPr lang="fr-FR" b="1" dirty="0"/>
              <a:t> » </a:t>
            </a:r>
            <a:r>
              <a:rPr lang="fr-FR" b="1" dirty="0" err="1"/>
              <a:t>process</a:t>
            </a:r>
            <a:endParaRPr lang="fr-FR" b="1" dirty="0"/>
          </a:p>
          <a:p>
            <a:pPr marL="236538" indent="-236538" defTabSz="814388">
              <a:lnSpc>
                <a:spcPct val="95000"/>
              </a:lnSpc>
              <a:spcBef>
                <a:spcPct val="50000"/>
              </a:spcBef>
              <a:buFont typeface="Wingdings" charset="0"/>
              <a:buChar char="§"/>
            </a:pPr>
            <a:r>
              <a:rPr lang="fr-FR" b="1" dirty="0"/>
              <a:t>Key to </a:t>
            </a:r>
            <a:r>
              <a:rPr lang="fr-FR" b="1" dirty="0" err="1"/>
              <a:t>measure</a:t>
            </a:r>
            <a:r>
              <a:rPr lang="fr-FR" b="1" dirty="0"/>
              <a:t> Budget vs </a:t>
            </a:r>
            <a:r>
              <a:rPr lang="fr-FR" b="1" dirty="0" err="1"/>
              <a:t>Forecast</a:t>
            </a:r>
            <a:r>
              <a:rPr lang="fr-FR" b="1" dirty="0"/>
              <a:t> vs </a:t>
            </a:r>
            <a:r>
              <a:rPr lang="fr-FR" b="1" dirty="0" err="1"/>
              <a:t>Actuals</a:t>
            </a:r>
            <a:r>
              <a:rPr lang="fr-FR" b="1" dirty="0"/>
              <a:t> and </a:t>
            </a:r>
            <a:r>
              <a:rPr lang="fr-FR" b="1" dirty="0" err="1"/>
              <a:t>assess</a:t>
            </a:r>
            <a:r>
              <a:rPr lang="fr-FR" b="1" dirty="0"/>
              <a:t> </a:t>
            </a:r>
            <a:r>
              <a:rPr lang="fr-FR" b="1" dirty="0" err="1"/>
              <a:t>Forecast</a:t>
            </a:r>
            <a:r>
              <a:rPr lang="fr-FR" b="1" dirty="0"/>
              <a:t> </a:t>
            </a:r>
            <a:r>
              <a:rPr lang="fr-FR" b="1" dirty="0" err="1"/>
              <a:t>accuracy</a:t>
            </a:r>
            <a:r>
              <a:rPr lang="fr-FR" b="1" dirty="0"/>
              <a:t> : </a:t>
            </a:r>
            <a:r>
              <a:rPr lang="fr-FR" b="1" dirty="0" err="1"/>
              <a:t>it</a:t>
            </a:r>
            <a:r>
              <a:rPr lang="fr-FR" b="1" dirty="0"/>
              <a:t> </a:t>
            </a:r>
            <a:r>
              <a:rPr lang="fr-FR" b="1" dirty="0" err="1"/>
              <a:t>is</a:t>
            </a:r>
            <a:r>
              <a:rPr lang="fr-FR" b="1" dirty="0"/>
              <a:t> an on </a:t>
            </a:r>
            <a:r>
              <a:rPr lang="fr-FR" b="1" dirty="0" err="1"/>
              <a:t>going</a:t>
            </a:r>
            <a:r>
              <a:rPr lang="fr-FR" b="1" dirty="0"/>
              <a:t> </a:t>
            </a:r>
            <a:r>
              <a:rPr lang="fr-FR" b="1" dirty="0" err="1"/>
              <a:t>task</a:t>
            </a:r>
            <a:r>
              <a:rPr lang="fr-FR" b="1" dirty="0"/>
              <a:t>…</a:t>
            </a:r>
          </a:p>
          <a:p>
            <a:pPr marL="693738" lvl="1" indent="-236538" defTabSz="814388">
              <a:lnSpc>
                <a:spcPct val="95000"/>
              </a:lnSpc>
              <a:spcBef>
                <a:spcPct val="50000"/>
              </a:spcBef>
              <a:buFont typeface="Lucida Grande" charset="0"/>
              <a:buChar char="-"/>
            </a:pPr>
            <a:r>
              <a:rPr lang="fr-FR" sz="1800" b="1" dirty="0"/>
              <a:t>Variance </a:t>
            </a:r>
            <a:r>
              <a:rPr lang="fr-FR" sz="1800" b="1" dirty="0" err="1"/>
              <a:t>analysis</a:t>
            </a:r>
            <a:r>
              <a:rPr lang="fr-FR" sz="1800" b="1" dirty="0"/>
              <a:t> : </a:t>
            </a:r>
            <a:r>
              <a:rPr lang="fr-FR" sz="1800" b="1" dirty="0" err="1"/>
              <a:t>Why</a:t>
            </a:r>
            <a:r>
              <a:rPr lang="fr-FR" sz="1800" b="1" dirty="0"/>
              <a:t> do </a:t>
            </a:r>
            <a:r>
              <a:rPr lang="fr-FR" sz="1800" b="1" dirty="0" err="1"/>
              <a:t>we</a:t>
            </a:r>
            <a:r>
              <a:rPr lang="fr-FR" sz="1800" b="1" dirty="0"/>
              <a:t> </a:t>
            </a:r>
            <a:r>
              <a:rPr lang="fr-FR" sz="1800" b="1" dirty="0" err="1"/>
              <a:t>see</a:t>
            </a:r>
            <a:r>
              <a:rPr lang="fr-FR" sz="1800" b="1" dirty="0"/>
              <a:t> a variance ? </a:t>
            </a:r>
            <a:r>
              <a:rPr lang="fr-FR" sz="1800" b="1" dirty="0" err="1"/>
              <a:t>What</a:t>
            </a:r>
            <a:r>
              <a:rPr lang="fr-FR" sz="1800" b="1" dirty="0"/>
              <a:t> </a:t>
            </a:r>
            <a:r>
              <a:rPr lang="fr-FR" sz="1800" b="1" dirty="0" err="1"/>
              <a:t>immediate</a:t>
            </a:r>
            <a:r>
              <a:rPr lang="fr-FR" sz="1800" b="1" dirty="0"/>
              <a:t> action </a:t>
            </a:r>
            <a:r>
              <a:rPr lang="fr-FR" sz="1800" b="1" dirty="0" err="1"/>
              <a:t>should</a:t>
            </a:r>
            <a:r>
              <a:rPr lang="fr-FR" sz="1800" b="1" dirty="0"/>
              <a:t> </a:t>
            </a:r>
            <a:r>
              <a:rPr lang="fr-FR" sz="1800" b="1" dirty="0" err="1"/>
              <a:t>we</a:t>
            </a:r>
            <a:r>
              <a:rPr lang="fr-FR" sz="1800" b="1" dirty="0"/>
              <a:t> </a:t>
            </a:r>
            <a:r>
              <a:rPr lang="fr-FR" sz="1800" b="1" dirty="0" err="1"/>
              <a:t>take</a:t>
            </a:r>
            <a:r>
              <a:rPr lang="fr-FR" sz="1800" b="1" dirty="0"/>
              <a:t> ? </a:t>
            </a:r>
            <a:r>
              <a:rPr lang="fr-FR" sz="1800" b="1" dirty="0" err="1"/>
              <a:t>What</a:t>
            </a:r>
            <a:r>
              <a:rPr lang="fr-FR" sz="1800" b="1" dirty="0"/>
              <a:t> are the </a:t>
            </a:r>
            <a:r>
              <a:rPr lang="fr-FR" sz="1800" b="1" dirty="0" err="1"/>
              <a:t>learnings</a:t>
            </a:r>
            <a:r>
              <a:rPr lang="fr-FR" sz="1800" b="1" dirty="0"/>
              <a:t> for the </a:t>
            </a:r>
            <a:r>
              <a:rPr lang="fr-FR" sz="1800" b="1" dirty="0" err="1"/>
              <a:t>next</a:t>
            </a:r>
            <a:r>
              <a:rPr lang="fr-FR" sz="1800" b="1" dirty="0"/>
              <a:t> budget cycle ?</a:t>
            </a:r>
            <a:endParaRPr lang="fr-FR" sz="2000" b="1" dirty="0"/>
          </a:p>
        </p:txBody>
      </p:sp>
      <p:sp>
        <p:nvSpPr>
          <p:cNvPr id="3" name="Title 2"/>
          <p:cNvSpPr>
            <a:spLocks noGrp="1"/>
          </p:cNvSpPr>
          <p:nvPr>
            <p:ph type="title"/>
          </p:nvPr>
        </p:nvSpPr>
        <p:spPr/>
        <p:txBody>
          <a:bodyPr>
            <a:normAutofit fontScale="90000"/>
          </a:bodyPr>
          <a:lstStyle/>
          <a:p>
            <a:r>
              <a:rPr lang="en-US" dirty="0"/>
              <a:t>IT budget is part of a larger “company budget”</a:t>
            </a:r>
          </a:p>
        </p:txBody>
      </p:sp>
    </p:spTree>
    <p:extLst>
      <p:ext uri="{BB962C8B-B14F-4D97-AF65-F5344CB8AC3E}">
        <p14:creationId xmlns:p14="http://schemas.microsoft.com/office/powerpoint/2010/main" val="3558486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6"/>
            <a:ext cx="7542728" cy="3844205"/>
          </a:xfrm>
        </p:spPr>
        <p:txBody>
          <a:bodyPr>
            <a:normAutofit fontScale="92500" lnSpcReduction="10000"/>
          </a:bodyPr>
          <a:lstStyle/>
          <a:p>
            <a:pPr marL="457200" indent="-457200">
              <a:buFont typeface="+mj-lt"/>
              <a:buAutoNum type="arabicPeriod"/>
            </a:pPr>
            <a:r>
              <a:rPr lang="en-US" b="1" dirty="0"/>
              <a:t>Prepare the plan</a:t>
            </a:r>
          </a:p>
          <a:p>
            <a:pPr lvl="2">
              <a:buFont typeface="Arial"/>
              <a:buChar char="•"/>
            </a:pPr>
            <a:r>
              <a:rPr lang="en-US" dirty="0"/>
              <a:t>Make a list of all the things you think your organization will spend money on (a bit like a shopping list), such as salaries, rent, telephone, postage. </a:t>
            </a:r>
            <a:r>
              <a:rPr lang="en-US" b="1" dirty="0"/>
              <a:t>Do not think of actual money at this stage.</a:t>
            </a:r>
          </a:p>
          <a:p>
            <a:pPr lvl="2">
              <a:buFont typeface="Arial"/>
              <a:buChar char="•"/>
            </a:pPr>
            <a:r>
              <a:rPr lang="en-US" dirty="0"/>
              <a:t>You should consider: </a:t>
            </a:r>
          </a:p>
          <a:p>
            <a:pPr lvl="3">
              <a:buFont typeface="Courier New"/>
              <a:buChar char="o"/>
            </a:pPr>
            <a:r>
              <a:rPr lang="en-US" b="1" dirty="0"/>
              <a:t>One-off items </a:t>
            </a:r>
            <a:r>
              <a:rPr lang="en-US" dirty="0"/>
              <a:t>such as, recruitment advertisements </a:t>
            </a:r>
          </a:p>
          <a:p>
            <a:pPr lvl="3">
              <a:buFont typeface="Courier New"/>
              <a:buChar char="o"/>
            </a:pPr>
            <a:r>
              <a:rPr lang="en-US" b="1" dirty="0"/>
              <a:t>Capital costs </a:t>
            </a:r>
            <a:r>
              <a:rPr lang="en-US" dirty="0"/>
              <a:t>(fixed assets) for example, computer and office furniture will last for a few years </a:t>
            </a:r>
          </a:p>
          <a:p>
            <a:pPr lvl="3">
              <a:buFont typeface="Courier New"/>
              <a:buChar char="o"/>
            </a:pPr>
            <a:r>
              <a:rPr lang="en-US" b="1" dirty="0"/>
              <a:t>Running costs, </a:t>
            </a:r>
            <a:r>
              <a:rPr lang="en-US" dirty="0"/>
              <a:t>which are ongoing expenses, for example, salaries, office space and telephones</a:t>
            </a:r>
          </a:p>
          <a:p>
            <a:pPr lvl="3">
              <a:buFont typeface="Courier New"/>
              <a:buChar char="o"/>
            </a:pPr>
            <a:r>
              <a:rPr lang="en-US" b="1" dirty="0"/>
              <a:t>Projects : </a:t>
            </a:r>
            <a:r>
              <a:rPr lang="en-US" dirty="0"/>
              <a:t>which are ongoing expenses, for example, salaries, office space and telephones</a:t>
            </a:r>
          </a:p>
          <a:p>
            <a:pPr lvl="3">
              <a:buFont typeface="Courier New"/>
              <a:buChar char="o"/>
            </a:pPr>
            <a:endParaRPr lang="en-US" dirty="0"/>
          </a:p>
        </p:txBody>
      </p:sp>
      <p:sp>
        <p:nvSpPr>
          <p:cNvPr id="3" name="Title 2"/>
          <p:cNvSpPr>
            <a:spLocks noGrp="1"/>
          </p:cNvSpPr>
          <p:nvPr>
            <p:ph type="title"/>
          </p:nvPr>
        </p:nvSpPr>
        <p:spPr/>
        <p:txBody>
          <a:bodyPr/>
          <a:lstStyle/>
          <a:p>
            <a:r>
              <a:rPr lang="en-US" dirty="0"/>
              <a:t>Writing your budget </a:t>
            </a:r>
            <a:r>
              <a:rPr lang="en-US" sz="2800" dirty="0"/>
              <a:t>(1/6)</a:t>
            </a:r>
            <a:endParaRPr lang="en-US" dirty="0"/>
          </a:p>
        </p:txBody>
      </p:sp>
    </p:spTree>
    <p:extLst>
      <p:ext uri="{BB962C8B-B14F-4D97-AF65-F5344CB8AC3E}">
        <p14:creationId xmlns:p14="http://schemas.microsoft.com/office/powerpoint/2010/main" val="11432123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6"/>
            <a:ext cx="7408333" cy="4056161"/>
          </a:xfrm>
        </p:spPr>
        <p:txBody>
          <a:bodyPr>
            <a:normAutofit fontScale="92500" lnSpcReduction="10000"/>
          </a:bodyPr>
          <a:lstStyle/>
          <a:p>
            <a:pPr marL="457200" indent="-457200">
              <a:buFont typeface="+mj-lt"/>
              <a:buAutoNum type="arabicPeriod" startAt="2"/>
            </a:pPr>
            <a:r>
              <a:rPr lang="en-US" b="1" dirty="0"/>
              <a:t>Fill-in the figures</a:t>
            </a:r>
          </a:p>
          <a:p>
            <a:pPr lvl="2">
              <a:buFont typeface="Arial"/>
              <a:buChar char="•"/>
            </a:pPr>
            <a:r>
              <a:rPr lang="en-US" dirty="0"/>
              <a:t>The more people you involve (for example, your Fin. controller, peers, internal partners and others connected with your organization) the more likely you will produce a good budget. Others can also help you to carry out research. </a:t>
            </a:r>
            <a:r>
              <a:rPr lang="en-US" b="1" dirty="0"/>
              <a:t>Remember, no budget is 100% accurate.</a:t>
            </a:r>
            <a:endParaRPr lang="en-US" dirty="0"/>
          </a:p>
          <a:p>
            <a:pPr lvl="2">
              <a:buFont typeface="Arial"/>
              <a:buChar char="•"/>
            </a:pPr>
            <a:r>
              <a:rPr lang="en-US" dirty="0"/>
              <a:t>The following questions will help you: </a:t>
            </a:r>
          </a:p>
          <a:p>
            <a:pPr lvl="3">
              <a:buFont typeface="Courier New"/>
              <a:buChar char="o"/>
            </a:pPr>
            <a:r>
              <a:rPr lang="en-US" dirty="0"/>
              <a:t>Was last year’s budget accurate? </a:t>
            </a:r>
          </a:p>
          <a:p>
            <a:pPr lvl="3">
              <a:buFont typeface="Courier New"/>
              <a:buChar char="o"/>
            </a:pPr>
            <a:r>
              <a:rPr lang="en-US" dirty="0"/>
              <a:t>Was anything forgotten? </a:t>
            </a:r>
          </a:p>
          <a:p>
            <a:pPr lvl="3">
              <a:buFont typeface="Courier New"/>
              <a:buChar char="o"/>
            </a:pPr>
            <a:r>
              <a:rPr lang="en-US" dirty="0"/>
              <a:t>Are there any changes in your activities? </a:t>
            </a:r>
          </a:p>
          <a:p>
            <a:pPr lvl="3">
              <a:buFont typeface="Courier New"/>
              <a:buChar char="o"/>
            </a:pPr>
            <a:r>
              <a:rPr lang="en-US" dirty="0"/>
              <a:t>Are there any other changes (such as an increase in rent)? </a:t>
            </a:r>
          </a:p>
          <a:p>
            <a:pPr lvl="3">
              <a:buFont typeface="Courier New"/>
              <a:buChar char="o"/>
            </a:pPr>
            <a:r>
              <a:rPr lang="en-US" dirty="0"/>
              <a:t>Will the cost of some things increase with inflation</a:t>
            </a:r>
          </a:p>
          <a:p>
            <a:pPr lvl="3">
              <a:buFont typeface="Courier New"/>
              <a:buChar char="o"/>
            </a:pPr>
            <a:r>
              <a:rPr lang="en-US" dirty="0"/>
              <a:t>Has your hierarchy agreed to give you the same amount of money as last year? </a:t>
            </a:r>
          </a:p>
          <a:p>
            <a:pPr marL="457200" indent="-457200">
              <a:buFont typeface="+mj-lt"/>
              <a:buAutoNum type="arabicPeriod" startAt="2"/>
            </a:pPr>
            <a:endParaRPr lang="en-US" dirty="0"/>
          </a:p>
          <a:p>
            <a:pPr marL="457200" indent="-457200">
              <a:buFont typeface="+mj-lt"/>
              <a:buAutoNum type="arabicPeriod" startAt="2"/>
            </a:pPr>
            <a:endParaRPr lang="en-US" dirty="0"/>
          </a:p>
        </p:txBody>
      </p:sp>
      <p:sp>
        <p:nvSpPr>
          <p:cNvPr id="3" name="Title 2"/>
          <p:cNvSpPr>
            <a:spLocks noGrp="1"/>
          </p:cNvSpPr>
          <p:nvPr>
            <p:ph type="title"/>
          </p:nvPr>
        </p:nvSpPr>
        <p:spPr/>
        <p:txBody>
          <a:bodyPr/>
          <a:lstStyle/>
          <a:p>
            <a:r>
              <a:rPr lang="en-US" dirty="0"/>
              <a:t>Writing your budget </a:t>
            </a:r>
            <a:r>
              <a:rPr lang="en-US" sz="2800" dirty="0"/>
              <a:t>(2/6)</a:t>
            </a:r>
            <a:endParaRPr lang="en-US" dirty="0"/>
          </a:p>
        </p:txBody>
      </p:sp>
    </p:spTree>
    <p:extLst>
      <p:ext uri="{BB962C8B-B14F-4D97-AF65-F5344CB8AC3E}">
        <p14:creationId xmlns:p14="http://schemas.microsoft.com/office/powerpoint/2010/main" val="1969671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6"/>
            <a:ext cx="7408333" cy="2145169"/>
          </a:xfrm>
        </p:spPr>
        <p:txBody>
          <a:bodyPr>
            <a:normAutofit fontScale="92500" lnSpcReduction="20000"/>
          </a:bodyPr>
          <a:lstStyle/>
          <a:p>
            <a:pPr marL="457200" indent="-457200">
              <a:buFont typeface="+mj-lt"/>
              <a:buAutoNum type="arabicPeriod" startAt="3"/>
            </a:pPr>
            <a:r>
              <a:rPr lang="en-US" b="1" dirty="0"/>
              <a:t>Make notes</a:t>
            </a:r>
          </a:p>
          <a:p>
            <a:pPr lvl="2">
              <a:buFont typeface="Arial"/>
              <a:buChar char="•"/>
            </a:pPr>
            <a:r>
              <a:rPr lang="en-US" dirty="0"/>
              <a:t>It is not good enough to just guess the expenditure, or to put nice round figures for each of the headings. Once the budget has been approved, you will need to stick to it, so it is in your interest to make sure that it is as </a:t>
            </a:r>
            <a:r>
              <a:rPr lang="en-US" b="1" dirty="0"/>
              <a:t>accurate </a:t>
            </a:r>
            <a:r>
              <a:rPr lang="en-US" dirty="0"/>
              <a:t>and </a:t>
            </a:r>
            <a:r>
              <a:rPr lang="en-US" b="1" dirty="0"/>
              <a:t>realistic </a:t>
            </a:r>
            <a:r>
              <a:rPr lang="en-US" dirty="0"/>
              <a:t>as possible. </a:t>
            </a:r>
          </a:p>
          <a:p>
            <a:pPr lvl="2">
              <a:buFont typeface="Arial"/>
              <a:buChar char="•"/>
            </a:pPr>
            <a:r>
              <a:rPr lang="en-US" dirty="0"/>
              <a:t>Document your assumptions. It will prove useful for budget presentations and revisions.</a:t>
            </a:r>
          </a:p>
        </p:txBody>
      </p:sp>
      <p:sp>
        <p:nvSpPr>
          <p:cNvPr id="3" name="Title 2"/>
          <p:cNvSpPr>
            <a:spLocks noGrp="1"/>
          </p:cNvSpPr>
          <p:nvPr>
            <p:ph type="title"/>
          </p:nvPr>
        </p:nvSpPr>
        <p:spPr/>
        <p:txBody>
          <a:bodyPr/>
          <a:lstStyle/>
          <a:p>
            <a:r>
              <a:rPr lang="en-US" dirty="0"/>
              <a:t>Writing your budget </a:t>
            </a:r>
            <a:r>
              <a:rPr lang="en-US" sz="2800" dirty="0"/>
              <a:t>(3/6)</a:t>
            </a:r>
            <a:endParaRPr lang="en-US" dirty="0"/>
          </a:p>
        </p:txBody>
      </p:sp>
    </p:spTree>
    <p:extLst>
      <p:ext uri="{BB962C8B-B14F-4D97-AF65-F5344CB8AC3E}">
        <p14:creationId xmlns:p14="http://schemas.microsoft.com/office/powerpoint/2010/main" val="183827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7"/>
            <a:ext cx="7408333" cy="2983540"/>
          </a:xfrm>
        </p:spPr>
        <p:txBody>
          <a:bodyPr>
            <a:normAutofit fontScale="92500" lnSpcReduction="10000"/>
          </a:bodyPr>
          <a:lstStyle/>
          <a:p>
            <a:pPr marL="457200" indent="-457200">
              <a:buFont typeface="+mj-lt"/>
              <a:buAutoNum type="arabicPeriod" startAt="4"/>
            </a:pPr>
            <a:r>
              <a:rPr lang="en-US" b="1" dirty="0"/>
              <a:t>Revise the figures</a:t>
            </a:r>
          </a:p>
          <a:p>
            <a:pPr lvl="2">
              <a:buFont typeface="Arial"/>
              <a:buChar char="•"/>
            </a:pPr>
            <a:r>
              <a:rPr lang="en-US" dirty="0"/>
              <a:t>Show your draft budget to to people inside your organization ( Team members, peers and management committee members):</a:t>
            </a:r>
          </a:p>
          <a:p>
            <a:pPr lvl="3">
              <a:buFont typeface="Courier New"/>
              <a:buChar char="o"/>
            </a:pPr>
            <a:r>
              <a:rPr lang="en-US" dirty="0"/>
              <a:t>Have you forgotten anything?</a:t>
            </a:r>
          </a:p>
          <a:p>
            <a:pPr lvl="3">
              <a:buFont typeface="Courier New"/>
              <a:buChar char="o"/>
            </a:pPr>
            <a:r>
              <a:rPr lang="en-US" dirty="0"/>
              <a:t>Are your assumptions and guesses fair and accurate?</a:t>
            </a:r>
          </a:p>
          <a:p>
            <a:pPr lvl="3">
              <a:buFont typeface="Courier New"/>
              <a:buChar char="o"/>
            </a:pPr>
            <a:r>
              <a:rPr lang="en-US" dirty="0"/>
              <a:t>Do you need more information? If so, where are you going to get it? </a:t>
            </a:r>
          </a:p>
          <a:p>
            <a:pPr lvl="2">
              <a:buFont typeface="Arial"/>
              <a:buChar char="•"/>
            </a:pPr>
            <a:r>
              <a:rPr lang="en-US" b="1" dirty="0"/>
              <a:t>Do not panic as you are unlikely to get your budget right the first time round.</a:t>
            </a:r>
          </a:p>
          <a:p>
            <a:pPr marL="457200" indent="-457200">
              <a:buFont typeface="+mj-lt"/>
              <a:buAutoNum type="arabicPeriod" startAt="4"/>
            </a:pPr>
            <a:endParaRPr lang="en-US" dirty="0"/>
          </a:p>
        </p:txBody>
      </p:sp>
      <p:sp>
        <p:nvSpPr>
          <p:cNvPr id="3" name="Title 2"/>
          <p:cNvSpPr>
            <a:spLocks noGrp="1"/>
          </p:cNvSpPr>
          <p:nvPr>
            <p:ph type="title"/>
          </p:nvPr>
        </p:nvSpPr>
        <p:spPr/>
        <p:txBody>
          <a:bodyPr/>
          <a:lstStyle/>
          <a:p>
            <a:r>
              <a:rPr lang="en-US" dirty="0"/>
              <a:t>Writing your budget </a:t>
            </a:r>
            <a:r>
              <a:rPr lang="en-US" sz="2800" dirty="0"/>
              <a:t>(4/6)</a:t>
            </a:r>
            <a:endParaRPr lang="en-US" dirty="0"/>
          </a:p>
        </p:txBody>
      </p:sp>
    </p:spTree>
    <p:extLst>
      <p:ext uri="{BB962C8B-B14F-4D97-AF65-F5344CB8AC3E}">
        <p14:creationId xmlns:p14="http://schemas.microsoft.com/office/powerpoint/2010/main" val="31850414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8"/>
            <a:ext cx="7408333" cy="1516388"/>
          </a:xfrm>
        </p:spPr>
        <p:txBody>
          <a:bodyPr>
            <a:normAutofit fontScale="92500"/>
          </a:bodyPr>
          <a:lstStyle/>
          <a:p>
            <a:pPr marL="457200" indent="-457200">
              <a:buFont typeface="+mj-lt"/>
              <a:buAutoNum type="arabicPeriod" startAt="5"/>
            </a:pPr>
            <a:r>
              <a:rPr lang="en-US" b="1" dirty="0"/>
              <a:t>Approvals</a:t>
            </a:r>
          </a:p>
          <a:p>
            <a:pPr lvl="2">
              <a:buFont typeface="Arial"/>
              <a:buChar char="•"/>
            </a:pPr>
            <a:r>
              <a:rPr lang="en-US" dirty="0"/>
              <a:t>The budget has to be approved by your management, incorporating any comments and changes that they want to make as budgets get consolidated up the management chain. </a:t>
            </a:r>
          </a:p>
        </p:txBody>
      </p:sp>
      <p:sp>
        <p:nvSpPr>
          <p:cNvPr id="3" name="Title 2"/>
          <p:cNvSpPr>
            <a:spLocks noGrp="1"/>
          </p:cNvSpPr>
          <p:nvPr>
            <p:ph type="title"/>
          </p:nvPr>
        </p:nvSpPr>
        <p:spPr/>
        <p:txBody>
          <a:bodyPr/>
          <a:lstStyle/>
          <a:p>
            <a:r>
              <a:rPr lang="en-US" dirty="0"/>
              <a:t>Writing your budget </a:t>
            </a:r>
            <a:r>
              <a:rPr lang="en-US" sz="2800" dirty="0"/>
              <a:t>(5/6)</a:t>
            </a:r>
            <a:endParaRPr lang="en-US" dirty="0"/>
          </a:p>
        </p:txBody>
      </p:sp>
    </p:spTree>
    <p:extLst>
      <p:ext uri="{BB962C8B-B14F-4D97-AF65-F5344CB8AC3E}">
        <p14:creationId xmlns:p14="http://schemas.microsoft.com/office/powerpoint/2010/main" val="23731118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7"/>
            <a:ext cx="7408333" cy="1639679"/>
          </a:xfrm>
        </p:spPr>
        <p:txBody>
          <a:bodyPr>
            <a:normAutofit fontScale="92500" lnSpcReduction="10000"/>
          </a:bodyPr>
          <a:lstStyle/>
          <a:p>
            <a:pPr marL="457200" indent="-457200">
              <a:buFont typeface="+mj-lt"/>
              <a:buAutoNum type="arabicPeriod" startAt="6"/>
            </a:pPr>
            <a:r>
              <a:rPr lang="en-US" b="1" dirty="0"/>
              <a:t>Monitoring &amp; Revisions</a:t>
            </a:r>
          </a:p>
          <a:p>
            <a:pPr lvl="2">
              <a:buFont typeface="Arial"/>
              <a:buChar char="•"/>
            </a:pPr>
            <a:r>
              <a:rPr lang="en-US" dirty="0"/>
              <a:t>As you move into execution, you need to track, monitor and report actuals (events, expenses, </a:t>
            </a:r>
            <a:r>
              <a:rPr lang="en-US" dirty="0" err="1"/>
              <a:t>etc</a:t>
            </a:r>
            <a:r>
              <a:rPr lang="en-US" dirty="0"/>
              <a:t>)</a:t>
            </a:r>
          </a:p>
          <a:p>
            <a:pPr lvl="2">
              <a:buFont typeface="Arial"/>
              <a:buChar char="•"/>
            </a:pPr>
            <a:r>
              <a:rPr lang="en-US" dirty="0"/>
              <a:t>Your environment may change too</a:t>
            </a:r>
          </a:p>
          <a:p>
            <a:pPr lvl="2">
              <a:buFont typeface="Arial"/>
              <a:buChar char="•"/>
            </a:pPr>
            <a:r>
              <a:rPr lang="en-US" dirty="0"/>
              <a:t>You will therefore need to regularly revise your  budget</a:t>
            </a:r>
          </a:p>
        </p:txBody>
      </p:sp>
      <p:sp>
        <p:nvSpPr>
          <p:cNvPr id="3" name="Title 2"/>
          <p:cNvSpPr>
            <a:spLocks noGrp="1"/>
          </p:cNvSpPr>
          <p:nvPr>
            <p:ph type="title"/>
          </p:nvPr>
        </p:nvSpPr>
        <p:spPr/>
        <p:txBody>
          <a:bodyPr/>
          <a:lstStyle/>
          <a:p>
            <a:r>
              <a:rPr lang="en-US" dirty="0"/>
              <a:t>Writing your budget </a:t>
            </a:r>
            <a:r>
              <a:rPr lang="en-US" sz="2800" dirty="0"/>
              <a:t>(6/6)</a:t>
            </a:r>
            <a:endParaRPr lang="en-US" dirty="0"/>
          </a:p>
        </p:txBody>
      </p:sp>
    </p:spTree>
    <p:extLst>
      <p:ext uri="{BB962C8B-B14F-4D97-AF65-F5344CB8AC3E}">
        <p14:creationId xmlns:p14="http://schemas.microsoft.com/office/powerpoint/2010/main" val="34943296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5167" y="2294467"/>
            <a:ext cx="8678333" cy="3318933"/>
          </a:xfrm>
        </p:spPr>
        <p:txBody>
          <a:bodyPr>
            <a:noAutofit/>
          </a:bodyPr>
          <a:lstStyle/>
          <a:p>
            <a:pPr marL="236538" indent="-236538" defTabSz="814388">
              <a:lnSpc>
                <a:spcPct val="95000"/>
              </a:lnSpc>
              <a:spcBef>
                <a:spcPct val="50000"/>
              </a:spcBef>
              <a:buFont typeface="Wingdings" charset="0"/>
              <a:buChar char="§"/>
            </a:pPr>
            <a:r>
              <a:rPr lang="fr-FR" b="1" dirty="0">
                <a:solidFill>
                  <a:srgbClr val="000090"/>
                </a:solidFill>
              </a:rPr>
              <a:t>Baseline or </a:t>
            </a:r>
            <a:r>
              <a:rPr lang="fr-FR" b="1" dirty="0" err="1">
                <a:solidFill>
                  <a:srgbClr val="000090"/>
                </a:solidFill>
              </a:rPr>
              <a:t>incremental</a:t>
            </a:r>
            <a:endParaRPr lang="fr-FR" b="1" dirty="0">
              <a:solidFill>
                <a:srgbClr val="000090"/>
              </a:solidFill>
            </a:endParaRPr>
          </a:p>
          <a:p>
            <a:pPr marL="1150938" lvl="2" indent="-236538" defTabSz="814388">
              <a:lnSpc>
                <a:spcPct val="95000"/>
              </a:lnSpc>
              <a:spcBef>
                <a:spcPct val="50000"/>
              </a:spcBef>
              <a:buFontTx/>
              <a:buChar char="-"/>
            </a:pPr>
            <a:r>
              <a:rPr lang="fr-FR" sz="1800" b="1" dirty="0">
                <a:solidFill>
                  <a:srgbClr val="000090"/>
                </a:solidFill>
              </a:rPr>
              <a:t>Uses </a:t>
            </a:r>
            <a:r>
              <a:rPr lang="fr-FR" sz="1800" b="1" dirty="0" err="1">
                <a:solidFill>
                  <a:srgbClr val="000090"/>
                </a:solidFill>
              </a:rPr>
              <a:t>previous</a:t>
            </a:r>
            <a:r>
              <a:rPr lang="fr-FR" sz="1800" b="1" dirty="0">
                <a:solidFill>
                  <a:srgbClr val="000090"/>
                </a:solidFill>
              </a:rPr>
              <a:t> </a:t>
            </a:r>
            <a:r>
              <a:rPr lang="fr-FR" sz="1800" b="1" dirty="0" err="1">
                <a:solidFill>
                  <a:srgbClr val="000090"/>
                </a:solidFill>
              </a:rPr>
              <a:t>year</a:t>
            </a:r>
            <a:r>
              <a:rPr lang="fr-FR" sz="1800" b="1" dirty="0">
                <a:solidFill>
                  <a:srgbClr val="000090"/>
                </a:solidFill>
              </a:rPr>
              <a:t> budget / </a:t>
            </a:r>
            <a:r>
              <a:rPr lang="fr-FR" sz="1800" b="1" dirty="0" err="1">
                <a:solidFill>
                  <a:srgbClr val="000090"/>
                </a:solidFill>
              </a:rPr>
              <a:t>actual</a:t>
            </a:r>
            <a:r>
              <a:rPr lang="fr-FR" sz="1800" b="1" dirty="0">
                <a:solidFill>
                  <a:srgbClr val="000090"/>
                </a:solidFill>
              </a:rPr>
              <a:t> as a </a:t>
            </a:r>
            <a:r>
              <a:rPr lang="fr-FR" sz="1800" b="1" dirty="0" err="1">
                <a:solidFill>
                  <a:srgbClr val="000090"/>
                </a:solidFill>
              </a:rPr>
              <a:t>baseline</a:t>
            </a:r>
            <a:endParaRPr lang="fr-FR" sz="1800" b="1" dirty="0">
              <a:solidFill>
                <a:srgbClr val="000090"/>
              </a:solidFill>
            </a:endParaRPr>
          </a:p>
          <a:p>
            <a:pPr marL="1150938" lvl="2" indent="-236538" defTabSz="814388">
              <a:lnSpc>
                <a:spcPct val="95000"/>
              </a:lnSpc>
              <a:spcBef>
                <a:spcPct val="50000"/>
              </a:spcBef>
              <a:buFontTx/>
              <a:buChar char="-"/>
            </a:pPr>
            <a:r>
              <a:rPr lang="fr-FR" sz="1800" b="1" dirty="0" err="1">
                <a:solidFill>
                  <a:srgbClr val="000090"/>
                </a:solidFill>
              </a:rPr>
              <a:t>Does</a:t>
            </a:r>
            <a:r>
              <a:rPr lang="fr-FR" sz="1800" b="1" dirty="0">
                <a:solidFill>
                  <a:srgbClr val="000090"/>
                </a:solidFill>
              </a:rPr>
              <a:t> not encourage people to question </a:t>
            </a:r>
            <a:r>
              <a:rPr lang="fr-FR" sz="1800" b="1" dirty="0" err="1">
                <a:solidFill>
                  <a:srgbClr val="000090"/>
                </a:solidFill>
              </a:rPr>
              <a:t>previous</a:t>
            </a:r>
            <a:r>
              <a:rPr lang="fr-FR" sz="1800" b="1" dirty="0">
                <a:solidFill>
                  <a:srgbClr val="000090"/>
                </a:solidFill>
              </a:rPr>
              <a:t> </a:t>
            </a:r>
            <a:r>
              <a:rPr lang="fr-FR" sz="1800" b="1" dirty="0" err="1">
                <a:solidFill>
                  <a:srgbClr val="000090"/>
                </a:solidFill>
              </a:rPr>
              <a:t>assumptions</a:t>
            </a:r>
            <a:r>
              <a:rPr lang="fr-FR" sz="1800" b="1" dirty="0">
                <a:solidFill>
                  <a:srgbClr val="000090"/>
                </a:solidFill>
              </a:rPr>
              <a:t>, </a:t>
            </a:r>
            <a:r>
              <a:rPr lang="fr-FR" sz="1800" b="1" dirty="0" err="1">
                <a:solidFill>
                  <a:srgbClr val="000090"/>
                </a:solidFill>
              </a:rPr>
              <a:t>ways</a:t>
            </a:r>
            <a:r>
              <a:rPr lang="fr-FR" sz="1800" b="1" dirty="0">
                <a:solidFill>
                  <a:srgbClr val="000090"/>
                </a:solidFill>
              </a:rPr>
              <a:t> of </a:t>
            </a:r>
            <a:r>
              <a:rPr lang="fr-FR" sz="1800" b="1" dirty="0" err="1">
                <a:solidFill>
                  <a:srgbClr val="000090"/>
                </a:solidFill>
              </a:rPr>
              <a:t>working</a:t>
            </a:r>
            <a:endParaRPr lang="fr-FR" sz="1800" b="1" dirty="0">
              <a:solidFill>
                <a:srgbClr val="000090"/>
              </a:solidFill>
            </a:endParaRPr>
          </a:p>
          <a:p>
            <a:pPr marL="236538" lvl="1" indent="-236538" defTabSz="814388">
              <a:lnSpc>
                <a:spcPct val="95000"/>
              </a:lnSpc>
              <a:spcBef>
                <a:spcPct val="50000"/>
              </a:spcBef>
              <a:buFont typeface="Wingdings" charset="0"/>
              <a:buChar char="§"/>
            </a:pPr>
            <a:r>
              <a:rPr lang="fr-FR" sz="2400" b="1" dirty="0" err="1">
                <a:solidFill>
                  <a:srgbClr val="000090"/>
                </a:solidFill>
              </a:rPr>
              <a:t>Zero</a:t>
            </a:r>
            <a:r>
              <a:rPr lang="fr-FR" sz="2400" b="1" dirty="0">
                <a:solidFill>
                  <a:srgbClr val="000090"/>
                </a:solidFill>
              </a:rPr>
              <a:t> </a:t>
            </a:r>
            <a:r>
              <a:rPr lang="fr-FR" sz="2400" b="1" dirty="0" err="1">
                <a:solidFill>
                  <a:srgbClr val="000090"/>
                </a:solidFill>
              </a:rPr>
              <a:t>based</a:t>
            </a:r>
            <a:endParaRPr lang="fr-FR" sz="2400" b="1" dirty="0">
              <a:solidFill>
                <a:srgbClr val="000090"/>
              </a:solidFill>
            </a:endParaRPr>
          </a:p>
          <a:p>
            <a:pPr marL="1150938" lvl="2" indent="-236538" defTabSz="814388">
              <a:lnSpc>
                <a:spcPct val="95000"/>
              </a:lnSpc>
              <a:spcBef>
                <a:spcPct val="50000"/>
              </a:spcBef>
              <a:buFontTx/>
              <a:buChar char="-"/>
            </a:pPr>
            <a:r>
              <a:rPr lang="fr-FR" sz="1800" b="1" dirty="0">
                <a:solidFill>
                  <a:srgbClr val="000090"/>
                </a:solidFill>
              </a:rPr>
              <a:t>Start </a:t>
            </a:r>
            <a:r>
              <a:rPr lang="fr-FR" sz="1800" b="1" dirty="0" err="1">
                <a:solidFill>
                  <a:srgbClr val="000090"/>
                </a:solidFill>
              </a:rPr>
              <a:t>from</a:t>
            </a:r>
            <a:r>
              <a:rPr lang="fr-FR" sz="1800" b="1" dirty="0">
                <a:solidFill>
                  <a:srgbClr val="000090"/>
                </a:solidFill>
              </a:rPr>
              <a:t> scratch</a:t>
            </a:r>
          </a:p>
          <a:p>
            <a:pPr marL="1150938" lvl="2" indent="-236538" defTabSz="814388">
              <a:lnSpc>
                <a:spcPct val="95000"/>
              </a:lnSpc>
              <a:spcBef>
                <a:spcPct val="50000"/>
              </a:spcBef>
              <a:buFontTx/>
              <a:buChar char="-"/>
            </a:pPr>
            <a:r>
              <a:rPr lang="fr-FR" sz="1800" b="1" dirty="0">
                <a:solidFill>
                  <a:srgbClr val="000090"/>
                </a:solidFill>
              </a:rPr>
              <a:t>More </a:t>
            </a:r>
            <a:r>
              <a:rPr lang="fr-FR" sz="1800" b="1" dirty="0" err="1">
                <a:solidFill>
                  <a:srgbClr val="000090"/>
                </a:solidFill>
              </a:rPr>
              <a:t>disciplined</a:t>
            </a:r>
            <a:r>
              <a:rPr lang="fr-FR" sz="1800" b="1" dirty="0">
                <a:solidFill>
                  <a:srgbClr val="000090"/>
                </a:solidFill>
              </a:rPr>
              <a:t> </a:t>
            </a:r>
            <a:r>
              <a:rPr lang="fr-FR" sz="1800" b="1" dirty="0" err="1">
                <a:solidFill>
                  <a:srgbClr val="000090"/>
                </a:solidFill>
              </a:rPr>
              <a:t>approach</a:t>
            </a:r>
            <a:r>
              <a:rPr lang="fr-FR" sz="1800" b="1" dirty="0">
                <a:solidFill>
                  <a:srgbClr val="000090"/>
                </a:solidFill>
              </a:rPr>
              <a:t> </a:t>
            </a:r>
            <a:r>
              <a:rPr lang="fr-FR" sz="1800" b="1" dirty="0" err="1">
                <a:solidFill>
                  <a:srgbClr val="000090"/>
                </a:solidFill>
              </a:rPr>
              <a:t>that</a:t>
            </a:r>
            <a:r>
              <a:rPr lang="fr-FR" sz="1800" b="1" dirty="0">
                <a:solidFill>
                  <a:srgbClr val="000090"/>
                </a:solidFill>
              </a:rPr>
              <a:t> encourage justification of all </a:t>
            </a:r>
            <a:r>
              <a:rPr lang="fr-FR" sz="1800" b="1" dirty="0" err="1">
                <a:solidFill>
                  <a:srgbClr val="000090"/>
                </a:solidFill>
              </a:rPr>
              <a:t>costs</a:t>
            </a:r>
            <a:endParaRPr lang="fr-FR" sz="1800" b="1" dirty="0">
              <a:solidFill>
                <a:srgbClr val="000090"/>
              </a:solidFill>
            </a:endParaRPr>
          </a:p>
          <a:p>
            <a:pPr marL="1150938" lvl="2" indent="-236538" defTabSz="814388">
              <a:lnSpc>
                <a:spcPct val="95000"/>
              </a:lnSpc>
              <a:spcBef>
                <a:spcPct val="50000"/>
              </a:spcBef>
              <a:buFontTx/>
              <a:buChar char="-"/>
            </a:pPr>
            <a:r>
              <a:rPr lang="fr-FR" sz="1800" b="1" dirty="0" err="1">
                <a:solidFill>
                  <a:srgbClr val="000090"/>
                </a:solidFill>
              </a:rPr>
              <a:t>Takes</a:t>
            </a:r>
            <a:r>
              <a:rPr lang="fr-FR" sz="1800" b="1" dirty="0">
                <a:solidFill>
                  <a:srgbClr val="000090"/>
                </a:solidFill>
              </a:rPr>
              <a:t> more time and effort…</a:t>
            </a:r>
          </a:p>
          <a:p>
            <a:pPr marL="236538" lvl="1" indent="-236538" defTabSz="814388">
              <a:lnSpc>
                <a:spcPct val="95000"/>
              </a:lnSpc>
              <a:spcBef>
                <a:spcPct val="50000"/>
              </a:spcBef>
              <a:buFont typeface="Wingdings" charset="0"/>
              <a:buChar char="§"/>
            </a:pPr>
            <a:r>
              <a:rPr lang="fr-FR" sz="2400" b="1" dirty="0">
                <a:solidFill>
                  <a:srgbClr val="000090"/>
                </a:solidFill>
              </a:rPr>
              <a:t>In real life, </a:t>
            </a:r>
            <a:r>
              <a:rPr lang="fr-FR" sz="2400" b="1" dirty="0" err="1">
                <a:solidFill>
                  <a:srgbClr val="000090"/>
                </a:solidFill>
              </a:rPr>
              <a:t>budgeting</a:t>
            </a:r>
            <a:r>
              <a:rPr lang="fr-FR" sz="2400" b="1" dirty="0">
                <a:solidFill>
                  <a:srgbClr val="000090"/>
                </a:solidFill>
              </a:rPr>
              <a:t> </a:t>
            </a:r>
            <a:r>
              <a:rPr lang="fr-FR" sz="2400" b="1" dirty="0" err="1">
                <a:solidFill>
                  <a:srgbClr val="000090"/>
                </a:solidFill>
              </a:rPr>
              <a:t>is</a:t>
            </a:r>
            <a:r>
              <a:rPr lang="fr-FR" sz="2400" b="1" dirty="0">
                <a:solidFill>
                  <a:srgbClr val="000090"/>
                </a:solidFill>
              </a:rPr>
              <a:t> a </a:t>
            </a:r>
            <a:r>
              <a:rPr lang="fr-FR" sz="2400" b="1" dirty="0" err="1">
                <a:solidFill>
                  <a:srgbClr val="000090"/>
                </a:solidFill>
              </a:rPr>
              <a:t>combination</a:t>
            </a:r>
            <a:r>
              <a:rPr lang="fr-FR" sz="2400" b="1" dirty="0">
                <a:solidFill>
                  <a:srgbClr val="000090"/>
                </a:solidFill>
              </a:rPr>
              <a:t> of the 2 </a:t>
            </a:r>
            <a:r>
              <a:rPr lang="fr-FR" sz="2400" b="1" dirty="0" err="1">
                <a:solidFill>
                  <a:srgbClr val="000090"/>
                </a:solidFill>
              </a:rPr>
              <a:t>methods</a:t>
            </a:r>
            <a:r>
              <a:rPr lang="fr-FR" sz="2400" b="1" dirty="0">
                <a:solidFill>
                  <a:srgbClr val="000090"/>
                </a:solidFill>
              </a:rPr>
              <a:t>…</a:t>
            </a:r>
          </a:p>
        </p:txBody>
      </p:sp>
      <p:sp>
        <p:nvSpPr>
          <p:cNvPr id="3" name="Title 2"/>
          <p:cNvSpPr>
            <a:spLocks noGrp="1"/>
          </p:cNvSpPr>
          <p:nvPr>
            <p:ph type="title"/>
          </p:nvPr>
        </p:nvSpPr>
        <p:spPr/>
        <p:txBody>
          <a:bodyPr/>
          <a:lstStyle/>
          <a:p>
            <a:r>
              <a:rPr lang="en-US" dirty="0"/>
              <a:t>Budgeting methodologies</a:t>
            </a:r>
          </a:p>
        </p:txBody>
      </p:sp>
    </p:spTree>
    <p:extLst>
      <p:ext uri="{BB962C8B-B14F-4D97-AF65-F5344CB8AC3E}">
        <p14:creationId xmlns:p14="http://schemas.microsoft.com/office/powerpoint/2010/main" val="22106232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approaches to budgeting</a:t>
            </a:r>
          </a:p>
        </p:txBody>
      </p:sp>
      <p:sp>
        <p:nvSpPr>
          <p:cNvPr id="3" name="Text Placeholder 2"/>
          <p:cNvSpPr>
            <a:spLocks noGrp="1"/>
          </p:cNvSpPr>
          <p:nvPr>
            <p:ph type="body" idx="1"/>
          </p:nvPr>
        </p:nvSpPr>
        <p:spPr/>
        <p:txBody>
          <a:bodyPr/>
          <a:lstStyle/>
          <a:p>
            <a:r>
              <a:rPr lang="en-US" sz="2800" b="1" dirty="0"/>
              <a:t>Top-down</a:t>
            </a:r>
          </a:p>
        </p:txBody>
      </p:sp>
      <p:sp>
        <p:nvSpPr>
          <p:cNvPr id="4" name="Content Placeholder 3"/>
          <p:cNvSpPr>
            <a:spLocks noGrp="1"/>
          </p:cNvSpPr>
          <p:nvPr>
            <p:ph sz="half" idx="2"/>
          </p:nvPr>
        </p:nvSpPr>
        <p:spPr/>
        <p:txBody>
          <a:bodyPr>
            <a:normAutofit/>
          </a:bodyPr>
          <a:lstStyle/>
          <a:p>
            <a:pPr>
              <a:buFont typeface="Arial"/>
              <a:buChar char="•"/>
            </a:pPr>
            <a:r>
              <a:rPr lang="en-US" sz="2400" dirty="0"/>
              <a:t>Authoritarian</a:t>
            </a:r>
          </a:p>
          <a:p>
            <a:pPr>
              <a:buFont typeface="Arial"/>
              <a:buChar char="•"/>
            </a:pPr>
            <a:r>
              <a:rPr lang="en-US" sz="2400" dirty="0"/>
              <a:t>Centralized control</a:t>
            </a:r>
          </a:p>
          <a:p>
            <a:pPr>
              <a:buFont typeface="Arial"/>
              <a:buChar char="•"/>
            </a:pPr>
            <a:r>
              <a:rPr lang="en-US" sz="2400" dirty="0"/>
              <a:t>Simple</a:t>
            </a:r>
          </a:p>
          <a:p>
            <a:pPr>
              <a:buFont typeface="Arial"/>
              <a:buChar char="•"/>
            </a:pPr>
            <a:r>
              <a:rPr lang="en-US" sz="2400" dirty="0"/>
              <a:t>Top management</a:t>
            </a:r>
          </a:p>
          <a:p>
            <a:pPr>
              <a:buFont typeface="Arial"/>
              <a:buChar char="•"/>
            </a:pPr>
            <a:r>
              <a:rPr lang="en-US" sz="2400" dirty="0"/>
              <a:t>Shorter</a:t>
            </a:r>
          </a:p>
        </p:txBody>
      </p:sp>
      <p:sp>
        <p:nvSpPr>
          <p:cNvPr id="5" name="Text Placeholder 4"/>
          <p:cNvSpPr>
            <a:spLocks noGrp="1"/>
          </p:cNvSpPr>
          <p:nvPr>
            <p:ph type="body" sz="quarter" idx="3"/>
          </p:nvPr>
        </p:nvSpPr>
        <p:spPr/>
        <p:txBody>
          <a:bodyPr>
            <a:normAutofit/>
          </a:bodyPr>
          <a:lstStyle/>
          <a:p>
            <a:r>
              <a:rPr lang="en-US" sz="2800" b="1" dirty="0"/>
              <a:t>Bottom-up</a:t>
            </a:r>
          </a:p>
        </p:txBody>
      </p:sp>
      <p:sp>
        <p:nvSpPr>
          <p:cNvPr id="6" name="Content Placeholder 5"/>
          <p:cNvSpPr>
            <a:spLocks noGrp="1"/>
          </p:cNvSpPr>
          <p:nvPr>
            <p:ph sz="quarter" idx="4"/>
          </p:nvPr>
        </p:nvSpPr>
        <p:spPr/>
        <p:txBody>
          <a:bodyPr>
            <a:normAutofit/>
          </a:bodyPr>
          <a:lstStyle/>
          <a:p>
            <a:pPr>
              <a:buFont typeface="Arial"/>
              <a:buChar char="•"/>
            </a:pPr>
            <a:r>
              <a:rPr lang="en-US" sz="2400" dirty="0"/>
              <a:t>Participative</a:t>
            </a:r>
          </a:p>
          <a:p>
            <a:pPr>
              <a:buFont typeface="Arial"/>
              <a:buChar char="•"/>
            </a:pPr>
            <a:r>
              <a:rPr lang="en-US" sz="2400" dirty="0"/>
              <a:t>Decentralized control</a:t>
            </a:r>
          </a:p>
          <a:p>
            <a:pPr>
              <a:buFont typeface="Arial"/>
              <a:buChar char="•"/>
            </a:pPr>
            <a:r>
              <a:rPr lang="en-US" sz="2400" dirty="0"/>
              <a:t>Complex</a:t>
            </a:r>
          </a:p>
          <a:p>
            <a:pPr>
              <a:buFont typeface="Arial"/>
              <a:buChar char="•"/>
            </a:pPr>
            <a:r>
              <a:rPr lang="en-US" sz="2400" dirty="0"/>
              <a:t>All levels of management</a:t>
            </a:r>
          </a:p>
          <a:p>
            <a:pPr>
              <a:buFont typeface="Arial"/>
              <a:buChar char="•"/>
            </a:pPr>
            <a:r>
              <a:rPr lang="en-US" sz="2400" dirty="0"/>
              <a:t>Longer</a:t>
            </a:r>
          </a:p>
        </p:txBody>
      </p:sp>
      <p:sp>
        <p:nvSpPr>
          <p:cNvPr id="8" name="TextBox 7"/>
          <p:cNvSpPr txBox="1"/>
          <p:nvPr/>
        </p:nvSpPr>
        <p:spPr>
          <a:xfrm>
            <a:off x="1380924" y="5967231"/>
            <a:ext cx="7089468" cy="523220"/>
          </a:xfrm>
          <a:prstGeom prst="rect">
            <a:avLst/>
          </a:prstGeom>
          <a:noFill/>
        </p:spPr>
        <p:txBody>
          <a:bodyPr wrap="square" rtlCol="0">
            <a:spAutoFit/>
          </a:bodyPr>
          <a:lstStyle/>
          <a:p>
            <a:r>
              <a:rPr lang="en-US" sz="2800" b="1" dirty="0">
                <a:solidFill>
                  <a:schemeClr val="tx2"/>
                </a:solidFill>
                <a:latin typeface="+mj-lt"/>
              </a:rPr>
              <a:t>Which one is best? Why? In what situation?</a:t>
            </a:r>
          </a:p>
        </p:txBody>
      </p:sp>
    </p:spTree>
    <p:extLst>
      <p:ext uri="{BB962C8B-B14F-4D97-AF65-F5344CB8AC3E}">
        <p14:creationId xmlns:p14="http://schemas.microsoft.com/office/powerpoint/2010/main" val="36753758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a:buChar char="•"/>
            </a:pPr>
            <a:r>
              <a:rPr lang="en-US" dirty="0"/>
              <a:t>To establish the </a:t>
            </a:r>
            <a:r>
              <a:rPr lang="en-US" b="1" dirty="0"/>
              <a:t>degree of progress </a:t>
            </a:r>
            <a:r>
              <a:rPr lang="en-US" dirty="0"/>
              <a:t>to the achievement of short term plans</a:t>
            </a:r>
          </a:p>
          <a:p>
            <a:pPr>
              <a:buFont typeface="Arial"/>
              <a:buChar char="•"/>
            </a:pPr>
            <a:r>
              <a:rPr lang="en-US" dirty="0"/>
              <a:t>To </a:t>
            </a:r>
            <a:r>
              <a:rPr lang="en-US" b="1" dirty="0"/>
              <a:t>allow delegation </a:t>
            </a:r>
            <a:r>
              <a:rPr lang="en-US" dirty="0"/>
              <a:t>to occur without losing overall control</a:t>
            </a:r>
          </a:p>
          <a:p>
            <a:pPr>
              <a:buFont typeface="Arial"/>
              <a:buChar char="•"/>
            </a:pPr>
            <a:r>
              <a:rPr lang="en-US" dirty="0"/>
              <a:t>To provide a measure for </a:t>
            </a:r>
            <a:r>
              <a:rPr lang="en-US" b="1" dirty="0"/>
              <a:t>allowing flexibility </a:t>
            </a:r>
            <a:r>
              <a:rPr lang="en-US" dirty="0"/>
              <a:t>in operations</a:t>
            </a:r>
          </a:p>
          <a:p>
            <a:pPr>
              <a:buFont typeface="Arial"/>
              <a:buChar char="•"/>
            </a:pPr>
            <a:r>
              <a:rPr lang="en-US" dirty="0"/>
              <a:t>To establish short term plans and </a:t>
            </a:r>
            <a:r>
              <a:rPr lang="en-US" b="1" dirty="0"/>
              <a:t>aid the organization</a:t>
            </a:r>
            <a:r>
              <a:rPr lang="fr-FR" dirty="0">
                <a:latin typeface="Arial"/>
              </a:rPr>
              <a:t>’</a:t>
            </a:r>
            <a:r>
              <a:rPr lang="en-US" dirty="0"/>
              <a:t>s</a:t>
            </a:r>
            <a:r>
              <a:rPr lang="en-US" b="1" dirty="0"/>
              <a:t> </a:t>
            </a:r>
            <a:r>
              <a:rPr lang="en-US" dirty="0"/>
              <a:t>planning process</a:t>
            </a:r>
          </a:p>
          <a:p>
            <a:endParaRPr lang="en-US" dirty="0"/>
          </a:p>
        </p:txBody>
      </p:sp>
      <p:sp>
        <p:nvSpPr>
          <p:cNvPr id="3" name="Title 2"/>
          <p:cNvSpPr>
            <a:spLocks noGrp="1"/>
          </p:cNvSpPr>
          <p:nvPr>
            <p:ph type="title"/>
          </p:nvPr>
        </p:nvSpPr>
        <p:spPr/>
        <p:txBody>
          <a:bodyPr>
            <a:normAutofit/>
          </a:bodyPr>
          <a:lstStyle/>
          <a:p>
            <a:r>
              <a:rPr lang="en-US" dirty="0"/>
              <a:t>Main goals of budget control</a:t>
            </a:r>
          </a:p>
        </p:txBody>
      </p:sp>
    </p:spTree>
    <p:extLst>
      <p:ext uri="{BB962C8B-B14F-4D97-AF65-F5344CB8AC3E}">
        <p14:creationId xmlns:p14="http://schemas.microsoft.com/office/powerpoint/2010/main" val="35019180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Budget control defines:</a:t>
            </a:r>
          </a:p>
          <a:p>
            <a:pPr>
              <a:buFont typeface="Arial"/>
              <a:buChar char="•"/>
            </a:pPr>
            <a:r>
              <a:rPr lang="en-US" dirty="0"/>
              <a:t>Budget control levels</a:t>
            </a:r>
          </a:p>
          <a:p>
            <a:pPr>
              <a:buFont typeface="Arial"/>
              <a:buChar char="•"/>
            </a:pPr>
            <a:r>
              <a:rPr lang="en-US" dirty="0"/>
              <a:t>Spending authorizations</a:t>
            </a:r>
          </a:p>
          <a:p>
            <a:pPr>
              <a:buFont typeface="Arial"/>
              <a:buChar char="•"/>
            </a:pPr>
            <a:r>
              <a:rPr lang="en-US" dirty="0"/>
              <a:t>Acceptance that a project can start</a:t>
            </a:r>
          </a:p>
          <a:p>
            <a:pPr>
              <a:buFont typeface="Arial"/>
              <a:buChar char="•"/>
            </a:pPr>
            <a:r>
              <a:rPr lang="en-US" dirty="0"/>
              <a:t>Elements of individual performance</a:t>
            </a:r>
          </a:p>
        </p:txBody>
      </p:sp>
      <p:sp>
        <p:nvSpPr>
          <p:cNvPr id="3" name="Title 2"/>
          <p:cNvSpPr>
            <a:spLocks noGrp="1"/>
          </p:cNvSpPr>
          <p:nvPr>
            <p:ph type="title"/>
          </p:nvPr>
        </p:nvSpPr>
        <p:spPr/>
        <p:txBody>
          <a:bodyPr/>
          <a:lstStyle/>
          <a:p>
            <a:r>
              <a:rPr lang="en-US" dirty="0"/>
              <a:t>Other aspects of budget control</a:t>
            </a:r>
          </a:p>
        </p:txBody>
      </p:sp>
    </p:spTree>
    <p:extLst>
      <p:ext uri="{BB962C8B-B14F-4D97-AF65-F5344CB8AC3E}">
        <p14:creationId xmlns:p14="http://schemas.microsoft.com/office/powerpoint/2010/main" val="4240959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buFont typeface="Arial"/>
              <a:buChar char="•"/>
            </a:pPr>
            <a:r>
              <a:rPr lang="en-US" dirty="0"/>
              <a:t>Co-ordinate the preparation of budgets which includes the issue of the budget manual</a:t>
            </a:r>
          </a:p>
          <a:p>
            <a:pPr>
              <a:buFont typeface="Arial"/>
              <a:buChar char="•"/>
            </a:pPr>
            <a:r>
              <a:rPr lang="en-US" dirty="0"/>
              <a:t>Issue timetables for the preparation of functional budgets</a:t>
            </a:r>
          </a:p>
          <a:p>
            <a:pPr>
              <a:buFont typeface="Arial"/>
              <a:buChar char="•"/>
            </a:pPr>
            <a:r>
              <a:rPr lang="en-US" dirty="0"/>
              <a:t>Allocate responsibilities for the preparation of functional budgets</a:t>
            </a:r>
          </a:p>
          <a:p>
            <a:pPr>
              <a:buFont typeface="Arial"/>
              <a:buChar char="•"/>
            </a:pPr>
            <a:r>
              <a:rPr lang="en-US" dirty="0"/>
              <a:t>Provide information to assist in the preparation of budgets </a:t>
            </a:r>
          </a:p>
          <a:p>
            <a:pPr>
              <a:buFont typeface="Arial"/>
              <a:buChar char="•"/>
            </a:pPr>
            <a:r>
              <a:rPr lang="en-US" dirty="0"/>
              <a:t>Communicate final budgets to the appropriate managers</a:t>
            </a:r>
          </a:p>
          <a:p>
            <a:pPr>
              <a:buFont typeface="Arial"/>
              <a:buChar char="•"/>
            </a:pPr>
            <a:r>
              <a:rPr lang="en-US" dirty="0"/>
              <a:t>Compare actual results with budget and the investigate variances</a:t>
            </a:r>
          </a:p>
          <a:p>
            <a:pPr>
              <a:buFont typeface="Arial"/>
              <a:buChar char="•"/>
            </a:pPr>
            <a:r>
              <a:rPr lang="en-US" dirty="0"/>
              <a:t>Continuously assess the budgeting and planning processes, in order to improve the planning and control functions</a:t>
            </a:r>
          </a:p>
          <a:p>
            <a:endParaRPr lang="en-US" dirty="0"/>
          </a:p>
        </p:txBody>
      </p:sp>
      <p:sp>
        <p:nvSpPr>
          <p:cNvPr id="3" name="Title 2"/>
          <p:cNvSpPr>
            <a:spLocks noGrp="1"/>
          </p:cNvSpPr>
          <p:nvPr>
            <p:ph type="title"/>
          </p:nvPr>
        </p:nvSpPr>
        <p:spPr/>
        <p:txBody>
          <a:bodyPr>
            <a:normAutofit/>
          </a:bodyPr>
          <a:lstStyle/>
          <a:p>
            <a:r>
              <a:rPr lang="en-US" dirty="0"/>
              <a:t>Functions of a budget committee </a:t>
            </a:r>
            <a:r>
              <a:rPr lang="en-US" sz="2800" dirty="0"/>
              <a:t>(where available)</a:t>
            </a:r>
          </a:p>
        </p:txBody>
      </p:sp>
    </p:spTree>
    <p:extLst>
      <p:ext uri="{BB962C8B-B14F-4D97-AF65-F5344CB8AC3E}">
        <p14:creationId xmlns:p14="http://schemas.microsoft.com/office/powerpoint/2010/main" val="34677217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0" indent="0">
              <a:buNone/>
            </a:pPr>
            <a:r>
              <a:rPr lang="en-US" sz="1800" b="1" dirty="0"/>
              <a:t>Key elements to check before your budget approval request: </a:t>
            </a:r>
          </a:p>
          <a:p>
            <a:pPr>
              <a:buFont typeface="Arial"/>
              <a:buChar char="•"/>
            </a:pPr>
            <a:r>
              <a:rPr lang="en-US" sz="1800" dirty="0"/>
              <a:t>Strategic alignment</a:t>
            </a:r>
          </a:p>
          <a:p>
            <a:pPr>
              <a:buFont typeface="Arial"/>
              <a:buChar char="•"/>
            </a:pPr>
            <a:r>
              <a:rPr lang="en-US" sz="1800" dirty="0"/>
              <a:t>Value creation</a:t>
            </a:r>
          </a:p>
          <a:p>
            <a:pPr>
              <a:buFont typeface="Arial"/>
              <a:buChar char="•"/>
            </a:pPr>
            <a:r>
              <a:rPr lang="en-US" sz="1800" dirty="0"/>
              <a:t>Resource optimization : time &amp; money</a:t>
            </a:r>
          </a:p>
          <a:p>
            <a:pPr>
              <a:buFont typeface="Arial"/>
              <a:buChar char="•"/>
            </a:pPr>
            <a:r>
              <a:rPr lang="en-US" sz="1800" dirty="0"/>
              <a:t>Your track record</a:t>
            </a:r>
          </a:p>
          <a:p>
            <a:pPr>
              <a:buFont typeface="Arial"/>
              <a:buChar char="•"/>
            </a:pPr>
            <a:r>
              <a:rPr lang="en-US" sz="1800" dirty="0"/>
              <a:t>Complementarities with other may help</a:t>
            </a:r>
          </a:p>
          <a:p>
            <a:pPr marL="0" indent="0">
              <a:buNone/>
            </a:pPr>
            <a:endParaRPr lang="en-US" sz="1800" b="1" dirty="0"/>
          </a:p>
          <a:p>
            <a:pPr marL="0" indent="0">
              <a:buNone/>
            </a:pPr>
            <a:r>
              <a:rPr lang="en-US" sz="1800" b="1" dirty="0"/>
              <a:t>Other elements to consider:</a:t>
            </a:r>
          </a:p>
          <a:p>
            <a:pPr>
              <a:buFont typeface="Arial"/>
              <a:buChar char="•"/>
            </a:pPr>
            <a:r>
              <a:rPr lang="en-US" sz="1800" dirty="0"/>
              <a:t>You are competing against others for resource allocation</a:t>
            </a:r>
          </a:p>
          <a:p>
            <a:pPr>
              <a:buFont typeface="Arial"/>
              <a:buChar char="•"/>
            </a:pPr>
            <a:r>
              <a:rPr lang="en-US" sz="1800" dirty="0"/>
              <a:t>Support from others in the organization is key</a:t>
            </a:r>
          </a:p>
          <a:p>
            <a:pPr>
              <a:buFont typeface="Arial"/>
              <a:buChar char="•"/>
            </a:pPr>
            <a:r>
              <a:rPr lang="en-US" sz="1800" dirty="0"/>
              <a:t>Benchmarking (internally or externally) can help sell </a:t>
            </a:r>
            <a:r>
              <a:rPr lang="en-US" sz="1800"/>
              <a:t>your case</a:t>
            </a:r>
            <a:endParaRPr lang="en-US" sz="1800" dirty="0"/>
          </a:p>
        </p:txBody>
      </p:sp>
      <p:sp>
        <p:nvSpPr>
          <p:cNvPr id="3" name="Title 2"/>
          <p:cNvSpPr>
            <a:spLocks noGrp="1"/>
          </p:cNvSpPr>
          <p:nvPr>
            <p:ph type="title"/>
          </p:nvPr>
        </p:nvSpPr>
        <p:spPr/>
        <p:txBody>
          <a:bodyPr>
            <a:normAutofit/>
          </a:bodyPr>
          <a:lstStyle/>
          <a:p>
            <a:r>
              <a:rPr lang="en-US" dirty="0"/>
              <a:t>Budget approval</a:t>
            </a:r>
          </a:p>
        </p:txBody>
      </p:sp>
    </p:spTree>
    <p:extLst>
      <p:ext uri="{BB962C8B-B14F-4D97-AF65-F5344CB8AC3E}">
        <p14:creationId xmlns:p14="http://schemas.microsoft.com/office/powerpoint/2010/main" val="274797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552177"/>
            <a:ext cx="7408333" cy="3450696"/>
          </a:xfrm>
        </p:spPr>
        <p:txBody>
          <a:bodyPr>
            <a:noAutofit/>
          </a:bodyPr>
          <a:lstStyle/>
          <a:p>
            <a:pPr marL="0" indent="0">
              <a:buNone/>
            </a:pPr>
            <a:r>
              <a:rPr lang="en-US" sz="1600" b="1" dirty="0"/>
              <a:t>1. Align today’s budget to strategy.</a:t>
            </a:r>
            <a:r>
              <a:rPr lang="en-US" sz="1600" dirty="0"/>
              <a:t> A long-term strategy provides a context for today’s expenditures. A three-year strategy can effectively demonstrate why developing “A” today is necessary to implementing “Z” in three years. </a:t>
            </a:r>
          </a:p>
          <a:p>
            <a:pPr marL="0" indent="0">
              <a:buNone/>
            </a:pPr>
            <a:endParaRPr lang="en-US" sz="1600" dirty="0"/>
          </a:p>
          <a:p>
            <a:pPr marL="0" indent="0">
              <a:buNone/>
            </a:pPr>
            <a:r>
              <a:rPr lang="en-US" sz="1600" b="1" dirty="0"/>
              <a:t>2. Perform a budget review.</a:t>
            </a:r>
            <a:r>
              <a:rPr lang="en-US" sz="1600" dirty="0"/>
              <a:t> Arrange an annual or project-by-project budget review meeting to show how the allocated money has been spent. Use industry benchmarks to demonstrate that the department’s spending habits are in line and to give an opportunity to justify unexpected factors that affected the budget, such as changes in price or technology. Explain what worked out as planned, what didn’t and why. </a:t>
            </a:r>
          </a:p>
          <a:p>
            <a:pPr marL="0" indent="0">
              <a:buNone/>
            </a:pPr>
            <a:r>
              <a:rPr lang="en-US" sz="1600" dirty="0"/>
              <a:t> </a:t>
            </a:r>
          </a:p>
          <a:p>
            <a:pPr marL="0" indent="0">
              <a:buNone/>
            </a:pPr>
            <a:r>
              <a:rPr lang="en-US" sz="1600" b="1" dirty="0"/>
              <a:t>3. Separate “need to have” from “nice to have.”</a:t>
            </a:r>
            <a:r>
              <a:rPr lang="en-US" sz="1600" dirty="0"/>
              <a:t> Know the difference between essential investments and those that are merely helpful. Business-driven investments should already have this distinction. IT should make this difference clear in the budget for IT-driven projects – actually label each line item as either essential or non-essential. Spell out the risks and consequences of not having essential items.</a:t>
            </a:r>
          </a:p>
        </p:txBody>
      </p:sp>
      <p:sp>
        <p:nvSpPr>
          <p:cNvPr id="3" name="Title 2"/>
          <p:cNvSpPr>
            <a:spLocks noGrp="1"/>
          </p:cNvSpPr>
          <p:nvPr>
            <p:ph type="title"/>
          </p:nvPr>
        </p:nvSpPr>
        <p:spPr/>
        <p:txBody>
          <a:bodyPr/>
          <a:lstStyle/>
          <a:p>
            <a:r>
              <a:rPr lang="en-US" dirty="0"/>
              <a:t>How to win budget approval?</a:t>
            </a:r>
          </a:p>
        </p:txBody>
      </p:sp>
    </p:spTree>
    <p:extLst>
      <p:ext uri="{BB962C8B-B14F-4D97-AF65-F5344CB8AC3E}">
        <p14:creationId xmlns:p14="http://schemas.microsoft.com/office/powerpoint/2010/main" val="26034578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552101"/>
            <a:ext cx="7408333" cy="4142540"/>
          </a:xfrm>
        </p:spPr>
        <p:txBody>
          <a:bodyPr>
            <a:noAutofit/>
          </a:bodyPr>
          <a:lstStyle/>
          <a:p>
            <a:pPr marL="0" indent="0">
              <a:buNone/>
            </a:pPr>
            <a:r>
              <a:rPr lang="en-US" sz="1600" b="1" dirty="0"/>
              <a:t>4. Create budget sub-sections</a:t>
            </a:r>
            <a:r>
              <a:rPr lang="en-US" sz="1600" dirty="0"/>
              <a:t>. Separate the budget into projects (investments in new functions or infrastructure) and operational (day-to-day maintenance expenses). In lean times, evaluate investments based on business value returned. For operational expenses, look for ways to improve efficiency to reduce cost</a:t>
            </a:r>
          </a:p>
          <a:p>
            <a:pPr marL="0" indent="0">
              <a:buNone/>
            </a:pPr>
            <a:r>
              <a:rPr lang="en-US" sz="1600" dirty="0"/>
              <a:t> </a:t>
            </a:r>
          </a:p>
          <a:p>
            <a:pPr marL="0" indent="0">
              <a:buNone/>
            </a:pPr>
            <a:r>
              <a:rPr lang="en-US" sz="1600" b="1" dirty="0"/>
              <a:t>5. Use a sharp pencil.</a:t>
            </a:r>
            <a:r>
              <a:rPr lang="en-US" sz="1600" dirty="0"/>
              <a:t> Research purchase costs for each line item carefully. Use current market values and look for lower-cost alternatives. Establish a vendor management program at the organization to develop a mutually beneficial client/vendor relationship. Negotiate preferable terms and prices with vendors. Using proven negotiation tactics to receive best prices will make many IT leaders look like the very essence of thrift. </a:t>
            </a:r>
          </a:p>
          <a:p>
            <a:pPr marL="0" indent="0">
              <a:buNone/>
            </a:pPr>
            <a:r>
              <a:rPr lang="en-US" sz="1600" dirty="0"/>
              <a:t> </a:t>
            </a:r>
          </a:p>
          <a:p>
            <a:pPr marL="0" indent="0">
              <a:buNone/>
            </a:pPr>
            <a:r>
              <a:rPr lang="en-US" sz="1600" b="1" dirty="0"/>
              <a:t>6. Get line-of-business support.</a:t>
            </a:r>
            <a:r>
              <a:rPr lang="en-US" sz="1600" dirty="0"/>
              <a:t> Encourage line-of-business managers to vocally push for items in the IT department’s budget. Senior management loves an IT budget that supports business priorities (i.e., bolstering the bottom line or increasing competitiveness).</a:t>
            </a:r>
            <a:r>
              <a:rPr lang="en-US" sz="1600"/>
              <a:t> </a:t>
            </a:r>
            <a:endParaRPr lang="en-US" sz="1600" dirty="0"/>
          </a:p>
        </p:txBody>
      </p:sp>
      <p:sp>
        <p:nvSpPr>
          <p:cNvPr id="3" name="Title 2"/>
          <p:cNvSpPr>
            <a:spLocks noGrp="1"/>
          </p:cNvSpPr>
          <p:nvPr>
            <p:ph type="title"/>
          </p:nvPr>
        </p:nvSpPr>
        <p:spPr/>
        <p:txBody>
          <a:bodyPr/>
          <a:lstStyle/>
          <a:p>
            <a:r>
              <a:rPr lang="en-US" dirty="0"/>
              <a:t>How to win budget approval?</a:t>
            </a:r>
          </a:p>
        </p:txBody>
      </p:sp>
    </p:spTree>
    <p:extLst>
      <p:ext uri="{BB962C8B-B14F-4D97-AF65-F5344CB8AC3E}">
        <p14:creationId xmlns:p14="http://schemas.microsoft.com/office/powerpoint/2010/main" val="34601608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552101"/>
            <a:ext cx="7408333" cy="4142540"/>
          </a:xfrm>
        </p:spPr>
        <p:txBody>
          <a:bodyPr>
            <a:noAutofit/>
          </a:bodyPr>
          <a:lstStyle/>
          <a:p>
            <a:pPr marL="0" indent="0">
              <a:buNone/>
            </a:pPr>
            <a:r>
              <a:rPr lang="en-US" sz="1600" dirty="0"/>
              <a:t> </a:t>
            </a:r>
            <a:r>
              <a:rPr lang="en-US" sz="1600" b="1" dirty="0"/>
              <a:t>7. Be credible.</a:t>
            </a:r>
            <a:r>
              <a:rPr lang="en-US" sz="1600" dirty="0"/>
              <a:t> Past performance on designing and adhering to budgets will go a long way toward easing the approval process this time around.</a:t>
            </a:r>
          </a:p>
          <a:p>
            <a:pPr marL="0" lvl="0" indent="0">
              <a:buNone/>
            </a:pPr>
            <a:r>
              <a:rPr lang="en-US" sz="1600" dirty="0"/>
              <a:t>Use industry benchmarks.</a:t>
            </a:r>
          </a:p>
          <a:p>
            <a:pPr marL="0" lvl="0" indent="0">
              <a:buNone/>
            </a:pPr>
            <a:r>
              <a:rPr lang="en-US" sz="1600" dirty="0"/>
              <a:t>Don’t be overly optimistic in the projections – most companies simply can’t swallow cost overruns in the midst of a recession or downturn. Be realistic.</a:t>
            </a:r>
          </a:p>
          <a:p>
            <a:pPr marL="0" lvl="0" indent="0">
              <a:buNone/>
            </a:pPr>
            <a:r>
              <a:rPr lang="en-US" sz="1600" dirty="0"/>
              <a:t>Be complete in the itemization – don’t forget maintenance and consulting.</a:t>
            </a:r>
          </a:p>
          <a:p>
            <a:pPr marL="0" lvl="0" indent="0">
              <a:buNone/>
            </a:pPr>
            <a:r>
              <a:rPr lang="en-US" sz="1600" dirty="0"/>
              <a:t>Triple-check the figures. Erroneous numbers will paint an amateurish picture in front of senior management.</a:t>
            </a:r>
          </a:p>
          <a:p>
            <a:pPr marL="0" lvl="0" indent="0">
              <a:buNone/>
            </a:pPr>
            <a:r>
              <a:rPr lang="en-US" sz="1600" dirty="0"/>
              <a:t>Justify every request and number in the budget itself. Match requested increases to the company growth rate. Keep operational budget increases in line with the rate of inflation.</a:t>
            </a:r>
          </a:p>
        </p:txBody>
      </p:sp>
      <p:sp>
        <p:nvSpPr>
          <p:cNvPr id="3" name="Title 2"/>
          <p:cNvSpPr>
            <a:spLocks noGrp="1"/>
          </p:cNvSpPr>
          <p:nvPr>
            <p:ph type="title"/>
          </p:nvPr>
        </p:nvSpPr>
        <p:spPr/>
        <p:txBody>
          <a:bodyPr/>
          <a:lstStyle/>
          <a:p>
            <a:r>
              <a:rPr lang="en-US" dirty="0"/>
              <a:t>How to win budget approval?</a:t>
            </a:r>
          </a:p>
        </p:txBody>
      </p:sp>
    </p:spTree>
    <p:extLst>
      <p:ext uri="{BB962C8B-B14F-4D97-AF65-F5344CB8AC3E}">
        <p14:creationId xmlns:p14="http://schemas.microsoft.com/office/powerpoint/2010/main" val="26344776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pic>
        <p:nvPicPr>
          <p:cNvPr id="6" name="Picture 5"/>
          <p:cNvPicPr>
            <a:picLocks noChangeAspect="1"/>
          </p:cNvPicPr>
          <p:nvPr/>
        </p:nvPicPr>
        <p:blipFill>
          <a:blip r:embed="rId2"/>
          <a:stretch>
            <a:fillRect/>
          </a:stretch>
        </p:blipFill>
        <p:spPr>
          <a:xfrm>
            <a:off x="298088" y="2980267"/>
            <a:ext cx="8659645" cy="2610628"/>
          </a:xfrm>
          <a:prstGeom prst="rect">
            <a:avLst/>
          </a:prstGeom>
        </p:spPr>
      </p:pic>
    </p:spTree>
    <p:extLst>
      <p:ext uri="{BB962C8B-B14F-4D97-AF65-F5344CB8AC3E}">
        <p14:creationId xmlns:p14="http://schemas.microsoft.com/office/powerpoint/2010/main" val="5960427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032" y="1786126"/>
            <a:ext cx="7772400" cy="2201434"/>
          </a:xfrm>
        </p:spPr>
        <p:txBody>
          <a:bodyPr/>
          <a:lstStyle/>
          <a:p>
            <a:r>
              <a:rPr lang="en-US" dirty="0"/>
              <a:t>Cost management</a:t>
            </a:r>
          </a:p>
        </p:txBody>
      </p:sp>
      <p:pic>
        <p:nvPicPr>
          <p:cNvPr id="4" name="Picture 3"/>
          <p:cNvPicPr>
            <a:picLocks noChangeAspect="1"/>
          </p:cNvPicPr>
          <p:nvPr/>
        </p:nvPicPr>
        <p:blipFill>
          <a:blip r:embed="rId2"/>
          <a:stretch>
            <a:fillRect/>
          </a:stretch>
        </p:blipFill>
        <p:spPr>
          <a:xfrm>
            <a:off x="442734" y="4394200"/>
            <a:ext cx="3289300" cy="2463800"/>
          </a:xfrm>
          <a:prstGeom prst="rect">
            <a:avLst/>
          </a:prstGeom>
        </p:spPr>
      </p:pic>
    </p:spTree>
    <p:extLst>
      <p:ext uri="{BB962C8B-B14F-4D97-AF65-F5344CB8AC3E}">
        <p14:creationId xmlns:p14="http://schemas.microsoft.com/office/powerpoint/2010/main" val="5722046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552177"/>
            <a:ext cx="7408333" cy="3450696"/>
          </a:xfrm>
        </p:spPr>
        <p:txBody>
          <a:bodyPr>
            <a:noAutofit/>
          </a:bodyPr>
          <a:lstStyle/>
          <a:p>
            <a:pPr marL="0" indent="0">
              <a:buNone/>
            </a:pPr>
            <a:r>
              <a:rPr lang="en-US" sz="1800" b="1" dirty="0"/>
              <a:t>A third of IT projects carried out in the private sector runs between 10 and 20 percent over the original budget, according to a survey.</a:t>
            </a:r>
            <a:endParaRPr lang="en-US" sz="1800" dirty="0"/>
          </a:p>
          <a:p>
            <a:pPr>
              <a:buFont typeface="Arial"/>
              <a:buChar char="•"/>
            </a:pPr>
            <a:r>
              <a:rPr lang="en-US" sz="1800" dirty="0"/>
              <a:t>And one in four projects costs 50 percent more than it was expected to, according to the survey of 100 chief information officers, which also found that the typical large company is running 29 projects at any one time</a:t>
            </a:r>
          </a:p>
          <a:p>
            <a:pPr>
              <a:buFont typeface="Arial"/>
              <a:buChar char="•"/>
            </a:pPr>
            <a:r>
              <a:rPr lang="en-US" sz="1800" dirty="0"/>
              <a:t>According to the research, sponsored by software management company CA, the main reasons for </a:t>
            </a:r>
            <a:r>
              <a:rPr lang="en-US" sz="1800" b="1" dirty="0"/>
              <a:t>overspending include poor forecasting, increases in project scope, and issues of interdependencies and conflicts between multiple projects</a:t>
            </a:r>
          </a:p>
          <a:p>
            <a:pPr>
              <a:buFont typeface="Arial"/>
              <a:buChar char="•"/>
            </a:pPr>
            <a:r>
              <a:rPr lang="en-US" sz="1800" dirty="0"/>
              <a:t>It said this isn't helped by the lack of visibility and control chief information officers have over their project portfolios. 39 percent of IT directors do not have clear visibility of projects and so do not know when they are close to running over budget</a:t>
            </a:r>
          </a:p>
        </p:txBody>
      </p:sp>
      <p:sp>
        <p:nvSpPr>
          <p:cNvPr id="3" name="Title 2"/>
          <p:cNvSpPr>
            <a:spLocks noGrp="1"/>
          </p:cNvSpPr>
          <p:nvPr>
            <p:ph type="title"/>
          </p:nvPr>
        </p:nvSpPr>
        <p:spPr/>
        <p:txBody>
          <a:bodyPr>
            <a:normAutofit fontScale="90000"/>
          </a:bodyPr>
          <a:lstStyle/>
          <a:p>
            <a:r>
              <a:rPr lang="en-US" dirty="0"/>
              <a:t>Why implement cost management?</a:t>
            </a:r>
          </a:p>
        </p:txBody>
      </p:sp>
    </p:spTree>
    <p:extLst>
      <p:ext uri="{BB962C8B-B14F-4D97-AF65-F5344CB8AC3E}">
        <p14:creationId xmlns:p14="http://schemas.microsoft.com/office/powerpoint/2010/main" val="14459090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552177"/>
            <a:ext cx="7814733" cy="3686291"/>
          </a:xfrm>
        </p:spPr>
        <p:txBody>
          <a:bodyPr>
            <a:noAutofit/>
          </a:bodyPr>
          <a:lstStyle/>
          <a:p>
            <a:pPr lvl="0">
              <a:buFont typeface="Arial"/>
              <a:buChar char="•"/>
            </a:pPr>
            <a:r>
              <a:rPr lang="en-US" sz="1800" dirty="0"/>
              <a:t>Make sure the budget you have prepared includes all the </a:t>
            </a:r>
            <a:r>
              <a:rPr lang="en-US" sz="1800" b="1" dirty="0"/>
              <a:t>key indicators</a:t>
            </a:r>
            <a:r>
              <a:rPr lang="en-US" sz="1800" dirty="0"/>
              <a:t> you wish to control</a:t>
            </a:r>
          </a:p>
          <a:p>
            <a:pPr lvl="0">
              <a:buFont typeface="Arial"/>
              <a:buChar char="•"/>
            </a:pPr>
            <a:r>
              <a:rPr lang="en-US" sz="1800" dirty="0"/>
              <a:t>Give responsibility for budget items only to individuals with the </a:t>
            </a:r>
            <a:r>
              <a:rPr lang="en-US" sz="1800" b="1" dirty="0"/>
              <a:t>authority</a:t>
            </a:r>
            <a:r>
              <a:rPr lang="en-US" sz="1800" dirty="0"/>
              <a:t> to control the outcome</a:t>
            </a:r>
          </a:p>
          <a:p>
            <a:pPr lvl="0">
              <a:buFont typeface="Arial"/>
              <a:buChar char="•"/>
            </a:pPr>
            <a:r>
              <a:rPr lang="en-US" sz="1800" dirty="0"/>
              <a:t>Schedule </a:t>
            </a:r>
            <a:r>
              <a:rPr lang="en-US" sz="1800" b="1" dirty="0"/>
              <a:t>regular reviews</a:t>
            </a:r>
            <a:r>
              <a:rPr lang="en-US" sz="1800" dirty="0"/>
              <a:t> of budget performance</a:t>
            </a:r>
          </a:p>
          <a:p>
            <a:pPr lvl="0">
              <a:buFont typeface="Arial"/>
              <a:buChar char="•"/>
            </a:pPr>
            <a:r>
              <a:rPr lang="en-US" sz="1800" dirty="0"/>
              <a:t>Review </a:t>
            </a:r>
            <a:r>
              <a:rPr lang="en-US" sz="1800" b="1" dirty="0"/>
              <a:t>budgeted figures</a:t>
            </a:r>
            <a:r>
              <a:rPr lang="en-US" sz="1800" dirty="0"/>
              <a:t> to identify cash flow or other problems which can be anticipated and tackled in advance</a:t>
            </a:r>
          </a:p>
          <a:p>
            <a:pPr lvl="0">
              <a:buFont typeface="Arial"/>
              <a:buChar char="•"/>
            </a:pPr>
            <a:r>
              <a:rPr lang="en-US" sz="1800" dirty="0"/>
              <a:t>Compare other </a:t>
            </a:r>
            <a:r>
              <a:rPr lang="en-US" sz="1800" b="1" dirty="0"/>
              <a:t>key ratios</a:t>
            </a:r>
            <a:r>
              <a:rPr lang="en-US" sz="1800" dirty="0"/>
              <a:t> with historical figures to identify how performance is expected to improve or deteriorate</a:t>
            </a:r>
          </a:p>
          <a:p>
            <a:pPr lvl="0">
              <a:buFont typeface="Arial"/>
              <a:buChar char="•"/>
            </a:pPr>
            <a:r>
              <a:rPr lang="en-US" sz="1800" dirty="0"/>
              <a:t>Carry out a </a:t>
            </a:r>
            <a:r>
              <a:rPr lang="en-US" sz="1800" b="1" dirty="0"/>
              <a:t>sensitivity analysis</a:t>
            </a:r>
            <a:r>
              <a:rPr lang="en-US" sz="1800" dirty="0"/>
              <a:t> to see what effect different outcomes could have on performance (“What if” analysis)</a:t>
            </a:r>
          </a:p>
          <a:p>
            <a:pPr lvl="0">
              <a:buFont typeface="Arial"/>
              <a:buChar char="•"/>
            </a:pPr>
            <a:r>
              <a:rPr lang="en-US" sz="1800" dirty="0"/>
              <a:t>Focus on controlling items, which could have a </a:t>
            </a:r>
            <a:r>
              <a:rPr lang="en-US" sz="1800" b="1" dirty="0"/>
              <a:t>significant effect</a:t>
            </a:r>
            <a:r>
              <a:rPr lang="en-US" sz="1800" dirty="0"/>
              <a:t> on overall business performance</a:t>
            </a:r>
          </a:p>
        </p:txBody>
      </p:sp>
      <p:sp>
        <p:nvSpPr>
          <p:cNvPr id="3" name="Title 2"/>
          <p:cNvSpPr>
            <a:spLocks noGrp="1"/>
          </p:cNvSpPr>
          <p:nvPr>
            <p:ph type="title"/>
          </p:nvPr>
        </p:nvSpPr>
        <p:spPr/>
        <p:txBody>
          <a:bodyPr/>
          <a:lstStyle/>
          <a:p>
            <a:r>
              <a:rPr lang="en-US" dirty="0"/>
              <a:t>How to manage costs</a:t>
            </a:r>
          </a:p>
        </p:txBody>
      </p:sp>
    </p:spTree>
    <p:extLst>
      <p:ext uri="{BB962C8B-B14F-4D97-AF65-F5344CB8AC3E}">
        <p14:creationId xmlns:p14="http://schemas.microsoft.com/office/powerpoint/2010/main" val="10296893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552177"/>
            <a:ext cx="7814733" cy="3686291"/>
          </a:xfrm>
        </p:spPr>
        <p:txBody>
          <a:bodyPr>
            <a:noAutofit/>
          </a:bodyPr>
          <a:lstStyle/>
          <a:p>
            <a:pPr lvl="0">
              <a:buFont typeface="Arial"/>
              <a:buChar char="•"/>
            </a:pPr>
            <a:r>
              <a:rPr lang="en-US" sz="2000" dirty="0"/>
              <a:t>As figures become available, compare actuals to budget and identify reasons for this </a:t>
            </a:r>
            <a:r>
              <a:rPr lang="en-US" sz="2000" b="1" dirty="0"/>
              <a:t>variance</a:t>
            </a:r>
            <a:endParaRPr lang="en-US" sz="2000" dirty="0"/>
          </a:p>
          <a:p>
            <a:pPr lvl="0">
              <a:buFont typeface="Arial"/>
              <a:buChar char="•"/>
            </a:pPr>
            <a:r>
              <a:rPr lang="en-US" sz="2000" dirty="0"/>
              <a:t>Determine how </a:t>
            </a:r>
            <a:r>
              <a:rPr lang="en-US" sz="2000" b="1" dirty="0"/>
              <a:t>fixed costs</a:t>
            </a:r>
            <a:r>
              <a:rPr lang="en-US" sz="2000" dirty="0"/>
              <a:t> differed from budget and whether any changes are likely to be permanent</a:t>
            </a:r>
          </a:p>
          <a:p>
            <a:pPr lvl="0">
              <a:buFont typeface="Arial"/>
              <a:buChar char="•"/>
            </a:pPr>
            <a:r>
              <a:rPr lang="en-US" sz="2000" dirty="0"/>
              <a:t>Identify to what extent variances in revenues or expenses reflect differences in </a:t>
            </a:r>
            <a:r>
              <a:rPr lang="en-US" sz="2000" b="1" dirty="0"/>
              <a:t>timing</a:t>
            </a:r>
            <a:r>
              <a:rPr lang="en-US" sz="2000" dirty="0"/>
              <a:t> rather than performance</a:t>
            </a:r>
          </a:p>
          <a:p>
            <a:pPr lvl="0">
              <a:buFont typeface="Arial"/>
              <a:buChar char="•"/>
            </a:pPr>
            <a:r>
              <a:rPr lang="en-US" sz="2000" b="1" dirty="0"/>
              <a:t>Take action</a:t>
            </a:r>
            <a:r>
              <a:rPr lang="en-US" sz="2000" dirty="0"/>
              <a:t> to sort out underperformance, which can be controlled</a:t>
            </a:r>
          </a:p>
          <a:p>
            <a:pPr lvl="0">
              <a:buFont typeface="Arial"/>
              <a:buChar char="•"/>
            </a:pPr>
            <a:r>
              <a:rPr lang="en-US" sz="2000" b="1" dirty="0"/>
              <a:t>Capitalize</a:t>
            </a:r>
            <a:r>
              <a:rPr lang="en-US" sz="2000" dirty="0"/>
              <a:t> on unexpected favorable changes</a:t>
            </a:r>
          </a:p>
          <a:p>
            <a:pPr lvl="0">
              <a:buFont typeface="Arial"/>
              <a:buChar char="•"/>
            </a:pPr>
            <a:r>
              <a:rPr lang="en-US" sz="2000" b="1" dirty="0"/>
              <a:t>Revise future</a:t>
            </a:r>
            <a:r>
              <a:rPr lang="en-US" sz="2000" dirty="0"/>
              <a:t> budgets in the light of the information you now have</a:t>
            </a:r>
          </a:p>
        </p:txBody>
      </p:sp>
      <p:sp>
        <p:nvSpPr>
          <p:cNvPr id="3" name="Title 2"/>
          <p:cNvSpPr>
            <a:spLocks noGrp="1"/>
          </p:cNvSpPr>
          <p:nvPr>
            <p:ph type="title"/>
          </p:nvPr>
        </p:nvSpPr>
        <p:spPr/>
        <p:txBody>
          <a:bodyPr/>
          <a:lstStyle/>
          <a:p>
            <a:r>
              <a:rPr lang="en-US" dirty="0"/>
              <a:t>How to manage costs</a:t>
            </a:r>
          </a:p>
        </p:txBody>
      </p:sp>
    </p:spTree>
    <p:extLst>
      <p:ext uri="{BB962C8B-B14F-4D97-AF65-F5344CB8AC3E}">
        <p14:creationId xmlns:p14="http://schemas.microsoft.com/office/powerpoint/2010/main" val="14166478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Arial"/>
              <a:buChar char="•"/>
            </a:pPr>
            <a:r>
              <a:rPr lang="en-US" dirty="0"/>
              <a:t>KPIs, KBIs, scorecards, dashboards</a:t>
            </a:r>
          </a:p>
          <a:p>
            <a:pPr>
              <a:buFont typeface="Arial"/>
              <a:buChar char="•"/>
            </a:pPr>
            <a:r>
              <a:rPr lang="en-US" dirty="0"/>
              <a:t>Actuals tracking</a:t>
            </a:r>
          </a:p>
          <a:p>
            <a:pPr>
              <a:buFont typeface="Arial"/>
              <a:buChar char="•"/>
            </a:pPr>
            <a:r>
              <a:rPr lang="en-US" dirty="0"/>
              <a:t>Reporting</a:t>
            </a:r>
          </a:p>
          <a:p>
            <a:pPr>
              <a:buFont typeface="Arial"/>
              <a:buChar char="•"/>
            </a:pPr>
            <a:r>
              <a:rPr lang="en-US" dirty="0"/>
              <a:t>Communication</a:t>
            </a:r>
          </a:p>
          <a:p>
            <a:pPr>
              <a:buFont typeface="Arial"/>
              <a:buChar char="•"/>
            </a:pPr>
            <a:r>
              <a:rPr lang="en-US" dirty="0"/>
              <a:t>Stake holder involvement</a:t>
            </a:r>
          </a:p>
          <a:p>
            <a:pPr>
              <a:buFont typeface="Arial"/>
              <a:buChar char="•"/>
            </a:pPr>
            <a:r>
              <a:rPr lang="en-US" dirty="0"/>
              <a:t>Budget reviews</a:t>
            </a:r>
          </a:p>
          <a:p>
            <a:endParaRPr lang="en-US" dirty="0"/>
          </a:p>
          <a:p>
            <a:endParaRPr lang="en-US" dirty="0"/>
          </a:p>
        </p:txBody>
      </p:sp>
      <p:sp>
        <p:nvSpPr>
          <p:cNvPr id="3" name="Title 2"/>
          <p:cNvSpPr>
            <a:spLocks noGrp="1"/>
          </p:cNvSpPr>
          <p:nvPr>
            <p:ph type="title"/>
          </p:nvPr>
        </p:nvSpPr>
        <p:spPr/>
        <p:txBody>
          <a:bodyPr>
            <a:normAutofit/>
          </a:bodyPr>
          <a:lstStyle/>
          <a:p>
            <a:r>
              <a:rPr lang="en-US" dirty="0"/>
              <a:t>Elements of cost management</a:t>
            </a:r>
          </a:p>
        </p:txBody>
      </p:sp>
    </p:spTree>
    <p:extLst>
      <p:ext uri="{BB962C8B-B14F-4D97-AF65-F5344CB8AC3E}">
        <p14:creationId xmlns:p14="http://schemas.microsoft.com/office/powerpoint/2010/main" val="20160836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Dashboard example</a:t>
            </a:r>
          </a:p>
        </p:txBody>
      </p:sp>
      <p:pic>
        <p:nvPicPr>
          <p:cNvPr id="2" name="Picture 1">
            <a:extLst>
              <a:ext uri="{FF2B5EF4-FFF2-40B4-BE49-F238E27FC236}">
                <a16:creationId xmlns:a16="http://schemas.microsoft.com/office/drawing/2014/main" id="{BB72FBB0-9662-3B4B-A410-8BCB045B0B21}"/>
              </a:ext>
            </a:extLst>
          </p:cNvPr>
          <p:cNvPicPr>
            <a:picLocks noChangeAspect="1"/>
          </p:cNvPicPr>
          <p:nvPr/>
        </p:nvPicPr>
        <p:blipFill rotWithShape="1">
          <a:blip r:embed="rId2"/>
          <a:srcRect l="3038" t="23013" r="50000" b="26355"/>
          <a:stretch/>
        </p:blipFill>
        <p:spPr>
          <a:xfrm>
            <a:off x="810227" y="2581153"/>
            <a:ext cx="6481823" cy="4367807"/>
          </a:xfrm>
          <a:prstGeom prst="rect">
            <a:avLst/>
          </a:prstGeom>
        </p:spPr>
      </p:pic>
    </p:spTree>
    <p:extLst>
      <p:ext uri="{BB962C8B-B14F-4D97-AF65-F5344CB8AC3E}">
        <p14:creationId xmlns:p14="http://schemas.microsoft.com/office/powerpoint/2010/main" val="28625057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534988" y="457200"/>
            <a:ext cx="8145462" cy="838200"/>
          </a:xfrm>
        </p:spPr>
        <p:txBody>
          <a:bodyPr/>
          <a:lstStyle/>
          <a:p>
            <a:pPr eaLnBrk="1" hangingPunct="1"/>
            <a:r>
              <a:rPr lang="en-US" dirty="0">
                <a:ea typeface="ＭＳ Ｐゴシック" charset="0"/>
                <a:cs typeface="ＭＳ Ｐゴシック" charset="0"/>
              </a:rPr>
              <a:t>Your IT Balanced Scorecard</a:t>
            </a:r>
          </a:p>
        </p:txBody>
      </p:sp>
      <p:sp>
        <p:nvSpPr>
          <p:cNvPr id="7170" name="Rectangle 71"/>
          <p:cNvSpPr>
            <a:spLocks noChangeArrowheads="1"/>
          </p:cNvSpPr>
          <p:nvPr/>
        </p:nvSpPr>
        <p:spPr bwMode="auto">
          <a:xfrm>
            <a:off x="2016125" y="876300"/>
            <a:ext cx="8145463"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2124" tIns="41061" rIns="82124" bIns="41061" anchor="b"/>
          <a:lstStyle/>
          <a:p>
            <a:pPr algn="l" defTabSz="814388" eaLnBrk="1" hangingPunct="1">
              <a:spcBef>
                <a:spcPct val="50000"/>
              </a:spcBef>
              <a:buClr>
                <a:schemeClr val="tx2"/>
              </a:buClr>
              <a:buFont typeface="Wingdings" charset="0"/>
              <a:buChar char="§"/>
            </a:pPr>
            <a:endParaRPr lang="en-US" sz="2000" b="1"/>
          </a:p>
        </p:txBody>
      </p:sp>
      <p:graphicFrame>
        <p:nvGraphicFramePr>
          <p:cNvPr id="6" name="Table 5"/>
          <p:cNvGraphicFramePr>
            <a:graphicFrameLocks noGrp="1"/>
          </p:cNvGraphicFramePr>
          <p:nvPr>
            <p:extLst>
              <p:ext uri="{D42A27DB-BD31-4B8C-83A1-F6EECF244321}">
                <p14:modId xmlns:p14="http://schemas.microsoft.com/office/powerpoint/2010/main" val="3721131251"/>
              </p:ext>
            </p:extLst>
          </p:nvPr>
        </p:nvGraphicFramePr>
        <p:xfrm>
          <a:off x="231493" y="1714499"/>
          <a:ext cx="8692588" cy="5010391"/>
        </p:xfrm>
        <a:graphic>
          <a:graphicData uri="http://schemas.openxmlformats.org/drawingml/2006/table">
            <a:tbl>
              <a:tblPr/>
              <a:tblGrid>
                <a:gridCol w="4346294">
                  <a:extLst>
                    <a:ext uri="{9D8B030D-6E8A-4147-A177-3AD203B41FA5}">
                      <a16:colId xmlns:a16="http://schemas.microsoft.com/office/drawing/2014/main" val="20000"/>
                    </a:ext>
                  </a:extLst>
                </a:gridCol>
                <a:gridCol w="4346294">
                  <a:extLst>
                    <a:ext uri="{9D8B030D-6E8A-4147-A177-3AD203B41FA5}">
                      <a16:colId xmlns:a16="http://schemas.microsoft.com/office/drawing/2014/main" val="20001"/>
                    </a:ext>
                  </a:extLst>
                </a:gridCol>
              </a:tblGrid>
              <a:tr h="2284149">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dirty="0">
                          <a:ln>
                            <a:noFill/>
                          </a:ln>
                          <a:solidFill>
                            <a:schemeClr val="tx1"/>
                          </a:solidFill>
                          <a:effectLst/>
                          <a:latin typeface="Arial" charset="0"/>
                          <a:ea typeface="ＭＳ Ｐゴシック" charset="0"/>
                          <a:cs typeface="ＭＳ Ｐゴシック" charset="0"/>
                        </a:rPr>
                        <a:t>Financial measures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dirty="0">
                          <a:ln>
                            <a:noFill/>
                          </a:ln>
                          <a:solidFill>
                            <a:schemeClr val="tx1"/>
                          </a:solidFill>
                          <a:effectLst/>
                          <a:latin typeface="Arial" charset="0"/>
                          <a:ea typeface="ＭＳ Ｐゴシック" charset="0"/>
                          <a:cs typeface="ＭＳ Ｐゴシック" charset="0"/>
                        </a:rPr>
                        <a:t>Process measures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272624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dirty="0">
                          <a:ln>
                            <a:noFill/>
                          </a:ln>
                          <a:solidFill>
                            <a:schemeClr val="tx1"/>
                          </a:solidFill>
                          <a:effectLst/>
                          <a:latin typeface="Arial" charset="0"/>
                          <a:ea typeface="ＭＳ Ｐゴシック" charset="0"/>
                          <a:cs typeface="ＭＳ Ｐゴシック" charset="0"/>
                        </a:rPr>
                        <a:t>Customer measures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D6084"/>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dirty="0">
                          <a:ln>
                            <a:noFill/>
                          </a:ln>
                          <a:solidFill>
                            <a:schemeClr val="tx1"/>
                          </a:solidFill>
                          <a:effectLst/>
                          <a:latin typeface="Arial" charset="0"/>
                          <a:ea typeface="ＭＳ Ｐゴシック" charset="0"/>
                          <a:cs typeface="ＭＳ Ｐゴシック" charset="0"/>
                        </a:rPr>
                        <a:t>Learning and growth measures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891BA"/>
                    </a:solidFill>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007DE25-40B4-B444-83E5-D762F2A93610}"/>
              </a:ext>
            </a:extLst>
          </p:cNvPr>
          <p:cNvSpPr/>
          <p:nvPr/>
        </p:nvSpPr>
        <p:spPr>
          <a:xfrm>
            <a:off x="128317" y="2133599"/>
            <a:ext cx="4698327" cy="1751249"/>
          </a:xfrm>
          <a:prstGeom prst="rect">
            <a:avLst/>
          </a:prstGeom>
        </p:spPr>
        <p:txBody>
          <a:bodyPr wrap="square">
            <a:spAutoFit/>
          </a:bodyPr>
          <a:lstStyle/>
          <a:p>
            <a:pPr marL="285750" indent="-285750" defTabSz="814388">
              <a:lnSpc>
                <a:spcPct val="95000"/>
              </a:lnSpc>
              <a:spcBef>
                <a:spcPct val="50000"/>
              </a:spcBef>
              <a:buClr>
                <a:schemeClr val="accent1"/>
              </a:buClr>
              <a:buSzPct val="100000"/>
              <a:buFont typeface="Arial"/>
              <a:buChar char="•"/>
            </a:pPr>
            <a:r>
              <a:rPr lang="en-US" sz="1400" dirty="0"/>
              <a:t>IT cost as a % of revenue or number of employees</a:t>
            </a:r>
          </a:p>
          <a:p>
            <a:pPr marL="285750" indent="-285750" defTabSz="814388">
              <a:lnSpc>
                <a:spcPct val="95000"/>
              </a:lnSpc>
              <a:spcBef>
                <a:spcPct val="50000"/>
              </a:spcBef>
              <a:buClr>
                <a:schemeClr val="accent1"/>
              </a:buClr>
              <a:buSzPct val="100000"/>
              <a:buFont typeface="Arial"/>
              <a:buChar char="•"/>
            </a:pPr>
            <a:r>
              <a:rPr lang="en-US" sz="1400" dirty="0"/>
              <a:t>$ split by activity (Infrastructure,  Operational management, Projects, Others….)</a:t>
            </a:r>
          </a:p>
          <a:p>
            <a:pPr marL="285750" indent="-285750" defTabSz="814388">
              <a:lnSpc>
                <a:spcPct val="95000"/>
              </a:lnSpc>
              <a:spcBef>
                <a:spcPct val="50000"/>
              </a:spcBef>
              <a:buClr>
                <a:schemeClr val="accent1"/>
              </a:buClr>
              <a:buSzPct val="100000"/>
              <a:buFont typeface="Arial"/>
              <a:buChar char="•"/>
            </a:pPr>
            <a:r>
              <a:rPr lang="en-US" sz="1400" dirty="0"/>
              <a:t>Budget vs Actual gap</a:t>
            </a:r>
          </a:p>
          <a:p>
            <a:pPr marL="285750" indent="-285750" defTabSz="814388">
              <a:lnSpc>
                <a:spcPct val="95000"/>
              </a:lnSpc>
              <a:spcBef>
                <a:spcPct val="50000"/>
              </a:spcBef>
              <a:buClr>
                <a:schemeClr val="accent1"/>
              </a:buClr>
              <a:buSzPct val="100000"/>
              <a:buFont typeface="Arial"/>
              <a:buChar char="•"/>
            </a:pPr>
            <a:r>
              <a:rPr lang="en-US" sz="1400" dirty="0"/>
              <a:t>Project savings as % of investments (ROI)</a:t>
            </a:r>
          </a:p>
          <a:p>
            <a:pPr marL="285750" indent="-285750" defTabSz="814388">
              <a:lnSpc>
                <a:spcPct val="95000"/>
              </a:lnSpc>
              <a:spcBef>
                <a:spcPct val="50000"/>
              </a:spcBef>
              <a:buClr>
                <a:schemeClr val="accent1"/>
              </a:buClr>
              <a:buSzPct val="100000"/>
              <a:buFont typeface="Arial"/>
              <a:buChar char="•"/>
            </a:pPr>
            <a:r>
              <a:rPr lang="en-US" sz="1400" dirty="0"/>
              <a:t>% of budget spent on strategic initiatives</a:t>
            </a:r>
          </a:p>
        </p:txBody>
      </p:sp>
      <p:sp>
        <p:nvSpPr>
          <p:cNvPr id="3" name="Rectangle 2">
            <a:extLst>
              <a:ext uri="{FF2B5EF4-FFF2-40B4-BE49-F238E27FC236}">
                <a16:creationId xmlns:a16="http://schemas.microsoft.com/office/drawing/2014/main" id="{AC9240EF-4AD7-6644-8680-49A0AA77F865}"/>
              </a:ext>
            </a:extLst>
          </p:cNvPr>
          <p:cNvSpPr/>
          <p:nvPr/>
        </p:nvSpPr>
        <p:spPr>
          <a:xfrm>
            <a:off x="387752" y="4475814"/>
            <a:ext cx="4572000" cy="2063642"/>
          </a:xfrm>
          <a:prstGeom prst="rect">
            <a:avLst/>
          </a:prstGeom>
        </p:spPr>
        <p:txBody>
          <a:bodyPr>
            <a:spAutoFit/>
          </a:bodyPr>
          <a:lstStyle/>
          <a:p>
            <a:pPr marL="285750" indent="-285750" defTabSz="814388">
              <a:lnSpc>
                <a:spcPct val="95000"/>
              </a:lnSpc>
              <a:spcBef>
                <a:spcPct val="50000"/>
              </a:spcBef>
              <a:buClr>
                <a:schemeClr val="accent1"/>
              </a:buClr>
              <a:buSzPct val="100000"/>
              <a:buFont typeface="Arial"/>
              <a:buChar char="•"/>
            </a:pPr>
            <a:r>
              <a:rPr lang="en-US" sz="1400" dirty="0"/>
              <a:t>Customer satisfaction on IT operations or on IT projects</a:t>
            </a:r>
          </a:p>
          <a:p>
            <a:pPr marL="285750" indent="-285750" defTabSz="814388">
              <a:lnSpc>
                <a:spcPct val="95000"/>
              </a:lnSpc>
              <a:spcBef>
                <a:spcPct val="50000"/>
              </a:spcBef>
              <a:buClr>
                <a:schemeClr val="accent1"/>
              </a:buClr>
              <a:buSzPct val="100000"/>
              <a:buFont typeface="Arial"/>
              <a:buChar char="•"/>
            </a:pPr>
            <a:r>
              <a:rPr lang="en-US" sz="1400" dirty="0"/>
              <a:t>IT project adoption</a:t>
            </a:r>
          </a:p>
          <a:p>
            <a:pPr marL="285750" indent="-285750" defTabSz="814388">
              <a:lnSpc>
                <a:spcPct val="95000"/>
              </a:lnSpc>
              <a:spcBef>
                <a:spcPct val="50000"/>
              </a:spcBef>
              <a:buClr>
                <a:schemeClr val="accent1"/>
              </a:buClr>
              <a:buSzPct val="100000"/>
              <a:buFont typeface="Arial"/>
              <a:buChar char="•"/>
            </a:pPr>
            <a:r>
              <a:rPr lang="en-US" sz="1400" dirty="0"/>
              <a:t>% of IT projects delivered on time and on budget</a:t>
            </a:r>
          </a:p>
          <a:p>
            <a:pPr marL="285750" indent="-285750" defTabSz="814388">
              <a:lnSpc>
                <a:spcPct val="95000"/>
              </a:lnSpc>
              <a:spcBef>
                <a:spcPct val="50000"/>
              </a:spcBef>
              <a:buClr>
                <a:schemeClr val="accent1"/>
              </a:buClr>
              <a:buSzPct val="100000"/>
              <a:buFont typeface="Arial"/>
              <a:buChar char="•"/>
            </a:pPr>
            <a:r>
              <a:rPr lang="en-US" sz="1400" dirty="0"/>
              <a:t>Nb of support calls</a:t>
            </a:r>
          </a:p>
          <a:p>
            <a:pPr marL="285750" indent="-285750" defTabSz="814388">
              <a:lnSpc>
                <a:spcPct val="95000"/>
              </a:lnSpc>
              <a:spcBef>
                <a:spcPct val="50000"/>
              </a:spcBef>
              <a:buClr>
                <a:schemeClr val="accent1"/>
              </a:buClr>
              <a:buSzPct val="100000"/>
              <a:buFont typeface="Arial"/>
              <a:buChar char="•"/>
            </a:pPr>
            <a:r>
              <a:rPr lang="en-US" sz="1400" dirty="0"/>
              <a:t>% of calls solved on 1</a:t>
            </a:r>
            <a:r>
              <a:rPr lang="en-US" sz="1400" baseline="30000" dirty="0"/>
              <a:t>st</a:t>
            </a:r>
            <a:r>
              <a:rPr lang="en-US" sz="1400" dirty="0"/>
              <a:t> call</a:t>
            </a:r>
          </a:p>
          <a:p>
            <a:pPr marL="285750" indent="-285750" defTabSz="814388">
              <a:lnSpc>
                <a:spcPct val="95000"/>
              </a:lnSpc>
              <a:spcBef>
                <a:spcPct val="50000"/>
              </a:spcBef>
              <a:buClr>
                <a:schemeClr val="accent1"/>
              </a:buClr>
              <a:buSzPct val="100000"/>
              <a:buFont typeface="Arial"/>
              <a:buChar char="•"/>
            </a:pPr>
            <a:r>
              <a:rPr lang="en-US" sz="1400" dirty="0"/>
              <a:t>Average waiting time for calls</a:t>
            </a:r>
          </a:p>
        </p:txBody>
      </p:sp>
      <p:sp>
        <p:nvSpPr>
          <p:cNvPr id="4" name="Rectangle 3">
            <a:extLst>
              <a:ext uri="{FF2B5EF4-FFF2-40B4-BE49-F238E27FC236}">
                <a16:creationId xmlns:a16="http://schemas.microsoft.com/office/drawing/2014/main" id="{4ACF47C6-134B-2046-8577-75418603D6C7}"/>
              </a:ext>
            </a:extLst>
          </p:cNvPr>
          <p:cNvSpPr/>
          <p:nvPr/>
        </p:nvSpPr>
        <p:spPr>
          <a:xfrm>
            <a:off x="4607719" y="1992021"/>
            <a:ext cx="4572000" cy="2034403"/>
          </a:xfrm>
          <a:prstGeom prst="rect">
            <a:avLst/>
          </a:prstGeom>
        </p:spPr>
        <p:txBody>
          <a:bodyPr>
            <a:spAutoFit/>
          </a:bodyPr>
          <a:lstStyle/>
          <a:p>
            <a:pPr marL="285750" indent="-285750" defTabSz="814388">
              <a:lnSpc>
                <a:spcPct val="95000"/>
              </a:lnSpc>
              <a:spcBef>
                <a:spcPts val="600"/>
              </a:spcBef>
              <a:buClr>
                <a:schemeClr val="accent1"/>
              </a:buClr>
              <a:buSzPct val="100000"/>
              <a:buFont typeface="Arial"/>
              <a:buChar char="•"/>
            </a:pPr>
            <a:r>
              <a:rPr lang="en-US" sz="1200" dirty="0"/>
              <a:t>Number of bugs reported or incident ratio</a:t>
            </a:r>
          </a:p>
          <a:p>
            <a:pPr marL="285750" indent="-285750" defTabSz="814388">
              <a:lnSpc>
                <a:spcPct val="95000"/>
              </a:lnSpc>
              <a:spcBef>
                <a:spcPts val="600"/>
              </a:spcBef>
              <a:buClr>
                <a:schemeClr val="accent1"/>
              </a:buClr>
              <a:buSzPct val="100000"/>
              <a:buFont typeface="Arial"/>
              <a:buChar char="•"/>
            </a:pPr>
            <a:r>
              <a:rPr lang="en-US" sz="1200" dirty="0"/>
              <a:t>Average time / Maximum time to resolve incidents</a:t>
            </a:r>
          </a:p>
          <a:p>
            <a:pPr marL="285750" indent="-285750" defTabSz="814388">
              <a:lnSpc>
                <a:spcPct val="95000"/>
              </a:lnSpc>
              <a:spcBef>
                <a:spcPts val="600"/>
              </a:spcBef>
              <a:buClr>
                <a:schemeClr val="accent1"/>
              </a:buClr>
              <a:buSzPct val="100000"/>
              <a:buFont typeface="Arial"/>
              <a:buChar char="•"/>
            </a:pPr>
            <a:r>
              <a:rPr lang="en-US" sz="1200" dirty="0"/>
              <a:t>Unplanned system downtime</a:t>
            </a:r>
          </a:p>
          <a:p>
            <a:pPr marL="285750" indent="-285750" defTabSz="814388">
              <a:lnSpc>
                <a:spcPct val="95000"/>
              </a:lnSpc>
              <a:spcBef>
                <a:spcPts val="600"/>
              </a:spcBef>
              <a:buClr>
                <a:schemeClr val="accent1"/>
              </a:buClr>
              <a:buSzPct val="100000"/>
              <a:buFont typeface="Arial"/>
              <a:buChar char="•"/>
            </a:pPr>
            <a:r>
              <a:rPr lang="en-US" sz="1200" dirty="0"/>
              <a:t>System response time</a:t>
            </a:r>
          </a:p>
          <a:p>
            <a:pPr marL="285750" indent="-285750" defTabSz="814388">
              <a:lnSpc>
                <a:spcPct val="95000"/>
              </a:lnSpc>
              <a:spcBef>
                <a:spcPts val="600"/>
              </a:spcBef>
              <a:buClr>
                <a:schemeClr val="accent1"/>
              </a:buClr>
              <a:buSzPct val="100000"/>
              <a:buFont typeface="Arial"/>
              <a:buChar char="•"/>
            </a:pPr>
            <a:r>
              <a:rPr lang="en-US" sz="1200" dirty="0"/>
              <a:t>Leadtime for Change request implementation</a:t>
            </a:r>
          </a:p>
          <a:p>
            <a:pPr marL="285750" indent="-285750" defTabSz="814388">
              <a:lnSpc>
                <a:spcPct val="95000"/>
              </a:lnSpc>
              <a:spcBef>
                <a:spcPts val="600"/>
              </a:spcBef>
              <a:buClr>
                <a:schemeClr val="accent1"/>
              </a:buClr>
              <a:buSzPct val="100000"/>
              <a:buFont typeface="Arial"/>
              <a:buChar char="•"/>
            </a:pPr>
            <a:r>
              <a:rPr lang="en-US" sz="1200" dirty="0"/>
              <a:t>Backlog of change requests</a:t>
            </a:r>
          </a:p>
          <a:p>
            <a:pPr marL="285750" indent="-285750" defTabSz="814388">
              <a:lnSpc>
                <a:spcPct val="95000"/>
              </a:lnSpc>
              <a:spcBef>
                <a:spcPts val="600"/>
              </a:spcBef>
              <a:buClr>
                <a:schemeClr val="accent1"/>
              </a:buClr>
              <a:buSzPct val="100000"/>
              <a:buFont typeface="Arial"/>
              <a:buChar char="•"/>
            </a:pPr>
            <a:r>
              <a:rPr lang="en-US" sz="1200" dirty="0"/>
              <a:t>Disaster recovery plan in place</a:t>
            </a:r>
          </a:p>
          <a:p>
            <a:pPr marL="285750" indent="-285750" defTabSz="814388">
              <a:lnSpc>
                <a:spcPct val="95000"/>
              </a:lnSpc>
              <a:spcBef>
                <a:spcPts val="600"/>
              </a:spcBef>
              <a:buClr>
                <a:schemeClr val="accent1"/>
              </a:buClr>
              <a:buSzPct val="100000"/>
              <a:buFont typeface="Arial"/>
              <a:buChar char="•"/>
            </a:pPr>
            <a:r>
              <a:rPr lang="en-US" sz="1200" dirty="0"/>
              <a:t>Suppliers SLA performance</a:t>
            </a:r>
          </a:p>
        </p:txBody>
      </p:sp>
      <p:sp>
        <p:nvSpPr>
          <p:cNvPr id="5" name="Rectangle 4">
            <a:extLst>
              <a:ext uri="{FF2B5EF4-FFF2-40B4-BE49-F238E27FC236}">
                <a16:creationId xmlns:a16="http://schemas.microsoft.com/office/drawing/2014/main" id="{BAF8F79A-0E87-D540-A1B6-7CE80E756AFF}"/>
              </a:ext>
            </a:extLst>
          </p:cNvPr>
          <p:cNvSpPr/>
          <p:nvPr/>
        </p:nvSpPr>
        <p:spPr>
          <a:xfrm>
            <a:off x="4724874" y="4475814"/>
            <a:ext cx="4572000" cy="2171364"/>
          </a:xfrm>
          <a:prstGeom prst="rect">
            <a:avLst/>
          </a:prstGeom>
        </p:spPr>
        <p:txBody>
          <a:bodyPr>
            <a:spAutoFit/>
          </a:bodyPr>
          <a:lstStyle/>
          <a:p>
            <a:pPr marL="285750" indent="-285750" defTabSz="814388">
              <a:lnSpc>
                <a:spcPct val="95000"/>
              </a:lnSpc>
              <a:spcBef>
                <a:spcPct val="50000"/>
              </a:spcBef>
              <a:buClr>
                <a:schemeClr val="accent1"/>
              </a:buClr>
              <a:buSzPct val="100000"/>
              <a:buFont typeface="Arial"/>
              <a:buChar char="•"/>
            </a:pPr>
            <a:r>
              <a:rPr lang="en-US" sz="1400" dirty="0"/>
              <a:t>Voluntary/involuntary IT turnover</a:t>
            </a:r>
          </a:p>
          <a:p>
            <a:pPr marL="285750" indent="-285750" defTabSz="814388">
              <a:lnSpc>
                <a:spcPct val="95000"/>
              </a:lnSpc>
              <a:spcBef>
                <a:spcPct val="50000"/>
              </a:spcBef>
              <a:buClr>
                <a:schemeClr val="accent1"/>
              </a:buClr>
              <a:buSzPct val="100000"/>
              <a:buFont typeface="Arial"/>
              <a:buChar char="•"/>
            </a:pPr>
            <a:r>
              <a:rPr lang="en-US" sz="1400" dirty="0"/>
              <a:t>% permanent employees / contractors</a:t>
            </a:r>
          </a:p>
          <a:p>
            <a:pPr marL="285750" indent="-285750" defTabSz="814388">
              <a:lnSpc>
                <a:spcPct val="95000"/>
              </a:lnSpc>
              <a:spcBef>
                <a:spcPct val="50000"/>
              </a:spcBef>
              <a:buClr>
                <a:schemeClr val="accent1"/>
              </a:buClr>
              <a:buSzPct val="100000"/>
              <a:buFont typeface="Arial"/>
              <a:buChar char="•"/>
            </a:pPr>
            <a:r>
              <a:rPr lang="en-US" sz="1400" dirty="0"/>
              <a:t>% of promotions</a:t>
            </a:r>
          </a:p>
          <a:p>
            <a:pPr marL="285750" indent="-285750" defTabSz="814388">
              <a:lnSpc>
                <a:spcPct val="95000"/>
              </a:lnSpc>
              <a:spcBef>
                <a:spcPct val="50000"/>
              </a:spcBef>
              <a:buClr>
                <a:schemeClr val="accent1"/>
              </a:buClr>
              <a:buSzPct val="100000"/>
              <a:buFont typeface="Arial"/>
              <a:buChar char="•"/>
            </a:pPr>
            <a:r>
              <a:rPr lang="en-US" sz="1400" dirty="0"/>
              <a:t>Number of innovation training hours per employee</a:t>
            </a:r>
          </a:p>
          <a:p>
            <a:pPr marL="285750" indent="-285750" defTabSz="814388">
              <a:lnSpc>
                <a:spcPct val="95000"/>
              </a:lnSpc>
              <a:spcBef>
                <a:spcPct val="50000"/>
              </a:spcBef>
              <a:buClr>
                <a:schemeClr val="accent1"/>
              </a:buClr>
              <a:buSzPct val="100000"/>
              <a:buFont typeface="Arial"/>
              <a:buChar char="•"/>
            </a:pPr>
            <a:r>
              <a:rPr lang="en-US" sz="1400" dirty="0"/>
              <a:t>Diversity ratios</a:t>
            </a:r>
          </a:p>
          <a:p>
            <a:pPr marL="285750" indent="-285750" defTabSz="814388">
              <a:lnSpc>
                <a:spcPct val="95000"/>
              </a:lnSpc>
              <a:spcBef>
                <a:spcPct val="50000"/>
              </a:spcBef>
              <a:buClr>
                <a:schemeClr val="accent1"/>
              </a:buClr>
              <a:buSzPct val="100000"/>
              <a:buFont typeface="Arial"/>
              <a:buChar char="•"/>
            </a:pPr>
            <a:r>
              <a:rPr lang="en-US" sz="1400" dirty="0"/>
              <a:t>IT employee satisfaction results</a:t>
            </a:r>
          </a:p>
          <a:p>
            <a:pPr marL="285750" indent="-285750" defTabSz="814388">
              <a:lnSpc>
                <a:spcPct val="95000"/>
              </a:lnSpc>
              <a:spcBef>
                <a:spcPct val="50000"/>
              </a:spcBef>
              <a:buClr>
                <a:schemeClr val="accent1"/>
              </a:buClr>
              <a:buSzPct val="100000"/>
              <a:buFont typeface="Arial"/>
              <a:buChar char="•"/>
            </a:pPr>
            <a:r>
              <a:rPr lang="en-US" sz="1400" dirty="0"/>
              <a:t>Implementation of lessons learnt</a:t>
            </a:r>
          </a:p>
        </p:txBody>
      </p:sp>
    </p:spTree>
    <p:extLst>
      <p:ext uri="{BB962C8B-B14F-4D97-AF65-F5344CB8AC3E}">
        <p14:creationId xmlns:p14="http://schemas.microsoft.com/office/powerpoint/2010/main" val="376108942"/>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Arial"/>
              <a:buChar char="•"/>
            </a:pPr>
            <a:r>
              <a:rPr lang="en-US" dirty="0"/>
              <a:t>Keep the connection &amp; communication with your stake holders</a:t>
            </a:r>
          </a:p>
          <a:p>
            <a:pPr>
              <a:buFont typeface="Arial"/>
              <a:buChar char="•"/>
            </a:pPr>
            <a:r>
              <a:rPr lang="en-US" dirty="0"/>
              <a:t>Build credibility and reputation</a:t>
            </a:r>
          </a:p>
          <a:p>
            <a:pPr>
              <a:buFont typeface="Arial"/>
              <a:buChar char="•"/>
            </a:pPr>
            <a:r>
              <a:rPr lang="en-US" dirty="0"/>
              <a:t>Gain visibility on progress and deviations</a:t>
            </a:r>
          </a:p>
          <a:p>
            <a:pPr>
              <a:buFont typeface="Arial"/>
              <a:buChar char="•"/>
            </a:pPr>
            <a:r>
              <a:rPr lang="en-US" dirty="0"/>
              <a:t>Manage your resources against your budget</a:t>
            </a:r>
          </a:p>
          <a:p>
            <a:pPr>
              <a:buFont typeface="Arial"/>
              <a:buChar char="•"/>
            </a:pPr>
            <a:r>
              <a:rPr lang="en-US" dirty="0"/>
              <a:t>Continuous improvement</a:t>
            </a:r>
          </a:p>
          <a:p>
            <a:endParaRPr lang="en-US" dirty="0"/>
          </a:p>
        </p:txBody>
      </p:sp>
      <p:sp>
        <p:nvSpPr>
          <p:cNvPr id="3" name="Title 2"/>
          <p:cNvSpPr>
            <a:spLocks noGrp="1"/>
          </p:cNvSpPr>
          <p:nvPr>
            <p:ph type="title"/>
          </p:nvPr>
        </p:nvSpPr>
        <p:spPr/>
        <p:txBody>
          <a:bodyPr>
            <a:normAutofit/>
          </a:bodyPr>
          <a:lstStyle/>
          <a:p>
            <a:r>
              <a:rPr lang="en-US" dirty="0"/>
              <a:t>Benefits of cost management</a:t>
            </a:r>
          </a:p>
        </p:txBody>
      </p:sp>
    </p:spTree>
    <p:extLst>
      <p:ext uri="{BB962C8B-B14F-4D97-AF65-F5344CB8AC3E}">
        <p14:creationId xmlns:p14="http://schemas.microsoft.com/office/powerpoint/2010/main" val="5794316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0" indent="0">
              <a:buNone/>
            </a:pPr>
            <a:r>
              <a:rPr lang="en-US" b="1" dirty="0"/>
              <a:t>Do:</a:t>
            </a:r>
          </a:p>
          <a:p>
            <a:pPr lvl="0">
              <a:buFont typeface="Arial"/>
              <a:buChar char="•"/>
            </a:pPr>
            <a:r>
              <a:rPr lang="en-US" dirty="0"/>
              <a:t>Focus on </a:t>
            </a:r>
            <a:r>
              <a:rPr lang="en-US" b="1" dirty="0"/>
              <a:t>key indicators</a:t>
            </a:r>
            <a:r>
              <a:rPr lang="en-US" dirty="0"/>
              <a:t> which have a significant effect on performance</a:t>
            </a:r>
          </a:p>
          <a:p>
            <a:pPr lvl="0">
              <a:buFont typeface="Arial"/>
              <a:buChar char="•"/>
            </a:pPr>
            <a:r>
              <a:rPr lang="en-US" dirty="0"/>
              <a:t>Use budgets to </a:t>
            </a:r>
            <a:r>
              <a:rPr lang="en-US" b="1" dirty="0"/>
              <a:t>anticipate problems</a:t>
            </a:r>
            <a:endParaRPr lang="en-US" dirty="0"/>
          </a:p>
          <a:p>
            <a:pPr lvl="0">
              <a:buFont typeface="Arial"/>
              <a:buChar char="•"/>
            </a:pPr>
            <a:r>
              <a:rPr lang="en-US" b="1" dirty="0"/>
              <a:t>Regularly review</a:t>
            </a:r>
            <a:r>
              <a:rPr lang="en-US" dirty="0"/>
              <a:t> performance and find reasons for variances</a:t>
            </a:r>
          </a:p>
          <a:p>
            <a:pPr lvl="0">
              <a:buFont typeface="Arial"/>
              <a:buChar char="•"/>
            </a:pPr>
            <a:r>
              <a:rPr lang="en-US" dirty="0"/>
              <a:t>Use budget control as a prompt to </a:t>
            </a:r>
            <a:r>
              <a:rPr lang="en-US" b="1" dirty="0"/>
              <a:t>action</a:t>
            </a:r>
            <a:endParaRPr lang="en-US" dirty="0"/>
          </a:p>
          <a:p>
            <a:pPr lvl="0">
              <a:buFont typeface="Arial"/>
              <a:buChar char="•"/>
            </a:pPr>
            <a:r>
              <a:rPr lang="en-US" dirty="0"/>
              <a:t>Revise budgets as more </a:t>
            </a:r>
            <a:r>
              <a:rPr lang="en-US" b="1" dirty="0"/>
              <a:t>up-to-date</a:t>
            </a:r>
            <a:r>
              <a:rPr lang="en-US" dirty="0"/>
              <a:t> information becomes available</a:t>
            </a:r>
          </a:p>
          <a:p>
            <a:pPr marL="0" lvl="0" indent="0">
              <a:buNone/>
            </a:pPr>
            <a:endParaRPr lang="en-US" dirty="0"/>
          </a:p>
          <a:p>
            <a:pPr marL="0" indent="0">
              <a:buNone/>
            </a:pPr>
            <a:r>
              <a:rPr lang="en-US" b="1" dirty="0"/>
              <a:t>Don't:</a:t>
            </a:r>
          </a:p>
          <a:p>
            <a:pPr lvl="0">
              <a:buFont typeface="Arial"/>
              <a:buChar char="•"/>
            </a:pPr>
            <a:r>
              <a:rPr lang="en-US" dirty="0"/>
              <a:t>Confuse changes in </a:t>
            </a:r>
            <a:r>
              <a:rPr lang="en-US" b="1" dirty="0"/>
              <a:t>timing</a:t>
            </a:r>
            <a:r>
              <a:rPr lang="en-US" dirty="0"/>
              <a:t> with permanent changes to the levels of revenues or expenses</a:t>
            </a:r>
          </a:p>
          <a:p>
            <a:pPr lvl="0">
              <a:buFont typeface="Arial"/>
              <a:buChar char="•"/>
            </a:pPr>
            <a:r>
              <a:rPr lang="en-US" dirty="0"/>
              <a:t>Ignore </a:t>
            </a:r>
            <a:r>
              <a:rPr lang="en-US" b="1" dirty="0"/>
              <a:t>favorable variances</a:t>
            </a:r>
            <a:r>
              <a:rPr lang="en-US" dirty="0"/>
              <a:t> without finding an explanation</a:t>
            </a:r>
          </a:p>
          <a:p>
            <a:endParaRPr lang="en-US" dirty="0"/>
          </a:p>
        </p:txBody>
      </p:sp>
      <p:sp>
        <p:nvSpPr>
          <p:cNvPr id="3" name="Title 2"/>
          <p:cNvSpPr>
            <a:spLocks noGrp="1"/>
          </p:cNvSpPr>
          <p:nvPr>
            <p:ph type="title"/>
          </p:nvPr>
        </p:nvSpPr>
        <p:spPr/>
        <p:txBody>
          <a:bodyPr/>
          <a:lstStyle/>
          <a:p>
            <a:r>
              <a:rPr lang="en-US" dirty="0"/>
              <a:t>Cost management cardinal rules</a:t>
            </a:r>
          </a:p>
        </p:txBody>
      </p:sp>
    </p:spTree>
    <p:extLst>
      <p:ext uri="{BB962C8B-B14F-4D97-AF65-F5344CB8AC3E}">
        <p14:creationId xmlns:p14="http://schemas.microsoft.com/office/powerpoint/2010/main" val="15665529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0436" y="2381144"/>
            <a:ext cx="4249899" cy="1754327"/>
          </a:xfrm>
          <a:prstGeom prst="rect">
            <a:avLst/>
          </a:prstGeom>
          <a:noFill/>
        </p:spPr>
        <p:txBody>
          <a:bodyPr wrap="square" rtlCol="0">
            <a:spAutoFit/>
          </a:bodyPr>
          <a:lstStyle/>
          <a:p>
            <a:pPr algn="ctr"/>
            <a:r>
              <a:rPr lang="en-US" sz="3600" b="1" dirty="0">
                <a:solidFill>
                  <a:schemeClr val="tx2"/>
                </a:solidFill>
              </a:rPr>
              <a:t>Thank you!</a:t>
            </a:r>
          </a:p>
          <a:p>
            <a:pPr algn="ctr"/>
            <a:endParaRPr lang="en-US" sz="3600" b="1" dirty="0">
              <a:solidFill>
                <a:schemeClr val="tx2"/>
              </a:solidFill>
            </a:endParaRPr>
          </a:p>
          <a:p>
            <a:pPr algn="ctr"/>
            <a:r>
              <a:rPr lang="en-US" sz="3600" b="1" dirty="0">
                <a:solidFill>
                  <a:schemeClr val="tx2"/>
                </a:solidFill>
              </a:rPr>
              <a:t>See you next time</a:t>
            </a:r>
          </a:p>
        </p:txBody>
      </p:sp>
    </p:spTree>
    <p:extLst>
      <p:ext uri="{BB962C8B-B14F-4D97-AF65-F5344CB8AC3E}">
        <p14:creationId xmlns:p14="http://schemas.microsoft.com/office/powerpoint/2010/main" val="14935795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8531485B0C104F9C58C50E30CD7832" ma:contentTypeVersion="4" ma:contentTypeDescription="Create a new document." ma:contentTypeScope="" ma:versionID="1dfccaadae0d2f0b848ad55bc03a2905">
  <xsd:schema xmlns:xsd="http://www.w3.org/2001/XMLSchema" xmlns:xs="http://www.w3.org/2001/XMLSchema" xmlns:p="http://schemas.microsoft.com/office/2006/metadata/properties" xmlns:ns2="0ea48c8c-38ab-43fa-892b-dc8a284a5f0d" targetNamespace="http://schemas.microsoft.com/office/2006/metadata/properties" ma:root="true" ma:fieldsID="2d2e5abe0c8f91bc85a8371e13ced834" ns2:_="">
    <xsd:import namespace="0ea48c8c-38ab-43fa-892b-dc8a284a5f0d"/>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a48c8c-38ab-43fa-892b-dc8a284a5f0d"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0ea48c8c-38ab-43fa-892b-dc8a284a5f0d" xsi:nil="true"/>
  </documentManagement>
</p:properties>
</file>

<file path=customXml/itemProps1.xml><?xml version="1.0" encoding="utf-8"?>
<ds:datastoreItem xmlns:ds="http://schemas.openxmlformats.org/officeDocument/2006/customXml" ds:itemID="{1C6426A5-B536-4D1A-8F8E-7A0B90709850}"/>
</file>

<file path=customXml/itemProps2.xml><?xml version="1.0" encoding="utf-8"?>
<ds:datastoreItem xmlns:ds="http://schemas.openxmlformats.org/officeDocument/2006/customXml" ds:itemID="{32AD5EDC-8EE3-4A59-A269-D48BC73872F4}"/>
</file>

<file path=customXml/itemProps3.xml><?xml version="1.0" encoding="utf-8"?>
<ds:datastoreItem xmlns:ds="http://schemas.openxmlformats.org/officeDocument/2006/customXml" ds:itemID="{13BE5F38-0BCB-4FCE-BD32-29EF5FBA1C6B}"/>
</file>

<file path=docProps/app.xml><?xml version="1.0" encoding="utf-8"?>
<Properties xmlns="http://schemas.openxmlformats.org/officeDocument/2006/extended-properties" xmlns:vt="http://schemas.openxmlformats.org/officeDocument/2006/docPropsVTypes">
  <Template>Waveform.thmx</Template>
  <TotalTime>14689</TotalTime>
  <Words>4257</Words>
  <Application>Microsoft Macintosh PowerPoint</Application>
  <PresentationFormat>On-screen Show (4:3)</PresentationFormat>
  <Paragraphs>624</Paragraphs>
  <Slides>68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ＭＳ Ｐゴシック</vt:lpstr>
      <vt:lpstr>Arial</vt:lpstr>
      <vt:lpstr>Calibri</vt:lpstr>
      <vt:lpstr>Candara</vt:lpstr>
      <vt:lpstr>Courier New</vt:lpstr>
      <vt:lpstr>Lucida Grande</vt:lpstr>
      <vt:lpstr>Symbol</vt:lpstr>
      <vt:lpstr>Wingdings</vt:lpstr>
      <vt:lpstr>Waveform</vt:lpstr>
      <vt:lpstr>Corporate Finance 2. Planning and Budgeting  </vt:lpstr>
      <vt:lpstr>Sessions calendar Group 1</vt:lpstr>
      <vt:lpstr>Sessions calendar Group 2</vt:lpstr>
      <vt:lpstr>Sessions calendar Group 3</vt:lpstr>
      <vt:lpstr>Course schedule and contents</vt:lpstr>
      <vt:lpstr>Session contents</vt:lpstr>
      <vt:lpstr>Finance and IT</vt:lpstr>
      <vt:lpstr>Finance and IT</vt:lpstr>
      <vt:lpstr>Finance and IT</vt:lpstr>
      <vt:lpstr>What does IT do ?</vt:lpstr>
      <vt:lpstr>Key IT financial processes</vt:lpstr>
      <vt:lpstr>IT Chargeback process  (1/3)</vt:lpstr>
      <vt:lpstr>IT Chargeback process (2/3)</vt:lpstr>
      <vt:lpstr>IT Chargeback process (3/3)</vt:lpstr>
      <vt:lpstr>Categories of IT costs</vt:lpstr>
      <vt:lpstr>Categories of IT costs (1/4)</vt:lpstr>
      <vt:lpstr>Categories of IT costs (2/4) </vt:lpstr>
      <vt:lpstr>Categories of IT costs (3/4)</vt:lpstr>
      <vt:lpstr>Categories of IT costs (4/4)</vt:lpstr>
      <vt:lpstr>Cloud Computing ITaaS</vt:lpstr>
      <vt:lpstr>Cloud computing or ITaaS (IT as a Service)</vt:lpstr>
      <vt:lpstr>Cloud computing or ITaaS (IT as a Service)</vt:lpstr>
      <vt:lpstr>Cloud computing or ITaaS (IT as a Service)</vt:lpstr>
      <vt:lpstr>Cloud computing or ITaaS (IT as a Service)</vt:lpstr>
      <vt:lpstr>Planning and Budgeting</vt:lpstr>
      <vt:lpstr>What is a budget ? (1/2)</vt:lpstr>
      <vt:lpstr>What is a budget ? (2/2)</vt:lpstr>
      <vt:lpstr>Budget format (1/4)</vt:lpstr>
      <vt:lpstr>Budget model (2/4)</vt:lpstr>
      <vt:lpstr>Budget model (3/4)</vt:lpstr>
      <vt:lpstr>Budget model (4/4)</vt:lpstr>
      <vt:lpstr>Key elements to a budget?</vt:lpstr>
      <vt:lpstr>Why plan &amp; budget?</vt:lpstr>
      <vt:lpstr>Planning and Budgeting process</vt:lpstr>
      <vt:lpstr>Typical planning processes</vt:lpstr>
      <vt:lpstr>Planning</vt:lpstr>
      <vt:lpstr>Possible definition of planning</vt:lpstr>
      <vt:lpstr>Possible definition of planning</vt:lpstr>
      <vt:lpstr>Benefits of planning</vt:lpstr>
      <vt:lpstr>Budget process</vt:lpstr>
      <vt:lpstr>IT budget is part of a larger “company budget”</vt:lpstr>
      <vt:lpstr>IT budget is part of a larger “company budget”</vt:lpstr>
      <vt:lpstr>Writing your budget (1/6)</vt:lpstr>
      <vt:lpstr>Writing your budget (2/6)</vt:lpstr>
      <vt:lpstr>Writing your budget (3/6)</vt:lpstr>
      <vt:lpstr>Writing your budget (4/6)</vt:lpstr>
      <vt:lpstr>Writing your budget (5/6)</vt:lpstr>
      <vt:lpstr>Writing your budget (6/6)</vt:lpstr>
      <vt:lpstr>Budgeting methodologies</vt:lpstr>
      <vt:lpstr>Two approaches to budgeting</vt:lpstr>
      <vt:lpstr>Main goals of budget control</vt:lpstr>
      <vt:lpstr>Other aspects of budget control</vt:lpstr>
      <vt:lpstr>Functions of a budget committee (where available)</vt:lpstr>
      <vt:lpstr>Budget approval</vt:lpstr>
      <vt:lpstr>How to win budget approval?</vt:lpstr>
      <vt:lpstr>How to win budget approval?</vt:lpstr>
      <vt:lpstr>How to win budget approval?</vt:lpstr>
      <vt:lpstr>PowerPoint Presentation</vt:lpstr>
      <vt:lpstr>Cost management</vt:lpstr>
      <vt:lpstr>Why implement cost management?</vt:lpstr>
      <vt:lpstr>How to manage costs</vt:lpstr>
      <vt:lpstr>How to manage costs</vt:lpstr>
      <vt:lpstr>Elements of cost management</vt:lpstr>
      <vt:lpstr>Dashboard example</vt:lpstr>
      <vt:lpstr>Your IT Balanced Scorecard</vt:lpstr>
      <vt:lpstr>Benefits of cost management</vt:lpstr>
      <vt:lpstr>Cost management cardinal rules</vt:lpstr>
      <vt:lpstr>PowerPoint Presentation</vt:lpstr>
    </vt:vector>
  </TitlesOfParts>
  <Manager/>
  <Company>Hervé Gallot for EPITA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Masters</dc:title>
  <dc:subject>Finance for IT Managers</dc:subject>
  <dc:creator>Hervé Gallot</dc:creator>
  <cp:keywords/>
  <dc:description/>
  <cp:lastModifiedBy>appriou sylvie</cp:lastModifiedBy>
  <cp:revision>724</cp:revision>
  <cp:lastPrinted>2013-03-07T08:20:19Z</cp:lastPrinted>
  <dcterms:created xsi:type="dcterms:W3CDTF">2013-02-25T11:18:49Z</dcterms:created>
  <dcterms:modified xsi:type="dcterms:W3CDTF">2025-09-17T09:27:47Z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0x010100FD8531485B0C104F9C58C50E30CD7832</vt:lpwstr>
  </property>
</Properties>
</file>