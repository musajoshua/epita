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2"/>
  </p:notesMasterIdLst>
  <p:handoutMasterIdLst>
    <p:handoutMasterId r:id="rId23"/>
  </p:handoutMasterIdLst>
  <p:sldIdLst>
    <p:sldId id="256" r:id="rId2"/>
    <p:sldId id="529" r:id="rId3"/>
    <p:sldId id="544" r:id="rId4"/>
    <p:sldId id="545" r:id="rId5"/>
    <p:sldId id="533" r:id="rId6"/>
    <p:sldId id="534" r:id="rId7"/>
    <p:sldId id="535" r:id="rId8"/>
    <p:sldId id="536" r:id="rId9"/>
    <p:sldId id="542" r:id="rId10"/>
    <p:sldId id="557" r:id="rId11"/>
    <p:sldId id="558" r:id="rId12"/>
    <p:sldId id="559" r:id="rId13"/>
    <p:sldId id="560" r:id="rId14"/>
    <p:sldId id="556" r:id="rId15"/>
    <p:sldId id="561" r:id="rId16"/>
    <p:sldId id="562" r:id="rId17"/>
    <p:sldId id="563" r:id="rId18"/>
    <p:sldId id="565" r:id="rId19"/>
    <p:sldId id="564" r:id="rId20"/>
    <p:sldId id="46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3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clrMode="bw" frameSlides="1"/>
  <p:clrMru>
    <a:srgbClr val="185CB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97"/>
    <p:restoredTop sz="95865" autoAdjust="0"/>
  </p:normalViewPr>
  <p:slideViewPr>
    <p:cSldViewPr snapToGrid="0" snapToObjects="1">
      <p:cViewPr varScale="1">
        <p:scale>
          <a:sx n="117" d="100"/>
          <a:sy n="117" d="100"/>
        </p:scale>
        <p:origin x="1488" y="168"/>
      </p:cViewPr>
      <p:guideLst>
        <p:guide orient="horz" pos="2160"/>
        <p:guide pos="2328"/>
      </p:guideLst>
    </p:cSldViewPr>
  </p:slideViewPr>
  <p:notesTextViewPr>
    <p:cViewPr>
      <p:scale>
        <a:sx n="100" d="100"/>
        <a:sy n="100" d="100"/>
      </p:scale>
      <p:origin x="0" y="0"/>
    </p:cViewPr>
  </p:notesTextViewPr>
  <p:sorterViewPr>
    <p:cViewPr>
      <p:scale>
        <a:sx n="141" d="100"/>
        <a:sy n="141" d="100"/>
      </p:scale>
      <p:origin x="0" y="823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D9F7FC8-EDF1-B745-B794-DEBC2B28F3A5}" type="datetimeFigureOut">
              <a:rPr lang="en-US" smtClean="0"/>
              <a:t>4/14/25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0CC7BF8-8EEA-E746-B6B1-70A030903C56}" type="slidenum">
              <a:rPr lang="en-US" smtClean="0"/>
              <a:t>‹#›</a:t>
            </a:fld>
            <a:endParaRPr lang="en-US"/>
          </a:p>
        </p:txBody>
      </p:sp>
    </p:spTree>
    <p:extLst>
      <p:ext uri="{BB962C8B-B14F-4D97-AF65-F5344CB8AC3E}">
        <p14:creationId xmlns:p14="http://schemas.microsoft.com/office/powerpoint/2010/main" val="2816195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97C15C-9360-D846-82FF-FB09835C3991}" type="datetimeFigureOut">
              <a:rPr lang="en-US" smtClean="0"/>
              <a:t>4/14/25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7098D7-F03D-454D-A4F0-32B46C79E6C0}" type="slidenum">
              <a:rPr lang="en-US" smtClean="0"/>
              <a:t>‹#›</a:t>
            </a:fld>
            <a:endParaRPr lang="en-US"/>
          </a:p>
        </p:txBody>
      </p:sp>
    </p:spTree>
    <p:extLst>
      <p:ext uri="{BB962C8B-B14F-4D97-AF65-F5344CB8AC3E}">
        <p14:creationId xmlns:p14="http://schemas.microsoft.com/office/powerpoint/2010/main" val="106201930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userDrawn="1"/>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fr-FR"/>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Click to edit Master subtitle style</a:t>
            </a:r>
            <a:endParaRPr lang="en-US" dirty="0"/>
          </a:p>
        </p:txBody>
      </p:sp>
      <p:sp>
        <p:nvSpPr>
          <p:cNvPr id="4" name="Date Placeholder 3"/>
          <p:cNvSpPr>
            <a:spLocks noGrp="1"/>
          </p:cNvSpPr>
          <p:nvPr>
            <p:ph type="dt" sz="half" idx="10"/>
          </p:nvPr>
        </p:nvSpPr>
        <p:spPr/>
        <p:txBody>
          <a:bodyPr/>
          <a:lstStyle/>
          <a:p>
            <a:fld id="{E30E2307-1E40-4E12-8716-25BFDA8E7013}" type="datetime1">
              <a:rPr lang="en-US" smtClean="0"/>
              <a:pPr/>
              <a:t>4/14/25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p>
            <a:fld id="{61FD9D02-426E-46C9-9EE9-0DE1EF8B2838}" type="datetime1">
              <a:rPr lang="en-US" smtClean="0"/>
              <a:pPr/>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
        <p:nvSpPr>
          <p:cNvPr id="7" name="Title 6"/>
          <p:cNvSpPr>
            <a:spLocks noGrp="1"/>
          </p:cNvSpPr>
          <p:nvPr>
            <p:ph type="title"/>
          </p:nvPr>
        </p:nvSpPr>
        <p:spPr/>
        <p:txBody>
          <a:bodyPr/>
          <a:lstStyle/>
          <a:p>
            <a:r>
              <a:rPr lang="fr-FR"/>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fr-FR"/>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Click to edit Master text styles</a:t>
            </a:r>
          </a:p>
        </p:txBody>
      </p:sp>
      <p:sp>
        <p:nvSpPr>
          <p:cNvPr id="4" name="Date Placeholder 3"/>
          <p:cNvSpPr>
            <a:spLocks noGrp="1"/>
          </p:cNvSpPr>
          <p:nvPr>
            <p:ph type="dt" sz="half" idx="10"/>
          </p:nvPr>
        </p:nvSpPr>
        <p:spPr/>
        <p:txBody>
          <a:bodyPr/>
          <a:lstStyle/>
          <a:p>
            <a:fld id="{7B8AEBBE-F8B2-42CF-9895-E86A608384EB}" type="datetime1">
              <a:rPr lang="en-US" smtClean="0"/>
              <a:pPr/>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5" name="Date Placeholder 4"/>
          <p:cNvSpPr>
            <a:spLocks noGrp="1"/>
          </p:cNvSpPr>
          <p:nvPr>
            <p:ph type="dt" sz="half" idx="10"/>
          </p:nvPr>
        </p:nvSpPr>
        <p:spPr/>
        <p:txBody>
          <a:bodyPr/>
          <a:lstStyle/>
          <a:p>
            <a:fld id="{E1FAA6B6-10E5-4810-BC9F-DA72D8452E73}" type="datetime1">
              <a:rPr lang="en-US" smtClean="0"/>
              <a:pPr/>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7" name="Date Placeholder 6"/>
          <p:cNvSpPr>
            <a:spLocks noGrp="1"/>
          </p:cNvSpPr>
          <p:nvPr>
            <p:ph type="dt" sz="half" idx="10"/>
          </p:nvPr>
        </p:nvSpPr>
        <p:spPr/>
        <p:txBody>
          <a:bodyPr/>
          <a:lstStyle/>
          <a:p>
            <a:fld id="{6D18D072-EF12-4AA2-BD71-ABC68B06D0E2}" type="datetime1">
              <a:rPr lang="en-US" smtClean="0"/>
              <a:pPr/>
              <a:t>4/14/25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Date Placeholder 2"/>
          <p:cNvSpPr>
            <a:spLocks noGrp="1"/>
          </p:cNvSpPr>
          <p:nvPr>
            <p:ph type="dt" sz="half" idx="10"/>
          </p:nvPr>
        </p:nvSpPr>
        <p:spPr/>
        <p:txBody>
          <a:bodyPr/>
          <a:lstStyle/>
          <a:p>
            <a:fld id="{B8CDBF60-6CC3-4B74-A60D-3486985E4346}" type="datetime1">
              <a:rPr lang="en-US" smtClean="0"/>
              <a:pPr/>
              <a:t>4/14/25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22714818-984F-4759-BF72-A33BDC1963BD}" type="datetime1">
              <a:rPr lang="en-US" smtClean="0"/>
              <a:pPr/>
              <a:t>4/14/25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9EA7E191-5F94-4FC1-B823-BD7CABF7FA06}" type="datetime1">
              <a:rPr lang="en-US" smtClean="0"/>
              <a:pPr/>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fr-FR"/>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fr-FR"/>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sp>
        <p:nvSpPr>
          <p:cNvPr id="5" name="Date Placeholder 4"/>
          <p:cNvSpPr>
            <a:spLocks noGrp="1"/>
          </p:cNvSpPr>
          <p:nvPr>
            <p:ph type="dt" sz="half" idx="10"/>
          </p:nvPr>
        </p:nvSpPr>
        <p:spPr/>
        <p:txBody>
          <a:bodyPr/>
          <a:lstStyle/>
          <a:p>
            <a:fld id="{88856D55-EFBE-4F9B-8A5F-09D42CA22A9B}" type="datetime1">
              <a:rPr lang="en-US" smtClean="0"/>
              <a:pPr/>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Drag picture to placeholder or click icon to add</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p>
            <a:fld id="{E5CFCF5A-EA79-452C-A52C-1A2668C2E7DF}" type="datetime1">
              <a:rPr lang="en-US" smtClean="0"/>
              <a:pPr/>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2E5C4C28-BD4B-4892-9A2D-6E19BD753A9A}" type="datetime1">
              <a:rPr lang="en-US" smtClean="0"/>
              <a:pPr/>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fr-FR"/>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fr-FR"/>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9D1D110F-3F4E-48D9-B8AA-5D0E825AFDBA}" type="datetime1">
              <a:rPr lang="en-US" smtClean="0"/>
              <a:pPr/>
              <a:t>4/14/25</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dirty="0"/>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687D7A59-36E2-48B9-B146-C1E59501F63F}" type="slidenum">
              <a:rPr lang="en-US" smtClean="0"/>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Finance for IT managers</a:t>
            </a:r>
          </a:p>
        </p:txBody>
      </p:sp>
      <p:sp>
        <p:nvSpPr>
          <p:cNvPr id="3" name="Subtitle 2"/>
          <p:cNvSpPr>
            <a:spLocks noGrp="1"/>
          </p:cNvSpPr>
          <p:nvPr>
            <p:ph type="subTitle" idx="1"/>
          </p:nvPr>
        </p:nvSpPr>
        <p:spPr/>
        <p:txBody>
          <a:bodyPr/>
          <a:lstStyle/>
          <a:p>
            <a:r>
              <a:rPr lang="en-US" dirty="0"/>
              <a:t>International Masters </a:t>
            </a:r>
          </a:p>
          <a:p>
            <a:r>
              <a:rPr lang="en-US" dirty="0"/>
              <a:t>Spring 2025 program</a:t>
            </a:r>
          </a:p>
        </p:txBody>
      </p:sp>
      <p:pic>
        <p:nvPicPr>
          <p:cNvPr id="4" name="Image 3" descr="\\shares.ionis.epitech.net\EPITA_MASTER_INTERNATIONAUX\Logos\EPITA GRADUATE.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533" y="5798820"/>
            <a:ext cx="1869440" cy="1059180"/>
          </a:xfrm>
          <a:prstGeom prst="rect">
            <a:avLst/>
          </a:prstGeom>
          <a:noFill/>
          <a:ln w="9525">
            <a:noFill/>
            <a:miter lim="800000"/>
            <a:headEnd/>
            <a:tailEnd/>
          </a:ln>
        </p:spPr>
      </p:pic>
      <p:sp>
        <p:nvSpPr>
          <p:cNvPr id="5" name="TextBox 4"/>
          <p:cNvSpPr txBox="1"/>
          <p:nvPr/>
        </p:nvSpPr>
        <p:spPr>
          <a:xfrm>
            <a:off x="6515100" y="6338125"/>
            <a:ext cx="2400101" cy="369332"/>
          </a:xfrm>
          <a:prstGeom prst="rect">
            <a:avLst/>
          </a:prstGeom>
          <a:noFill/>
        </p:spPr>
        <p:txBody>
          <a:bodyPr wrap="square" rtlCol="0">
            <a:spAutoFit/>
          </a:bodyPr>
          <a:lstStyle/>
          <a:p>
            <a:pPr algn="r"/>
            <a:r>
              <a:rPr lang="en-US" b="1" dirty="0">
                <a:solidFill>
                  <a:srgbClr val="185CB9"/>
                </a:solidFill>
              </a:rPr>
              <a:t>©</a:t>
            </a:r>
            <a:r>
              <a:rPr lang="en-US" dirty="0"/>
              <a:t> </a:t>
            </a:r>
            <a:r>
              <a:rPr lang="en-US" b="1" dirty="0">
                <a:solidFill>
                  <a:srgbClr val="185CB9"/>
                </a:solidFill>
              </a:rPr>
              <a:t>Sylvie Appriou</a:t>
            </a:r>
          </a:p>
        </p:txBody>
      </p:sp>
    </p:spTree>
    <p:extLst>
      <p:ext uri="{BB962C8B-B14F-4D97-AF65-F5344CB8AC3E}">
        <p14:creationId xmlns:p14="http://schemas.microsoft.com/office/powerpoint/2010/main" val="861334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032" y="1610610"/>
            <a:ext cx="7772400" cy="2376950"/>
          </a:xfrm>
        </p:spPr>
        <p:txBody>
          <a:bodyPr/>
          <a:lstStyle/>
          <a:p>
            <a:r>
              <a:rPr lang="en-US" dirty="0"/>
              <a:t>Case Study</a:t>
            </a:r>
            <a:br>
              <a:rPr lang="en-US" dirty="0"/>
            </a:br>
            <a:r>
              <a:rPr lang="en-US" dirty="0"/>
              <a:t>New Corp IT budget</a:t>
            </a:r>
            <a:br>
              <a:rPr lang="en-US" dirty="0"/>
            </a:br>
            <a:endParaRPr lang="en-US" dirty="0"/>
          </a:p>
        </p:txBody>
      </p:sp>
    </p:spTree>
    <p:extLst>
      <p:ext uri="{BB962C8B-B14F-4D97-AF65-F5344CB8AC3E}">
        <p14:creationId xmlns:p14="http://schemas.microsoft.com/office/powerpoint/2010/main" val="301093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Budget model </a:t>
            </a:r>
            <a:r>
              <a:rPr lang="en-US" sz="2400" dirty="0"/>
              <a:t>(1/3)</a:t>
            </a:r>
          </a:p>
        </p:txBody>
      </p:sp>
      <p:pic>
        <p:nvPicPr>
          <p:cNvPr id="5" name="Picture 4"/>
          <p:cNvPicPr>
            <a:picLocks noChangeAspect="1"/>
          </p:cNvPicPr>
          <p:nvPr/>
        </p:nvPicPr>
        <p:blipFill rotWithShape="1">
          <a:blip r:embed="rId2"/>
          <a:srcRect l="2221" t="22889" r="3334" b="11555"/>
          <a:stretch/>
        </p:blipFill>
        <p:spPr>
          <a:xfrm>
            <a:off x="203200" y="2743200"/>
            <a:ext cx="8636000" cy="3746500"/>
          </a:xfrm>
          <a:prstGeom prst="rect">
            <a:avLst/>
          </a:prstGeom>
        </p:spPr>
      </p:pic>
    </p:spTree>
    <p:extLst>
      <p:ext uri="{BB962C8B-B14F-4D97-AF65-F5344CB8AC3E}">
        <p14:creationId xmlns:p14="http://schemas.microsoft.com/office/powerpoint/2010/main" val="362781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Budget model </a:t>
            </a:r>
            <a:r>
              <a:rPr lang="en-US" sz="2400" dirty="0"/>
              <a:t>(2/3)</a:t>
            </a:r>
          </a:p>
        </p:txBody>
      </p:sp>
      <p:pic>
        <p:nvPicPr>
          <p:cNvPr id="2" name="Picture 1"/>
          <p:cNvPicPr>
            <a:picLocks noChangeAspect="1"/>
          </p:cNvPicPr>
          <p:nvPr/>
        </p:nvPicPr>
        <p:blipFill rotWithShape="1">
          <a:blip r:embed="rId2"/>
          <a:srcRect l="2640" t="23333" r="74583" b="12444"/>
          <a:stretch/>
        </p:blipFill>
        <p:spPr>
          <a:xfrm>
            <a:off x="457200" y="2311400"/>
            <a:ext cx="2082800" cy="3670300"/>
          </a:xfrm>
          <a:prstGeom prst="rect">
            <a:avLst/>
          </a:prstGeom>
        </p:spPr>
      </p:pic>
      <p:pic>
        <p:nvPicPr>
          <p:cNvPr id="5" name="Picture 4"/>
          <p:cNvPicPr>
            <a:picLocks noChangeAspect="1"/>
          </p:cNvPicPr>
          <p:nvPr/>
        </p:nvPicPr>
        <p:blipFill rotWithShape="1">
          <a:blip r:embed="rId3"/>
          <a:srcRect l="2639" t="24222" r="72779" b="7110"/>
          <a:stretch/>
        </p:blipFill>
        <p:spPr>
          <a:xfrm>
            <a:off x="3340100" y="2438400"/>
            <a:ext cx="2247900" cy="3924300"/>
          </a:xfrm>
          <a:prstGeom prst="rect">
            <a:avLst/>
          </a:prstGeom>
        </p:spPr>
      </p:pic>
      <p:pic>
        <p:nvPicPr>
          <p:cNvPr id="6" name="Picture 5"/>
          <p:cNvPicPr>
            <a:picLocks noChangeAspect="1"/>
          </p:cNvPicPr>
          <p:nvPr/>
        </p:nvPicPr>
        <p:blipFill rotWithShape="1">
          <a:blip r:embed="rId4"/>
          <a:srcRect l="2361" t="22889" r="76389" b="8222"/>
          <a:stretch/>
        </p:blipFill>
        <p:spPr>
          <a:xfrm>
            <a:off x="6743700" y="2768600"/>
            <a:ext cx="1943100" cy="3937000"/>
          </a:xfrm>
          <a:prstGeom prst="rect">
            <a:avLst/>
          </a:prstGeom>
        </p:spPr>
      </p:pic>
    </p:spTree>
    <p:extLst>
      <p:ext uri="{BB962C8B-B14F-4D97-AF65-F5344CB8AC3E}">
        <p14:creationId xmlns:p14="http://schemas.microsoft.com/office/powerpoint/2010/main" val="209228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83372" y="2576760"/>
            <a:ext cx="8616613" cy="4281240"/>
          </a:xfrm>
        </p:spPr>
        <p:txBody>
          <a:bodyPr>
            <a:noAutofit/>
          </a:bodyPr>
          <a:lstStyle/>
          <a:p>
            <a:pPr lvl="0">
              <a:buFont typeface="Arial"/>
              <a:buChar char="•"/>
            </a:pPr>
            <a:r>
              <a:rPr lang="en-US" sz="1600" dirty="0"/>
              <a:t>Despite the global economic climate, New Corp. has managed to continue growing at a slow pace for the past three years.</a:t>
            </a:r>
          </a:p>
          <a:p>
            <a:pPr lvl="0">
              <a:buFont typeface="Arial"/>
              <a:buChar char="•"/>
            </a:pPr>
            <a:r>
              <a:rPr lang="en-US" sz="1600" dirty="0"/>
              <a:t>The outlook for 2015 is more favorable as New Corp. was short-listed on several large sales opportunities, which could materialize in 2015.</a:t>
            </a:r>
          </a:p>
          <a:p>
            <a:pPr lvl="0">
              <a:buFont typeface="Arial"/>
              <a:buChar char="•"/>
            </a:pPr>
            <a:r>
              <a:rPr lang="en-US" sz="1600" dirty="0"/>
              <a:t>Your CEO anticipates business to grow faster than recently and </a:t>
            </a:r>
            <a:r>
              <a:rPr lang="en-US" sz="1600" b="1" dirty="0"/>
              <a:t>plans on a 20% annual sales growth for next year</a:t>
            </a:r>
            <a:r>
              <a:rPr lang="en-US" sz="1600" dirty="0"/>
              <a:t>.</a:t>
            </a:r>
          </a:p>
          <a:p>
            <a:pPr lvl="0">
              <a:buFont typeface="Arial"/>
              <a:buChar char="•"/>
            </a:pPr>
            <a:r>
              <a:rPr lang="en-US" sz="1600" dirty="0"/>
              <a:t>New Corp. plans on growing the </a:t>
            </a:r>
            <a:r>
              <a:rPr lang="en-US" sz="1600" b="1" dirty="0"/>
              <a:t>sales team by 15% and the rest of the organization by 10%</a:t>
            </a:r>
          </a:p>
          <a:p>
            <a:pPr lvl="0">
              <a:buFont typeface="Arial"/>
              <a:buChar char="•"/>
            </a:pPr>
            <a:r>
              <a:rPr lang="en-US" sz="1600" b="1" dirty="0"/>
              <a:t>IT is key to New Corp.’s strategy</a:t>
            </a:r>
            <a:r>
              <a:rPr lang="en-US" sz="1600" dirty="0"/>
              <a:t>, hence why you were recently hired</a:t>
            </a:r>
          </a:p>
          <a:p>
            <a:pPr lvl="0">
              <a:buFont typeface="Arial"/>
              <a:buChar char="•"/>
            </a:pPr>
            <a:r>
              <a:rPr lang="en-US" sz="1600" dirty="0"/>
              <a:t>The company runs on </a:t>
            </a:r>
            <a:r>
              <a:rPr lang="en-US" sz="1600" b="1" dirty="0"/>
              <a:t>an ERP system, implemented last year</a:t>
            </a:r>
            <a:r>
              <a:rPr lang="en-US" sz="1600" dirty="0"/>
              <a:t>, after two previous unsuccessful attempts.</a:t>
            </a:r>
          </a:p>
          <a:p>
            <a:pPr lvl="0">
              <a:buFont typeface="Arial"/>
              <a:buChar char="•"/>
            </a:pPr>
            <a:r>
              <a:rPr lang="en-US" sz="1600" dirty="0"/>
              <a:t>Your servers run at 78% capacity and despite a few data availability issues this year, your team seems to </a:t>
            </a:r>
            <a:r>
              <a:rPr lang="en-US" sz="1600" b="1" dirty="0"/>
              <a:t>meet all SLAs.</a:t>
            </a:r>
          </a:p>
          <a:p>
            <a:pPr lvl="0">
              <a:buFont typeface="Arial"/>
              <a:buChar char="•"/>
            </a:pPr>
            <a:r>
              <a:rPr lang="en-US" sz="1600" dirty="0"/>
              <a:t>The Marketing manager asked to meet with you next week, as she wants to discuss the revamping of </a:t>
            </a:r>
            <a:r>
              <a:rPr lang="en-US" sz="1600" b="1" dirty="0"/>
              <a:t>New Corp.’s web site </a:t>
            </a:r>
            <a:r>
              <a:rPr lang="en-US" sz="1600" dirty="0"/>
              <a:t>with you.</a:t>
            </a:r>
          </a:p>
        </p:txBody>
      </p:sp>
      <p:sp>
        <p:nvSpPr>
          <p:cNvPr id="3" name="Title 2"/>
          <p:cNvSpPr>
            <a:spLocks noGrp="1"/>
          </p:cNvSpPr>
          <p:nvPr>
            <p:ph type="title"/>
          </p:nvPr>
        </p:nvSpPr>
        <p:spPr/>
        <p:txBody>
          <a:bodyPr/>
          <a:lstStyle/>
          <a:p>
            <a:r>
              <a:rPr lang="en-US" dirty="0"/>
              <a:t>Case study details </a:t>
            </a:r>
            <a:r>
              <a:rPr lang="en-US" sz="2400" dirty="0"/>
              <a:t>(1/4)</a:t>
            </a:r>
          </a:p>
        </p:txBody>
      </p:sp>
    </p:spTree>
    <p:extLst>
      <p:ext uri="{BB962C8B-B14F-4D97-AF65-F5344CB8AC3E}">
        <p14:creationId xmlns:p14="http://schemas.microsoft.com/office/powerpoint/2010/main" val="2965336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83373" y="2576760"/>
            <a:ext cx="8543145" cy="4281240"/>
          </a:xfrm>
        </p:spPr>
        <p:txBody>
          <a:bodyPr>
            <a:noAutofit/>
          </a:bodyPr>
          <a:lstStyle/>
          <a:p>
            <a:pPr lvl="0">
              <a:buFont typeface="Arial"/>
              <a:buChar char="•"/>
            </a:pPr>
            <a:r>
              <a:rPr lang="en-US" sz="1500" dirty="0"/>
              <a:t>In addition of supporting the growing business with your IT department, your CEO mentioned during your interview that:</a:t>
            </a:r>
          </a:p>
          <a:p>
            <a:pPr lvl="1" algn="just">
              <a:buFont typeface="Courier New"/>
              <a:buChar char="o"/>
            </a:pPr>
            <a:r>
              <a:rPr lang="en-US" sz="1500" dirty="0"/>
              <a:t>He would like to invest into an </a:t>
            </a:r>
            <a:r>
              <a:rPr lang="en-US" sz="1500" b="1" dirty="0"/>
              <a:t>HR system </a:t>
            </a:r>
            <a:r>
              <a:rPr lang="en-US" sz="1500" dirty="0"/>
              <a:t>to </a:t>
            </a:r>
            <a:r>
              <a:rPr lang="en-US" sz="1500" b="1" dirty="0"/>
              <a:t>automate all HR activities and provide an HR tool to all managers</a:t>
            </a:r>
            <a:r>
              <a:rPr lang="en-US" sz="1500" dirty="0"/>
              <a:t>. Your CEO already knows from a friend of his (President of a large software company specialized in HR packages) that he could implement their HR system for less than </a:t>
            </a:r>
            <a:r>
              <a:rPr lang="en-US" sz="1500" b="1" dirty="0"/>
              <a:t>120,000USD, within 9 months</a:t>
            </a:r>
            <a:r>
              <a:rPr lang="en-US" sz="1500" dirty="0"/>
              <a:t>, with the </a:t>
            </a:r>
            <a:r>
              <a:rPr lang="en-US" sz="1500" b="1" dirty="0"/>
              <a:t>addition of contractors and consultants</a:t>
            </a:r>
            <a:r>
              <a:rPr lang="en-US" sz="1500" dirty="0"/>
              <a:t>. </a:t>
            </a:r>
          </a:p>
          <a:p>
            <a:pPr lvl="1" algn="just">
              <a:buFont typeface="Courier New"/>
              <a:buChar char="o"/>
            </a:pPr>
            <a:r>
              <a:rPr lang="en-US" sz="1500" dirty="0"/>
              <a:t>He is frustrated at sales representatives keeping all of their sales contacts and sales forecast data privately on their own laptops. The loss of key sales data hurt New Corp. severely last summer when the most senior and performing sales representative left the company.</a:t>
            </a:r>
          </a:p>
          <a:p>
            <a:pPr lvl="1" algn="just">
              <a:buFont typeface="Courier New"/>
              <a:buChar char="o"/>
            </a:pPr>
            <a:r>
              <a:rPr lang="en-US" sz="1500" dirty="0"/>
              <a:t>He trusts you for making a </a:t>
            </a:r>
            <a:r>
              <a:rPr lang="en-US" sz="1500" b="1" dirty="0"/>
              <a:t>full assessment of the IT situation </a:t>
            </a:r>
            <a:r>
              <a:rPr lang="en-US" sz="1500" dirty="0"/>
              <a:t>and come up with </a:t>
            </a:r>
            <a:r>
              <a:rPr lang="en-US" sz="1500" b="1" dirty="0"/>
              <a:t>recommendations</a:t>
            </a:r>
            <a:r>
              <a:rPr lang="en-US" sz="1500" dirty="0"/>
              <a:t> on where you see </a:t>
            </a:r>
            <a:r>
              <a:rPr lang="en-US" sz="1500" b="1" dirty="0"/>
              <a:t>priorities and opportunities </a:t>
            </a:r>
            <a:r>
              <a:rPr lang="en-US" sz="1500" dirty="0"/>
              <a:t>to </a:t>
            </a:r>
            <a:r>
              <a:rPr lang="en-US" sz="1500" b="1" dirty="0"/>
              <a:t>reduce costs and improve productivity.</a:t>
            </a:r>
          </a:p>
        </p:txBody>
      </p:sp>
      <p:sp>
        <p:nvSpPr>
          <p:cNvPr id="3" name="Title 2"/>
          <p:cNvSpPr>
            <a:spLocks noGrp="1"/>
          </p:cNvSpPr>
          <p:nvPr>
            <p:ph type="title"/>
          </p:nvPr>
        </p:nvSpPr>
        <p:spPr/>
        <p:txBody>
          <a:bodyPr/>
          <a:lstStyle/>
          <a:p>
            <a:r>
              <a:rPr lang="en-US" dirty="0"/>
              <a:t>Case study details </a:t>
            </a:r>
            <a:r>
              <a:rPr lang="en-US" sz="2400" dirty="0"/>
              <a:t>(2/4)</a:t>
            </a:r>
            <a:endParaRPr lang="en-US" dirty="0"/>
          </a:p>
        </p:txBody>
      </p:sp>
    </p:spTree>
    <p:extLst>
      <p:ext uri="{BB962C8B-B14F-4D97-AF65-F5344CB8AC3E}">
        <p14:creationId xmlns:p14="http://schemas.microsoft.com/office/powerpoint/2010/main" val="3896249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7799" y="2624066"/>
            <a:ext cx="8683250" cy="4233933"/>
          </a:xfrm>
        </p:spPr>
        <p:txBody>
          <a:bodyPr>
            <a:noAutofit/>
          </a:bodyPr>
          <a:lstStyle/>
          <a:p>
            <a:pPr lvl="0">
              <a:buFont typeface="Arial"/>
              <a:buChar char="•"/>
            </a:pPr>
            <a:r>
              <a:rPr lang="en-US" sz="1600" dirty="0"/>
              <a:t>You met individually with all of your permanent team members and gathered that </a:t>
            </a:r>
            <a:r>
              <a:rPr lang="en-US" sz="1600" b="1" dirty="0"/>
              <a:t>one person on your team is keen on moving into project management</a:t>
            </a:r>
            <a:r>
              <a:rPr lang="en-US" sz="1600" dirty="0"/>
              <a:t>, with additional training. Another person on your team has indicated </a:t>
            </a:r>
            <a:r>
              <a:rPr lang="en-US" sz="1600" b="1" dirty="0"/>
              <a:t>she is interested into moving to HR as a future career move.</a:t>
            </a:r>
          </a:p>
          <a:p>
            <a:pPr lvl="0">
              <a:buFont typeface="Arial"/>
              <a:buChar char="•"/>
            </a:pPr>
            <a:r>
              <a:rPr lang="en-US" sz="1600" dirty="0"/>
              <a:t>Bob, the sales manager you met at the first leadership meeting has been very vocal about the need to equip his entire </a:t>
            </a:r>
            <a:r>
              <a:rPr lang="en-US" sz="1600" b="1" dirty="0"/>
              <a:t>sales representatives with </a:t>
            </a:r>
            <a:r>
              <a:rPr lang="en-US" sz="1600" b="1" dirty="0" err="1"/>
              <a:t>iPads</a:t>
            </a:r>
            <a:r>
              <a:rPr lang="en-US" sz="1600" b="1" dirty="0"/>
              <a:t> to have access to sales and technical information at all times, </a:t>
            </a:r>
            <a:r>
              <a:rPr lang="en-US" sz="1600" dirty="0"/>
              <a:t>to be able to forecast when visiting customers. Your CEO doesn’t seem to have a clear position on the question but doesn’t seem able to say “no” to Bob.</a:t>
            </a:r>
          </a:p>
          <a:p>
            <a:pPr lvl="0">
              <a:buFont typeface="Arial"/>
              <a:buChar char="•"/>
            </a:pPr>
            <a:r>
              <a:rPr lang="en-US" sz="1600" dirty="0"/>
              <a:t>You already started planning the requested implementation of the </a:t>
            </a:r>
            <a:r>
              <a:rPr lang="en-US" sz="1600" b="1" dirty="0"/>
              <a:t>HR system into your budget </a:t>
            </a:r>
            <a:r>
              <a:rPr lang="en-US" sz="1600" dirty="0"/>
              <a:t>with the addition of</a:t>
            </a:r>
            <a:r>
              <a:rPr lang="en-US" sz="1600" b="1" dirty="0"/>
              <a:t> 1 full-time consultant from March </a:t>
            </a:r>
            <a:r>
              <a:rPr lang="en-US" sz="1600" dirty="0"/>
              <a:t>and </a:t>
            </a:r>
            <a:r>
              <a:rPr lang="en-US" sz="1600" b="1" dirty="0"/>
              <a:t>5 contractors between June and November</a:t>
            </a:r>
            <a:r>
              <a:rPr lang="en-US" sz="1600" dirty="0"/>
              <a:t>. You </a:t>
            </a:r>
            <a:r>
              <a:rPr lang="en-US" sz="1600" b="1" dirty="0"/>
              <a:t>haven’t yet included any of the software license, equipment or non-personnel costs into your budget.</a:t>
            </a:r>
            <a:r>
              <a:rPr lang="en-US" sz="1600" dirty="0"/>
              <a:t> You also expect to learn more from meeting with the HR manager soon. You are also considering some of the </a:t>
            </a:r>
            <a:r>
              <a:rPr lang="en-US" sz="1600" dirty="0" err="1"/>
              <a:t>SaaS</a:t>
            </a:r>
            <a:r>
              <a:rPr lang="en-US" sz="1600" dirty="0"/>
              <a:t> solutions available on the market, as a way to speed up implementation time frames and reduce </a:t>
            </a:r>
            <a:r>
              <a:rPr lang="en-US" sz="1600" dirty="0" err="1"/>
              <a:t>CapEx</a:t>
            </a:r>
            <a:r>
              <a:rPr lang="en-US" sz="1600" dirty="0"/>
              <a:t> expenditure.</a:t>
            </a:r>
          </a:p>
        </p:txBody>
      </p:sp>
      <p:sp>
        <p:nvSpPr>
          <p:cNvPr id="3" name="Title 2"/>
          <p:cNvSpPr>
            <a:spLocks noGrp="1"/>
          </p:cNvSpPr>
          <p:nvPr>
            <p:ph type="title"/>
          </p:nvPr>
        </p:nvSpPr>
        <p:spPr/>
        <p:txBody>
          <a:bodyPr/>
          <a:lstStyle/>
          <a:p>
            <a:r>
              <a:rPr lang="en-US" dirty="0"/>
              <a:t>Case study details </a:t>
            </a:r>
            <a:r>
              <a:rPr lang="en-US" sz="2400" dirty="0"/>
              <a:t>(3/4)</a:t>
            </a:r>
            <a:endParaRPr lang="en-US" dirty="0"/>
          </a:p>
        </p:txBody>
      </p:sp>
    </p:spTree>
    <p:extLst>
      <p:ext uri="{BB962C8B-B14F-4D97-AF65-F5344CB8AC3E}">
        <p14:creationId xmlns:p14="http://schemas.microsoft.com/office/powerpoint/2010/main" val="2253511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7799" y="2634564"/>
            <a:ext cx="8589214" cy="4223436"/>
          </a:xfrm>
        </p:spPr>
        <p:txBody>
          <a:bodyPr>
            <a:noAutofit/>
          </a:bodyPr>
          <a:lstStyle/>
          <a:p>
            <a:pPr lvl="0">
              <a:buFont typeface="Arial"/>
              <a:buChar char="•"/>
            </a:pPr>
            <a:r>
              <a:rPr lang="en-US" sz="1600" dirty="0"/>
              <a:t>You </a:t>
            </a:r>
            <a:r>
              <a:rPr lang="en-US" sz="1600" b="1" dirty="0"/>
              <a:t>will end 2014 with a team of 8 people </a:t>
            </a:r>
            <a:r>
              <a:rPr lang="en-US" sz="1600" dirty="0"/>
              <a:t>(Cell B14 on tab 2), yourself included.</a:t>
            </a:r>
          </a:p>
          <a:p>
            <a:pPr lvl="0">
              <a:buFont typeface="Arial"/>
              <a:buChar char="•"/>
            </a:pPr>
            <a:r>
              <a:rPr lang="en-US" sz="1600" dirty="0"/>
              <a:t>Your CEO didn’t mention this directly to you but you are aware of the</a:t>
            </a:r>
            <a:r>
              <a:rPr lang="en-US" sz="1600" b="1" dirty="0"/>
              <a:t> idea of an acquisition being discussed at board level</a:t>
            </a:r>
            <a:r>
              <a:rPr lang="en-US" sz="1600" dirty="0"/>
              <a:t>. You don’t know much about the potential targets but heard that foreign companies were being considered.</a:t>
            </a:r>
          </a:p>
          <a:p>
            <a:pPr lvl="0">
              <a:buFont typeface="Arial"/>
              <a:buChar char="•"/>
            </a:pPr>
            <a:r>
              <a:rPr lang="en-US" sz="1600" dirty="0"/>
              <a:t>Finally, in your previous job, you had participated in the very successful implementation of a </a:t>
            </a:r>
            <a:r>
              <a:rPr lang="en-US" sz="1600" b="1" dirty="0"/>
              <a:t>corporate data warehouse and BI solution</a:t>
            </a:r>
            <a:r>
              <a:rPr lang="en-US" sz="1600" dirty="0"/>
              <a:t>, which you believe contributed to a </a:t>
            </a:r>
            <a:r>
              <a:rPr lang="en-US" sz="1600" b="1" dirty="0"/>
              <a:t>10% growth in sales and 25% cost reduction.</a:t>
            </a:r>
          </a:p>
        </p:txBody>
      </p:sp>
      <p:sp>
        <p:nvSpPr>
          <p:cNvPr id="3" name="Title 2"/>
          <p:cNvSpPr>
            <a:spLocks noGrp="1"/>
          </p:cNvSpPr>
          <p:nvPr>
            <p:ph type="title"/>
          </p:nvPr>
        </p:nvSpPr>
        <p:spPr/>
        <p:txBody>
          <a:bodyPr/>
          <a:lstStyle/>
          <a:p>
            <a:r>
              <a:rPr lang="en-US" dirty="0"/>
              <a:t>Case study details </a:t>
            </a:r>
            <a:r>
              <a:rPr lang="en-US" sz="2400" dirty="0"/>
              <a:t>(4/4)</a:t>
            </a:r>
          </a:p>
        </p:txBody>
      </p:sp>
    </p:spTree>
    <p:extLst>
      <p:ext uri="{BB962C8B-B14F-4D97-AF65-F5344CB8AC3E}">
        <p14:creationId xmlns:p14="http://schemas.microsoft.com/office/powerpoint/2010/main" val="4209769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0262" y="2686618"/>
            <a:ext cx="8539562" cy="4071021"/>
          </a:xfrm>
        </p:spPr>
        <p:txBody>
          <a:bodyPr>
            <a:normAutofit/>
          </a:bodyPr>
          <a:lstStyle/>
          <a:p>
            <a:pPr>
              <a:buFont typeface="Arial" panose="020B0604020202020204" pitchFamily="34" charset="0"/>
              <a:buChar char="•"/>
            </a:pPr>
            <a:r>
              <a:rPr lang="en-US" b="1" dirty="0"/>
              <a:t>Looking at the budget model Monthly worksheet (Excel)  : </a:t>
            </a:r>
          </a:p>
          <a:p>
            <a:pPr marL="759143" lvl="1" indent="-457200">
              <a:buFont typeface="+mj-lt"/>
              <a:buAutoNum type="arabicPeriod"/>
            </a:pPr>
            <a:r>
              <a:rPr lang="en-US" sz="2000" b="1" dirty="0"/>
              <a:t>What does the 180,000 in cell B4 represent ?</a:t>
            </a:r>
          </a:p>
          <a:p>
            <a:pPr marL="759143" lvl="1" indent="-457200">
              <a:buFont typeface="+mj-lt"/>
              <a:buAutoNum type="arabicPeriod"/>
            </a:pPr>
            <a:r>
              <a:rPr lang="en-US" sz="2000" b="1" dirty="0"/>
              <a:t>How many Full time employees, contractors do you have in your department at the end of the year ?</a:t>
            </a:r>
          </a:p>
          <a:p>
            <a:pPr marL="759143" lvl="1" indent="-457200">
              <a:buFont typeface="+mj-lt"/>
              <a:buAutoNum type="arabicPeriod"/>
            </a:pPr>
            <a:r>
              <a:rPr lang="en-US" sz="2000" b="1" dirty="0"/>
              <a:t>How was the 325,000 in cell B18 was calculated ?</a:t>
            </a:r>
          </a:p>
          <a:p>
            <a:pPr marL="759143" lvl="1" indent="-457200">
              <a:buFont typeface="+mj-lt"/>
              <a:buAutoNum type="arabicPeriod"/>
            </a:pPr>
            <a:r>
              <a:rPr lang="en-US" sz="2000" b="1" dirty="0"/>
              <a:t>Same question for 255,000 in cell B23</a:t>
            </a:r>
          </a:p>
        </p:txBody>
      </p:sp>
      <p:sp>
        <p:nvSpPr>
          <p:cNvPr id="3" name="Title 2"/>
          <p:cNvSpPr>
            <a:spLocks noGrp="1"/>
          </p:cNvSpPr>
          <p:nvPr>
            <p:ph type="title"/>
          </p:nvPr>
        </p:nvSpPr>
        <p:spPr/>
        <p:txBody>
          <a:bodyPr>
            <a:normAutofit/>
          </a:bodyPr>
          <a:lstStyle/>
          <a:p>
            <a:r>
              <a:rPr lang="en-US" dirty="0"/>
              <a:t>Questions on the Budget model</a:t>
            </a:r>
          </a:p>
        </p:txBody>
      </p:sp>
    </p:spTree>
    <p:extLst>
      <p:ext uri="{BB962C8B-B14F-4D97-AF65-F5344CB8AC3E}">
        <p14:creationId xmlns:p14="http://schemas.microsoft.com/office/powerpoint/2010/main" val="2985302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0262" y="2686618"/>
            <a:ext cx="8539562" cy="4071021"/>
          </a:xfrm>
        </p:spPr>
        <p:txBody>
          <a:bodyPr>
            <a:normAutofit/>
          </a:bodyPr>
          <a:lstStyle/>
          <a:p>
            <a:pPr>
              <a:buFont typeface="Arial" panose="020B0604020202020204" pitchFamily="34" charset="0"/>
              <a:buChar char="•"/>
            </a:pPr>
            <a:r>
              <a:rPr lang="en-US" b="1" dirty="0"/>
              <a:t>Looking at the budget model Monthly worksheet (Excel)  : </a:t>
            </a:r>
          </a:p>
          <a:p>
            <a:pPr marL="759143" lvl="1" indent="-457200">
              <a:buFont typeface="+mj-lt"/>
              <a:buAutoNum type="arabicPeriod"/>
            </a:pPr>
            <a:r>
              <a:rPr lang="en-US" sz="2000" b="1" dirty="0"/>
              <a:t>What does the 180,000 in cell B4 represent ?</a:t>
            </a:r>
          </a:p>
          <a:p>
            <a:pPr marL="759143" lvl="1" indent="-457200">
              <a:buFont typeface="+mj-lt"/>
              <a:buAutoNum type="arabicPeriod"/>
            </a:pPr>
            <a:endParaRPr lang="en-US" sz="2000" b="1" dirty="0"/>
          </a:p>
          <a:p>
            <a:pPr marL="924243" lvl="2" indent="-342900"/>
            <a:r>
              <a:rPr lang="en-US" b="1" dirty="0"/>
              <a:t>180,000 is the amount IT department recharge to other departments for their services.  This is a revenue to IT.</a:t>
            </a:r>
          </a:p>
          <a:p>
            <a:pPr marL="924243" lvl="2" indent="-342900"/>
            <a:r>
              <a:rPr lang="en-US" b="1" dirty="0"/>
              <a:t>As per the comment in cell P4, we know that IT charges to other departments 150$ / month / employee</a:t>
            </a:r>
          </a:p>
          <a:p>
            <a:pPr marL="924243" lvl="2" indent="-342900"/>
            <a:r>
              <a:rPr lang="en-US" b="1" dirty="0"/>
              <a:t>Monthly revenue is therefore 15,000$ and we know that company has 100 employees…</a:t>
            </a:r>
          </a:p>
        </p:txBody>
      </p:sp>
      <p:sp>
        <p:nvSpPr>
          <p:cNvPr id="3" name="Title 2"/>
          <p:cNvSpPr>
            <a:spLocks noGrp="1"/>
          </p:cNvSpPr>
          <p:nvPr>
            <p:ph type="title"/>
          </p:nvPr>
        </p:nvSpPr>
        <p:spPr/>
        <p:txBody>
          <a:bodyPr>
            <a:normAutofit/>
          </a:bodyPr>
          <a:lstStyle/>
          <a:p>
            <a:r>
              <a:rPr lang="en-US" dirty="0"/>
              <a:t>Questions on the Budget model</a:t>
            </a:r>
          </a:p>
        </p:txBody>
      </p:sp>
    </p:spTree>
    <p:extLst>
      <p:ext uri="{BB962C8B-B14F-4D97-AF65-F5344CB8AC3E}">
        <p14:creationId xmlns:p14="http://schemas.microsoft.com/office/powerpoint/2010/main" val="2851091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0262" y="2686618"/>
            <a:ext cx="8539562" cy="4071021"/>
          </a:xfrm>
        </p:spPr>
        <p:txBody>
          <a:bodyPr>
            <a:normAutofit/>
          </a:bodyPr>
          <a:lstStyle/>
          <a:p>
            <a:pPr>
              <a:buFont typeface="Arial" panose="020B0604020202020204" pitchFamily="34" charset="0"/>
              <a:buChar char="•"/>
            </a:pPr>
            <a:r>
              <a:rPr lang="en-US" b="1" dirty="0"/>
              <a:t>Looking at the budget model Monthly worksheet (Excel)  : </a:t>
            </a:r>
          </a:p>
          <a:p>
            <a:pPr marL="759143" lvl="1" indent="-457200">
              <a:buFont typeface="+mj-lt"/>
              <a:buAutoNum type="arabicPeriod"/>
            </a:pPr>
            <a:r>
              <a:rPr lang="en-US" sz="2000" b="1" dirty="0"/>
              <a:t>What does the 180,000 in cell B4 represent ?</a:t>
            </a:r>
          </a:p>
          <a:p>
            <a:pPr marL="759143" lvl="1" indent="-457200">
              <a:buFont typeface="+mj-lt"/>
              <a:buAutoNum type="arabicPeriod"/>
            </a:pPr>
            <a:r>
              <a:rPr lang="en-US" sz="2000" b="1" dirty="0"/>
              <a:t>How many Full time employees, contractors do you have in your department at the end of the year ?</a:t>
            </a:r>
          </a:p>
          <a:p>
            <a:pPr marL="759143" lvl="1" indent="-457200">
              <a:buFont typeface="+mj-lt"/>
              <a:buAutoNum type="arabicPeriod"/>
            </a:pPr>
            <a:endParaRPr lang="en-US" sz="2000" b="1" dirty="0"/>
          </a:p>
          <a:p>
            <a:pPr marL="1038543" lvl="2" indent="-457200"/>
            <a:r>
              <a:rPr lang="en-US" b="1" dirty="0"/>
              <a:t>At the end of the year, there are 5 full time employees and 3 contractors as per cells B11 and B12</a:t>
            </a:r>
          </a:p>
          <a:p>
            <a:pPr marL="1038543" lvl="2" indent="-457200"/>
            <a:r>
              <a:rPr lang="en-US" b="1" dirty="0"/>
              <a:t>This is the headcount baseline</a:t>
            </a:r>
          </a:p>
        </p:txBody>
      </p:sp>
      <p:sp>
        <p:nvSpPr>
          <p:cNvPr id="3" name="Title 2"/>
          <p:cNvSpPr>
            <a:spLocks noGrp="1"/>
          </p:cNvSpPr>
          <p:nvPr>
            <p:ph type="title"/>
          </p:nvPr>
        </p:nvSpPr>
        <p:spPr/>
        <p:txBody>
          <a:bodyPr>
            <a:normAutofit/>
          </a:bodyPr>
          <a:lstStyle/>
          <a:p>
            <a:r>
              <a:rPr lang="en-US" dirty="0"/>
              <a:t>Questions on the Budget model</a:t>
            </a:r>
          </a:p>
        </p:txBody>
      </p:sp>
    </p:spTree>
    <p:extLst>
      <p:ext uri="{BB962C8B-B14F-4D97-AF65-F5344CB8AC3E}">
        <p14:creationId xmlns:p14="http://schemas.microsoft.com/office/powerpoint/2010/main" val="2277330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0262" y="2686618"/>
            <a:ext cx="8539562" cy="4071021"/>
          </a:xfrm>
        </p:spPr>
        <p:txBody>
          <a:bodyPr>
            <a:normAutofit/>
          </a:bodyPr>
          <a:lstStyle/>
          <a:p>
            <a:pPr>
              <a:buFont typeface="Arial" panose="020B0604020202020204" pitchFamily="34" charset="0"/>
              <a:buChar char="•"/>
            </a:pPr>
            <a:r>
              <a:rPr lang="en-US" b="1" dirty="0"/>
              <a:t>Looking at the budget model Monthly worksheet (Excel)  : </a:t>
            </a:r>
          </a:p>
          <a:p>
            <a:pPr marL="759143" lvl="1" indent="-457200">
              <a:buFont typeface="+mj-lt"/>
              <a:buAutoNum type="arabicPeriod"/>
            </a:pPr>
            <a:r>
              <a:rPr lang="en-US" sz="2000" b="1" dirty="0"/>
              <a:t>What does the 180,000 in cell B4 represent ?</a:t>
            </a:r>
          </a:p>
          <a:p>
            <a:pPr marL="759143" lvl="1" indent="-457200">
              <a:buFont typeface="+mj-lt"/>
              <a:buAutoNum type="arabicPeriod"/>
            </a:pPr>
            <a:r>
              <a:rPr lang="en-US" sz="2000" b="1" dirty="0"/>
              <a:t>How many Full time employees, contractors do you have in your department at the end of the year ?</a:t>
            </a:r>
          </a:p>
          <a:p>
            <a:pPr marL="759143" lvl="1" indent="-457200">
              <a:buFont typeface="+mj-lt"/>
              <a:buAutoNum type="arabicPeriod"/>
            </a:pPr>
            <a:r>
              <a:rPr lang="en-US" sz="2000" b="1" dirty="0"/>
              <a:t>How was the 325,000 in cell B18 was calculated ?</a:t>
            </a:r>
          </a:p>
          <a:p>
            <a:pPr marL="759143" lvl="1" indent="-457200">
              <a:buFont typeface="+mj-lt"/>
              <a:buAutoNum type="arabicPeriod"/>
            </a:pPr>
            <a:endParaRPr lang="en-US" sz="2000" b="1" dirty="0"/>
          </a:p>
          <a:p>
            <a:pPr marL="1038543" lvl="2" indent="-457200"/>
            <a:r>
              <a:rPr lang="en-US" b="1" dirty="0"/>
              <a:t>325,000 is the total salary for full time employees</a:t>
            </a:r>
          </a:p>
          <a:p>
            <a:pPr marL="1038543" lvl="2" indent="-457200"/>
            <a:r>
              <a:rPr lang="en-US" b="1" dirty="0"/>
              <a:t>Given that there are 5 employees the average yearly salary per employee is 65,000 / year, assuming that all employees have been present for the full year</a:t>
            </a:r>
          </a:p>
        </p:txBody>
      </p:sp>
      <p:sp>
        <p:nvSpPr>
          <p:cNvPr id="3" name="Title 2"/>
          <p:cNvSpPr>
            <a:spLocks noGrp="1"/>
          </p:cNvSpPr>
          <p:nvPr>
            <p:ph type="title"/>
          </p:nvPr>
        </p:nvSpPr>
        <p:spPr/>
        <p:txBody>
          <a:bodyPr>
            <a:normAutofit/>
          </a:bodyPr>
          <a:lstStyle/>
          <a:p>
            <a:r>
              <a:rPr lang="en-US" dirty="0"/>
              <a:t>Questions on the Budget model</a:t>
            </a:r>
          </a:p>
        </p:txBody>
      </p:sp>
    </p:spTree>
    <p:extLst>
      <p:ext uri="{BB962C8B-B14F-4D97-AF65-F5344CB8AC3E}">
        <p14:creationId xmlns:p14="http://schemas.microsoft.com/office/powerpoint/2010/main" val="3216285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0262" y="2686618"/>
            <a:ext cx="8539562" cy="4071021"/>
          </a:xfrm>
        </p:spPr>
        <p:txBody>
          <a:bodyPr>
            <a:normAutofit/>
          </a:bodyPr>
          <a:lstStyle/>
          <a:p>
            <a:pPr>
              <a:buFont typeface="Arial" panose="020B0604020202020204" pitchFamily="34" charset="0"/>
              <a:buChar char="•"/>
            </a:pPr>
            <a:r>
              <a:rPr lang="en-US" b="1" dirty="0"/>
              <a:t>Looking at the budget model Monthly worksheet (Excel)  : </a:t>
            </a:r>
          </a:p>
          <a:p>
            <a:pPr marL="759143" lvl="1" indent="-457200">
              <a:buFont typeface="+mj-lt"/>
              <a:buAutoNum type="arabicPeriod"/>
            </a:pPr>
            <a:r>
              <a:rPr lang="en-US" sz="2000" b="1" dirty="0"/>
              <a:t>What does the 180,000 in cell B4 represent ?</a:t>
            </a:r>
          </a:p>
          <a:p>
            <a:pPr marL="759143" lvl="1" indent="-457200">
              <a:buFont typeface="+mj-lt"/>
              <a:buAutoNum type="arabicPeriod"/>
            </a:pPr>
            <a:r>
              <a:rPr lang="en-US" sz="2000" b="1" dirty="0"/>
              <a:t>How many Full time employees, contractors do you have in your department at the end of the year ?</a:t>
            </a:r>
          </a:p>
          <a:p>
            <a:pPr marL="759143" lvl="1" indent="-457200">
              <a:buFont typeface="+mj-lt"/>
              <a:buAutoNum type="arabicPeriod"/>
            </a:pPr>
            <a:r>
              <a:rPr lang="en-US" sz="2000" b="1" dirty="0"/>
              <a:t>How was the 325,000 in cell B18 was calculated ?</a:t>
            </a:r>
          </a:p>
          <a:p>
            <a:pPr marL="759143" lvl="1" indent="-457200">
              <a:buFont typeface="+mj-lt"/>
              <a:buAutoNum type="arabicPeriod"/>
            </a:pPr>
            <a:r>
              <a:rPr lang="en-US" sz="2000" b="1" dirty="0"/>
              <a:t>Same question for 255,000 in cell B23</a:t>
            </a:r>
          </a:p>
          <a:p>
            <a:pPr marL="759143" lvl="1" indent="-457200">
              <a:buFont typeface="+mj-lt"/>
              <a:buAutoNum type="arabicPeriod"/>
            </a:pPr>
            <a:endParaRPr lang="en-US" sz="2000" b="1" dirty="0"/>
          </a:p>
          <a:p>
            <a:pPr marL="1038543" lvl="2" indent="-457200"/>
            <a:r>
              <a:rPr lang="en-US" b="1" dirty="0"/>
              <a:t>Similar as previous question, 255,000 is the total cost for the 3 contractors</a:t>
            </a:r>
          </a:p>
          <a:p>
            <a:pPr marL="1038543" lvl="2" indent="-457200"/>
            <a:r>
              <a:rPr lang="en-US" b="1" dirty="0"/>
              <a:t>Assuming that all contractors have been present for the full year, this gives a yearly contractor cost of 85,000</a:t>
            </a:r>
          </a:p>
        </p:txBody>
      </p:sp>
      <p:sp>
        <p:nvSpPr>
          <p:cNvPr id="3" name="Title 2"/>
          <p:cNvSpPr>
            <a:spLocks noGrp="1"/>
          </p:cNvSpPr>
          <p:nvPr>
            <p:ph type="title"/>
          </p:nvPr>
        </p:nvSpPr>
        <p:spPr/>
        <p:txBody>
          <a:bodyPr>
            <a:normAutofit/>
          </a:bodyPr>
          <a:lstStyle/>
          <a:p>
            <a:r>
              <a:rPr lang="en-US" dirty="0"/>
              <a:t>Questions on the Budget model</a:t>
            </a:r>
          </a:p>
        </p:txBody>
      </p:sp>
    </p:spTree>
    <p:extLst>
      <p:ext uri="{BB962C8B-B14F-4D97-AF65-F5344CB8AC3E}">
        <p14:creationId xmlns:p14="http://schemas.microsoft.com/office/powerpoint/2010/main" val="2360957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0262" y="2686618"/>
            <a:ext cx="8539562" cy="4071021"/>
          </a:xfrm>
        </p:spPr>
        <p:txBody>
          <a:bodyPr>
            <a:normAutofit/>
          </a:bodyPr>
          <a:lstStyle/>
          <a:p>
            <a:pPr>
              <a:buFont typeface="Arial" panose="020B0604020202020204" pitchFamily="34" charset="0"/>
              <a:buChar char="•"/>
            </a:pPr>
            <a:r>
              <a:rPr lang="en-US" b="1" dirty="0"/>
              <a:t>Reading the Case study narrative (ppt) : </a:t>
            </a:r>
          </a:p>
          <a:p>
            <a:pPr marL="759143" lvl="1" indent="-457200">
              <a:buFont typeface="+mj-lt"/>
              <a:buAutoNum type="arabicPeriod"/>
            </a:pPr>
            <a:r>
              <a:rPr lang="en-US" sz="2000" b="1" dirty="0"/>
              <a:t>How would you rate the upcoming year general business environment and why ? Very Good, Good, Average, Bad or Very Bad…</a:t>
            </a:r>
          </a:p>
          <a:p>
            <a:pPr marL="759143" lvl="1" indent="-457200">
              <a:buFont typeface="+mj-lt"/>
              <a:buAutoNum type="arabicPeriod"/>
            </a:pPr>
            <a:r>
              <a:rPr lang="en-US" sz="2000" b="1" dirty="0"/>
              <a:t>Which candidate projects have you identified for for the upcoming year ?</a:t>
            </a:r>
          </a:p>
          <a:p>
            <a:pPr marL="759143" lvl="1" indent="-457200">
              <a:buFont typeface="+mj-lt"/>
              <a:buAutoNum type="arabicPeriod"/>
            </a:pPr>
            <a:r>
              <a:rPr lang="en-US" sz="2000" b="1" dirty="0"/>
              <a:t>How do you see your department headcount evolve in the upcoming year : should it increase, decrease or stay the same ? Why ?</a:t>
            </a:r>
          </a:p>
          <a:p>
            <a:pPr marL="759143" lvl="1" indent="-457200">
              <a:buFont typeface="+mj-lt"/>
              <a:buAutoNum type="arabicPeriod"/>
            </a:pPr>
            <a:r>
              <a:rPr lang="en-US" sz="2000" b="1" dirty="0"/>
              <a:t>How would you react when one of your employees mentions h/she wants to move to the </a:t>
            </a:r>
            <a:r>
              <a:rPr lang="en-US" sz="2000" b="1"/>
              <a:t>HR department </a:t>
            </a:r>
            <a:r>
              <a:rPr lang="en-US" sz="2000" b="1" dirty="0"/>
              <a:t>?</a:t>
            </a:r>
          </a:p>
          <a:p>
            <a:pPr marL="759143" lvl="1" indent="-457200">
              <a:buFont typeface="+mj-lt"/>
              <a:buAutoNum type="arabicPeriod"/>
            </a:pPr>
            <a:r>
              <a:rPr lang="en-US" sz="2000" b="1" dirty="0"/>
              <a:t>Do you think your budget for the upcoming year will be higher, lower or the same as last year ? Why ?</a:t>
            </a:r>
          </a:p>
        </p:txBody>
      </p:sp>
      <p:sp>
        <p:nvSpPr>
          <p:cNvPr id="3" name="Title 2"/>
          <p:cNvSpPr>
            <a:spLocks noGrp="1"/>
          </p:cNvSpPr>
          <p:nvPr>
            <p:ph type="title"/>
          </p:nvPr>
        </p:nvSpPr>
        <p:spPr/>
        <p:txBody>
          <a:bodyPr>
            <a:normAutofit/>
          </a:bodyPr>
          <a:lstStyle/>
          <a:p>
            <a:r>
              <a:rPr lang="en-US" dirty="0"/>
              <a:t>Questions on Case study narrative</a:t>
            </a:r>
          </a:p>
        </p:txBody>
      </p:sp>
    </p:spTree>
    <p:extLst>
      <p:ext uri="{BB962C8B-B14F-4D97-AF65-F5344CB8AC3E}">
        <p14:creationId xmlns:p14="http://schemas.microsoft.com/office/powerpoint/2010/main" val="1998827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0262" y="2686618"/>
            <a:ext cx="8539562" cy="4071021"/>
          </a:xfrm>
        </p:spPr>
        <p:txBody>
          <a:bodyPr>
            <a:normAutofit/>
          </a:bodyPr>
          <a:lstStyle/>
          <a:p>
            <a:pPr>
              <a:buFont typeface="Arial" panose="020B0604020202020204" pitchFamily="34" charset="0"/>
              <a:buChar char="•"/>
            </a:pPr>
            <a:r>
              <a:rPr lang="en-US" b="1" dirty="0"/>
              <a:t>Reading the Case study narrative (ppt) : </a:t>
            </a:r>
          </a:p>
          <a:p>
            <a:pPr marL="759143" lvl="1" indent="-457200">
              <a:buFont typeface="+mj-lt"/>
              <a:buAutoNum type="arabicPeriod"/>
            </a:pPr>
            <a:r>
              <a:rPr lang="en-US" sz="2000" b="1" dirty="0"/>
              <a:t>How would you rate the upcoming year general business environment and why ? Very Good, Good, Average, Bad or Very Bad…</a:t>
            </a:r>
          </a:p>
          <a:p>
            <a:pPr marL="759143" lvl="1" indent="-457200">
              <a:buFont typeface="+mj-lt"/>
              <a:buAutoNum type="arabicPeriod"/>
            </a:pPr>
            <a:endParaRPr lang="en-US" sz="2000" b="1" dirty="0"/>
          </a:p>
          <a:p>
            <a:pPr marL="1038543" lvl="2" indent="-457200"/>
            <a:r>
              <a:rPr lang="en-US" b="1" dirty="0"/>
              <a:t>General business environment for the upcoming year looks good or even very good…</a:t>
            </a:r>
          </a:p>
          <a:p>
            <a:pPr marL="1325880" lvl="3" indent="-457200"/>
            <a:r>
              <a:rPr lang="en-US" b="1" dirty="0"/>
              <a:t>Company is growing and top management anticipates a faster growth (20%) in the coming year</a:t>
            </a:r>
          </a:p>
          <a:p>
            <a:pPr marL="1325880" lvl="3" indent="-457200"/>
            <a:r>
              <a:rPr lang="en-US" b="1" dirty="0"/>
              <a:t>Some large sales opportunities could materialize as company was short listed on several large deals</a:t>
            </a:r>
          </a:p>
          <a:p>
            <a:pPr marL="1325880" lvl="3" indent="-457200"/>
            <a:r>
              <a:rPr lang="en-US" b="1" dirty="0"/>
              <a:t>Sales team should grow by 15% and the rest of the organization by 10%</a:t>
            </a:r>
          </a:p>
          <a:p>
            <a:pPr marL="1325880" lvl="3" indent="-457200">
              <a:buFont typeface="+mj-lt"/>
              <a:buAutoNum type="arabicPeriod"/>
            </a:pPr>
            <a:endParaRPr lang="en-US" sz="1600" b="1" dirty="0"/>
          </a:p>
        </p:txBody>
      </p:sp>
      <p:sp>
        <p:nvSpPr>
          <p:cNvPr id="3" name="Title 2"/>
          <p:cNvSpPr>
            <a:spLocks noGrp="1"/>
          </p:cNvSpPr>
          <p:nvPr>
            <p:ph type="title"/>
          </p:nvPr>
        </p:nvSpPr>
        <p:spPr/>
        <p:txBody>
          <a:bodyPr>
            <a:normAutofit/>
          </a:bodyPr>
          <a:lstStyle/>
          <a:p>
            <a:r>
              <a:rPr lang="en-US" dirty="0"/>
              <a:t>Questions on Case study narrative</a:t>
            </a:r>
          </a:p>
        </p:txBody>
      </p:sp>
    </p:spTree>
    <p:extLst>
      <p:ext uri="{BB962C8B-B14F-4D97-AF65-F5344CB8AC3E}">
        <p14:creationId xmlns:p14="http://schemas.microsoft.com/office/powerpoint/2010/main" val="1378827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7238" y="2605859"/>
            <a:ext cx="8539562" cy="4071021"/>
          </a:xfrm>
        </p:spPr>
        <p:txBody>
          <a:bodyPr>
            <a:normAutofit/>
          </a:bodyPr>
          <a:lstStyle/>
          <a:p>
            <a:pPr>
              <a:buFont typeface="Arial" panose="020B0604020202020204" pitchFamily="34" charset="0"/>
              <a:buChar char="•"/>
            </a:pPr>
            <a:r>
              <a:rPr lang="en-US" b="1" dirty="0"/>
              <a:t>Reading the Case study narrative (ppt) : </a:t>
            </a:r>
          </a:p>
          <a:p>
            <a:pPr lvl="1"/>
            <a:r>
              <a:rPr lang="en-US" sz="2000" b="1" dirty="0"/>
              <a:t>Which candidate projects have you identified for for the upcoming  year ?</a:t>
            </a:r>
          </a:p>
          <a:p>
            <a:pPr lvl="1"/>
            <a:endParaRPr lang="en-US" sz="2000" b="1" dirty="0"/>
          </a:p>
          <a:p>
            <a:pPr lvl="2"/>
            <a:endParaRPr lang="en-US" sz="1800" b="1" dirty="0"/>
          </a:p>
        </p:txBody>
      </p:sp>
      <p:sp>
        <p:nvSpPr>
          <p:cNvPr id="3" name="Title 2"/>
          <p:cNvSpPr>
            <a:spLocks noGrp="1"/>
          </p:cNvSpPr>
          <p:nvPr>
            <p:ph type="title"/>
          </p:nvPr>
        </p:nvSpPr>
        <p:spPr/>
        <p:txBody>
          <a:bodyPr>
            <a:normAutofit/>
          </a:bodyPr>
          <a:lstStyle/>
          <a:p>
            <a:r>
              <a:rPr lang="en-US" dirty="0"/>
              <a:t>Questions on Case study narrative</a:t>
            </a:r>
          </a:p>
        </p:txBody>
      </p:sp>
      <p:sp>
        <p:nvSpPr>
          <p:cNvPr id="4" name="Content Placeholder 1">
            <a:extLst>
              <a:ext uri="{FF2B5EF4-FFF2-40B4-BE49-F238E27FC236}">
                <a16:creationId xmlns:a16="http://schemas.microsoft.com/office/drawing/2014/main" id="{60BBCDF7-F3CC-C043-A948-85A2965C1EF1}"/>
              </a:ext>
            </a:extLst>
          </p:cNvPr>
          <p:cNvSpPr txBox="1">
            <a:spLocks/>
          </p:cNvSpPr>
          <p:nvPr/>
        </p:nvSpPr>
        <p:spPr>
          <a:xfrm>
            <a:off x="1383475" y="3856512"/>
            <a:ext cx="8470900" cy="3560763"/>
          </a:xfrm>
          <a:prstGeom prst="rect">
            <a:avLst/>
          </a:prstGeom>
        </p:spPr>
        <p:txBody>
          <a:bodyPr vert="horz" lIns="91440" tIns="45720" rIns="91440" bIns="45720" rtlCol="0">
            <a:no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a:buFont typeface="Arial"/>
              <a:buChar char="•"/>
            </a:pPr>
            <a:r>
              <a:rPr lang="en-US" sz="1800" dirty="0"/>
              <a:t>HR system </a:t>
            </a:r>
          </a:p>
          <a:p>
            <a:pPr>
              <a:buFont typeface="Arial"/>
              <a:buChar char="•"/>
            </a:pPr>
            <a:r>
              <a:rPr lang="en-US" sz="1800" dirty="0"/>
              <a:t>Sales Forecast system </a:t>
            </a:r>
          </a:p>
          <a:p>
            <a:pPr>
              <a:buFont typeface="Arial"/>
              <a:buChar char="•"/>
            </a:pPr>
            <a:r>
              <a:rPr lang="en-US" sz="1800" dirty="0"/>
              <a:t>Re-vamping of </a:t>
            </a:r>
            <a:r>
              <a:rPr lang="en-US" sz="1800" dirty="0" err="1"/>
              <a:t>NewCorp</a:t>
            </a:r>
            <a:r>
              <a:rPr lang="en-US" sz="1800" dirty="0"/>
              <a:t> website </a:t>
            </a:r>
          </a:p>
          <a:p>
            <a:pPr>
              <a:buFont typeface="Arial"/>
              <a:buChar char="•"/>
            </a:pPr>
            <a:r>
              <a:rPr lang="en-US" sz="1800" dirty="0"/>
              <a:t>Full assessment of IT with recommendation of priorities / </a:t>
            </a:r>
            <a:r>
              <a:rPr lang="en-US" sz="1800" dirty="0" err="1"/>
              <a:t>opportunites</a:t>
            </a:r>
            <a:r>
              <a:rPr lang="en-US" sz="1800" dirty="0"/>
              <a:t>                       to reduce costs and improve productivity</a:t>
            </a:r>
          </a:p>
          <a:p>
            <a:pPr>
              <a:buFont typeface="Arial"/>
              <a:buChar char="•"/>
            </a:pPr>
            <a:r>
              <a:rPr lang="en-US" sz="1800" dirty="0"/>
              <a:t>iPads for sales representatives </a:t>
            </a:r>
          </a:p>
          <a:p>
            <a:pPr>
              <a:buFont typeface="Arial"/>
              <a:buChar char="•"/>
            </a:pPr>
            <a:r>
              <a:rPr lang="en-US" sz="1800" dirty="0"/>
              <a:t>Acquisition </a:t>
            </a:r>
          </a:p>
          <a:p>
            <a:pPr>
              <a:buFont typeface="Arial"/>
              <a:buChar char="•"/>
            </a:pPr>
            <a:r>
              <a:rPr lang="en-US" sz="1800" dirty="0"/>
              <a:t>Data warehouse and BI system </a:t>
            </a:r>
          </a:p>
        </p:txBody>
      </p:sp>
    </p:spTree>
    <p:extLst>
      <p:ext uri="{BB962C8B-B14F-4D97-AF65-F5344CB8AC3E}">
        <p14:creationId xmlns:p14="http://schemas.microsoft.com/office/powerpoint/2010/main" val="3176308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2219" y="2674742"/>
            <a:ext cx="8539562" cy="4071021"/>
          </a:xfrm>
        </p:spPr>
        <p:txBody>
          <a:bodyPr>
            <a:normAutofit/>
          </a:bodyPr>
          <a:lstStyle/>
          <a:p>
            <a:pPr>
              <a:buFont typeface="Arial" panose="020B0604020202020204" pitchFamily="34" charset="0"/>
              <a:buChar char="•"/>
            </a:pPr>
            <a:r>
              <a:rPr lang="en-US" b="1" dirty="0"/>
              <a:t>Reading the Case study narrative (ppt) : </a:t>
            </a:r>
          </a:p>
          <a:p>
            <a:pPr lvl="1"/>
            <a:r>
              <a:rPr lang="en-US" sz="2000" b="1" dirty="0"/>
              <a:t>How do you see your department headcount evolve in the upcoming year : should it increase, decrease or stay the same ? Why ?</a:t>
            </a:r>
          </a:p>
          <a:p>
            <a:pPr marL="759143" lvl="1" indent="-457200">
              <a:buFont typeface="+mj-lt"/>
              <a:buAutoNum type="arabicPeriod"/>
            </a:pPr>
            <a:endParaRPr lang="en-US" sz="2400" b="1" dirty="0"/>
          </a:p>
          <a:p>
            <a:pPr marL="1038543" lvl="2" indent="-457200"/>
            <a:r>
              <a:rPr lang="en-US" b="1" dirty="0"/>
              <a:t>My department headcount will increase for the 2 following reasons</a:t>
            </a:r>
          </a:p>
          <a:p>
            <a:pPr marL="1325880" lvl="3" indent="-457200"/>
            <a:r>
              <a:rPr lang="en-US" b="1" dirty="0"/>
              <a:t>Company growth : plan is for non sales department to grow by 10%. As a results IT should grow by at least 10% to support on going activities and the growing number of employees in the company</a:t>
            </a:r>
          </a:p>
          <a:p>
            <a:pPr marL="1325880" lvl="3" indent="-457200"/>
            <a:r>
              <a:rPr lang="en-US" b="1" dirty="0"/>
              <a:t>Projects : additional headcount will be required to support the prioritized projects. Of course depending on which projects are included in the budget</a:t>
            </a:r>
          </a:p>
        </p:txBody>
      </p:sp>
      <p:sp>
        <p:nvSpPr>
          <p:cNvPr id="3" name="Title 2"/>
          <p:cNvSpPr>
            <a:spLocks noGrp="1"/>
          </p:cNvSpPr>
          <p:nvPr>
            <p:ph type="title"/>
          </p:nvPr>
        </p:nvSpPr>
        <p:spPr/>
        <p:txBody>
          <a:bodyPr>
            <a:normAutofit/>
          </a:bodyPr>
          <a:lstStyle/>
          <a:p>
            <a:r>
              <a:rPr lang="en-US" dirty="0"/>
              <a:t>Questions on Case study narrative</a:t>
            </a:r>
          </a:p>
        </p:txBody>
      </p:sp>
    </p:spTree>
    <p:extLst>
      <p:ext uri="{BB962C8B-B14F-4D97-AF65-F5344CB8AC3E}">
        <p14:creationId xmlns:p14="http://schemas.microsoft.com/office/powerpoint/2010/main" val="1514773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0262" y="2686618"/>
            <a:ext cx="8539562" cy="4071021"/>
          </a:xfrm>
        </p:spPr>
        <p:txBody>
          <a:bodyPr>
            <a:normAutofit/>
          </a:bodyPr>
          <a:lstStyle/>
          <a:p>
            <a:pPr>
              <a:buFont typeface="Arial" panose="020B0604020202020204" pitchFamily="34" charset="0"/>
              <a:buChar char="•"/>
            </a:pPr>
            <a:r>
              <a:rPr lang="en-US" b="1" dirty="0"/>
              <a:t>Reading the Case study narrative (ppt) : </a:t>
            </a:r>
          </a:p>
          <a:p>
            <a:pPr lvl="1"/>
            <a:r>
              <a:rPr lang="en-US" sz="2000" b="1" dirty="0"/>
              <a:t>How would you react when one of your employees mentions h/she wants to move to the HR department ?</a:t>
            </a:r>
          </a:p>
          <a:p>
            <a:pPr lvl="1"/>
            <a:endParaRPr lang="en-US" sz="2000" b="1" dirty="0"/>
          </a:p>
          <a:p>
            <a:pPr lvl="2"/>
            <a:r>
              <a:rPr lang="en-US" b="1" dirty="0"/>
              <a:t>I will tell the employee that I fully support his/her development and therefore I will support the transition to another department</a:t>
            </a:r>
          </a:p>
          <a:p>
            <a:pPr lvl="2"/>
            <a:r>
              <a:rPr lang="en-US" b="1" dirty="0"/>
              <a:t>However, timing will need to be negotiated as I need time to find a replacement for the position left empty</a:t>
            </a:r>
          </a:p>
          <a:p>
            <a:pPr lvl="2"/>
            <a:r>
              <a:rPr lang="en-US" b="1" dirty="0"/>
              <a:t>Time to get an internal employee to fill in the position or to hire from outside could be easily 3 months…</a:t>
            </a:r>
          </a:p>
        </p:txBody>
      </p:sp>
      <p:sp>
        <p:nvSpPr>
          <p:cNvPr id="3" name="Title 2"/>
          <p:cNvSpPr>
            <a:spLocks noGrp="1"/>
          </p:cNvSpPr>
          <p:nvPr>
            <p:ph type="title"/>
          </p:nvPr>
        </p:nvSpPr>
        <p:spPr/>
        <p:txBody>
          <a:bodyPr>
            <a:normAutofit/>
          </a:bodyPr>
          <a:lstStyle/>
          <a:p>
            <a:r>
              <a:rPr lang="en-US" dirty="0"/>
              <a:t>Questions on Case study narrative</a:t>
            </a:r>
          </a:p>
        </p:txBody>
      </p:sp>
    </p:spTree>
    <p:extLst>
      <p:ext uri="{BB962C8B-B14F-4D97-AF65-F5344CB8AC3E}">
        <p14:creationId xmlns:p14="http://schemas.microsoft.com/office/powerpoint/2010/main" val="3454292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0262" y="2686618"/>
            <a:ext cx="8539562" cy="4071021"/>
          </a:xfrm>
        </p:spPr>
        <p:txBody>
          <a:bodyPr>
            <a:normAutofit/>
          </a:bodyPr>
          <a:lstStyle/>
          <a:p>
            <a:pPr>
              <a:buFont typeface="Arial" panose="020B0604020202020204" pitchFamily="34" charset="0"/>
              <a:buChar char="•"/>
            </a:pPr>
            <a:r>
              <a:rPr lang="en-US" b="1" dirty="0"/>
              <a:t>Reading the Case study narrative (ppt) : </a:t>
            </a:r>
          </a:p>
          <a:p>
            <a:pPr lvl="1"/>
            <a:r>
              <a:rPr lang="en-US" sz="2000" b="1" dirty="0"/>
              <a:t>Do you think your budget for the upcoming year will be higher, lower or the same as last year ? Why ?</a:t>
            </a:r>
          </a:p>
          <a:p>
            <a:pPr lvl="1"/>
            <a:endParaRPr lang="en-US" sz="2000" b="1" dirty="0"/>
          </a:p>
          <a:p>
            <a:pPr lvl="2"/>
            <a:r>
              <a:rPr lang="en-US" b="1" dirty="0"/>
              <a:t>As a result of question 3 : headcount will grow by at least 10% IT budget will increase to reflect : </a:t>
            </a:r>
          </a:p>
          <a:p>
            <a:pPr lvl="3"/>
            <a:r>
              <a:rPr lang="en-US" b="1" dirty="0"/>
              <a:t>The at least 10% headcount growth</a:t>
            </a:r>
          </a:p>
          <a:p>
            <a:pPr lvl="3"/>
            <a:r>
              <a:rPr lang="en-US" b="1" dirty="0"/>
              <a:t>Projects that will require extra funding</a:t>
            </a:r>
          </a:p>
        </p:txBody>
      </p:sp>
      <p:sp>
        <p:nvSpPr>
          <p:cNvPr id="3" name="Title 2"/>
          <p:cNvSpPr>
            <a:spLocks noGrp="1"/>
          </p:cNvSpPr>
          <p:nvPr>
            <p:ph type="title"/>
          </p:nvPr>
        </p:nvSpPr>
        <p:spPr/>
        <p:txBody>
          <a:bodyPr>
            <a:normAutofit/>
          </a:bodyPr>
          <a:lstStyle/>
          <a:p>
            <a:r>
              <a:rPr lang="en-US" dirty="0"/>
              <a:t>Questions on Case study narrative</a:t>
            </a:r>
          </a:p>
        </p:txBody>
      </p:sp>
    </p:spTree>
    <p:extLst>
      <p:ext uri="{BB962C8B-B14F-4D97-AF65-F5344CB8AC3E}">
        <p14:creationId xmlns:p14="http://schemas.microsoft.com/office/powerpoint/2010/main" val="3534586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10436" y="2381144"/>
            <a:ext cx="4249899" cy="1754327"/>
          </a:xfrm>
          <a:prstGeom prst="rect">
            <a:avLst/>
          </a:prstGeom>
          <a:noFill/>
        </p:spPr>
        <p:txBody>
          <a:bodyPr wrap="square" rtlCol="0">
            <a:spAutoFit/>
          </a:bodyPr>
          <a:lstStyle/>
          <a:p>
            <a:pPr algn="ctr"/>
            <a:r>
              <a:rPr lang="en-US" sz="3600" b="1" dirty="0">
                <a:solidFill>
                  <a:schemeClr val="tx2"/>
                </a:solidFill>
              </a:rPr>
              <a:t>Thank you!</a:t>
            </a:r>
          </a:p>
          <a:p>
            <a:pPr algn="ctr"/>
            <a:endParaRPr lang="en-US" sz="3600" b="1" dirty="0">
              <a:solidFill>
                <a:schemeClr val="tx2"/>
              </a:solidFill>
            </a:endParaRPr>
          </a:p>
          <a:p>
            <a:pPr algn="ctr"/>
            <a:r>
              <a:rPr lang="en-US" sz="3600" b="1" dirty="0">
                <a:solidFill>
                  <a:schemeClr val="tx2"/>
                </a:solidFill>
              </a:rPr>
              <a:t>See you next time</a:t>
            </a:r>
          </a:p>
        </p:txBody>
      </p:sp>
    </p:spTree>
    <p:extLst>
      <p:ext uri="{BB962C8B-B14F-4D97-AF65-F5344CB8AC3E}">
        <p14:creationId xmlns:p14="http://schemas.microsoft.com/office/powerpoint/2010/main" val="41595496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8531485B0C104F9C58C50E30CD7832" ma:contentTypeVersion="4" ma:contentTypeDescription="Create a new document." ma:contentTypeScope="" ma:versionID="1dfccaadae0d2f0b848ad55bc03a2905">
  <xsd:schema xmlns:xsd="http://www.w3.org/2001/XMLSchema" xmlns:xs="http://www.w3.org/2001/XMLSchema" xmlns:p="http://schemas.microsoft.com/office/2006/metadata/properties" xmlns:ns2="0ea48c8c-38ab-43fa-892b-dc8a284a5f0d" targetNamespace="http://schemas.microsoft.com/office/2006/metadata/properties" ma:root="true" ma:fieldsID="2d2e5abe0c8f91bc85a8371e13ced834" ns2:_="">
    <xsd:import namespace="0ea48c8c-38ab-43fa-892b-dc8a284a5f0d"/>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a48c8c-38ab-43fa-892b-dc8a284a5f0d"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0ea48c8c-38ab-43fa-892b-dc8a284a5f0d" xsi:nil="true"/>
  </documentManagement>
</p:properties>
</file>

<file path=customXml/itemProps1.xml><?xml version="1.0" encoding="utf-8"?>
<ds:datastoreItem xmlns:ds="http://schemas.openxmlformats.org/officeDocument/2006/customXml" ds:itemID="{94DCBC84-AF34-44F6-9469-8AC5E5DE1BF4}"/>
</file>

<file path=customXml/itemProps2.xml><?xml version="1.0" encoding="utf-8"?>
<ds:datastoreItem xmlns:ds="http://schemas.openxmlformats.org/officeDocument/2006/customXml" ds:itemID="{1F3F1A1D-13C5-4502-9E2D-9D9B04F490EC}"/>
</file>

<file path=customXml/itemProps3.xml><?xml version="1.0" encoding="utf-8"?>
<ds:datastoreItem xmlns:ds="http://schemas.openxmlformats.org/officeDocument/2006/customXml" ds:itemID="{7EB4A371-41D3-4728-8727-2A80703677BE}"/>
</file>

<file path=docProps/app.xml><?xml version="1.0" encoding="utf-8"?>
<Properties xmlns="http://schemas.openxmlformats.org/officeDocument/2006/extended-properties" xmlns:vt="http://schemas.openxmlformats.org/officeDocument/2006/docPropsVTypes">
  <Template>Waveform.thmx</Template>
  <TotalTime>4905</TotalTime>
  <Words>1693</Words>
  <Application>Microsoft Macintosh PowerPoint</Application>
  <PresentationFormat>On-screen Show (4:3)</PresentationFormat>
  <Paragraphs>115</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Candara</vt:lpstr>
      <vt:lpstr>Courier New</vt:lpstr>
      <vt:lpstr>Symbol</vt:lpstr>
      <vt:lpstr>Waveform</vt:lpstr>
      <vt:lpstr>Finance for IT managers</vt:lpstr>
      <vt:lpstr>Case Study New Corp IT budget </vt:lpstr>
      <vt:lpstr>Budget model (1/3)</vt:lpstr>
      <vt:lpstr>Budget model (2/3)</vt:lpstr>
      <vt:lpstr>Case study details (1/4)</vt:lpstr>
      <vt:lpstr>Case study details (2/4)</vt:lpstr>
      <vt:lpstr>Case study details (3/4)</vt:lpstr>
      <vt:lpstr>Case study details (4/4)</vt:lpstr>
      <vt:lpstr>Questions on the Budget model</vt:lpstr>
      <vt:lpstr>Questions on the Budget model</vt:lpstr>
      <vt:lpstr>Questions on the Budget model</vt:lpstr>
      <vt:lpstr>Questions on the Budget model</vt:lpstr>
      <vt:lpstr>Questions on the Budget model</vt:lpstr>
      <vt:lpstr>Questions on Case study narrative</vt:lpstr>
      <vt:lpstr>Questions on Case study narrative</vt:lpstr>
      <vt:lpstr>Questions on Case study narrative</vt:lpstr>
      <vt:lpstr>Questions on Case study narrative</vt:lpstr>
      <vt:lpstr>Questions on Case study narrative</vt:lpstr>
      <vt:lpstr>Questions on Case study narrative</vt:lpstr>
      <vt:lpstr>PowerPoint Presentation</vt:lpstr>
    </vt:vector>
  </TitlesOfParts>
  <Manager/>
  <Company>Hervé Gallot for EPITA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Masters</dc:title>
  <dc:subject>Finance for IT Managers</dc:subject>
  <dc:creator>Hervé Gallot</dc:creator>
  <cp:keywords/>
  <dc:description/>
  <cp:lastModifiedBy>appriou sylvie</cp:lastModifiedBy>
  <cp:revision>736</cp:revision>
  <cp:lastPrinted>2013-03-11T16:12:03Z</cp:lastPrinted>
  <dcterms:created xsi:type="dcterms:W3CDTF">2013-02-25T11:18:49Z</dcterms:created>
  <dcterms:modified xsi:type="dcterms:W3CDTF">2025-04-14T13:05:23Z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0x010100FD8531485B0C104F9C58C50E30CD7832</vt:lpwstr>
  </property>
</Properties>
</file>