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entation.xml" ContentType="application/vnd.openxmlformats-officedocument.presentationml.presentation.main+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1"/>
  </p:notesMasterIdLst>
  <p:handoutMasterIdLst>
    <p:handoutMasterId r:id="rId12"/>
  </p:handoutMasterIdLst>
  <p:sldIdLst>
    <p:sldId id="256" r:id="rId2"/>
    <p:sldId id="529" r:id="rId3"/>
    <p:sldId id="533" r:id="rId4"/>
    <p:sldId id="534" r:id="rId5"/>
    <p:sldId id="535" r:id="rId6"/>
    <p:sldId id="536" r:id="rId7"/>
    <p:sldId id="542" r:id="rId8"/>
    <p:sldId id="556" r:id="rId9"/>
    <p:sldId id="46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3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clrMru>
    <a:srgbClr val="185CB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865" autoAdjust="0"/>
  </p:normalViewPr>
  <p:slideViewPr>
    <p:cSldViewPr snapToGrid="0" snapToObjects="1">
      <p:cViewPr varScale="1">
        <p:scale>
          <a:sx n="117" d="100"/>
          <a:sy n="117" d="100"/>
        </p:scale>
        <p:origin x="1408" y="176"/>
      </p:cViewPr>
      <p:guideLst>
        <p:guide orient="horz" pos="2160"/>
        <p:guide pos="2328"/>
      </p:guideLst>
    </p:cSldViewPr>
  </p:slideViewPr>
  <p:notesTextViewPr>
    <p:cViewPr>
      <p:scale>
        <a:sx n="100" d="100"/>
        <a:sy n="100" d="100"/>
      </p:scale>
      <p:origin x="0" y="0"/>
    </p:cViewPr>
  </p:notesTextViewPr>
  <p:sorterViewPr>
    <p:cViewPr>
      <p:scale>
        <a:sx n="141" d="100"/>
        <a:sy n="141" d="100"/>
      </p:scale>
      <p:origin x="0" y="82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D9F7FC8-EDF1-B745-B794-DEBC2B28F3A5}" type="datetimeFigureOut">
              <a:rPr lang="en-US" smtClean="0"/>
              <a:t>9/17/25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CC7BF8-8EEA-E746-B6B1-70A030903C56}" type="slidenum">
              <a:rPr lang="en-US" smtClean="0"/>
              <a:t>‹#›</a:t>
            </a:fld>
            <a:endParaRPr lang="en-US"/>
          </a:p>
        </p:txBody>
      </p:sp>
    </p:spTree>
    <p:extLst>
      <p:ext uri="{BB962C8B-B14F-4D97-AF65-F5344CB8AC3E}">
        <p14:creationId xmlns:p14="http://schemas.microsoft.com/office/powerpoint/2010/main" val="2816195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97C15C-9360-D846-82FF-FB09835C3991}" type="datetimeFigureOut">
              <a:rPr lang="en-US" smtClean="0"/>
              <a:t>9/17/25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098D7-F03D-454D-A4F0-32B46C79E6C0}" type="slidenum">
              <a:rPr lang="en-US" smtClean="0"/>
              <a:t>‹#›</a:t>
            </a:fld>
            <a:endParaRPr lang="en-US"/>
          </a:p>
        </p:txBody>
      </p:sp>
    </p:spTree>
    <p:extLst>
      <p:ext uri="{BB962C8B-B14F-4D97-AF65-F5344CB8AC3E}">
        <p14:creationId xmlns:p14="http://schemas.microsoft.com/office/powerpoint/2010/main" val="106201930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fr-FR"/>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dirty="0"/>
          </a:p>
        </p:txBody>
      </p:sp>
      <p:sp>
        <p:nvSpPr>
          <p:cNvPr id="4" name="Date Placeholder 3"/>
          <p:cNvSpPr>
            <a:spLocks noGrp="1"/>
          </p:cNvSpPr>
          <p:nvPr>
            <p:ph type="dt" sz="half" idx="10"/>
          </p:nvPr>
        </p:nvSpPr>
        <p:spPr/>
        <p:txBody>
          <a:bodyPr/>
          <a:lstStyle/>
          <a:p>
            <a:fld id="{E30E2307-1E40-4E12-8716-25BFDA8E7013}"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61FD9D02-426E-46C9-9EE9-0DE1EF8B2838}"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
        <p:nvSpPr>
          <p:cNvPr id="7" name="Title 6"/>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fr-FR"/>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4" name="Date Placeholder 3"/>
          <p:cNvSpPr>
            <a:spLocks noGrp="1"/>
          </p:cNvSpPr>
          <p:nvPr>
            <p:ph type="dt" sz="half" idx="10"/>
          </p:nvPr>
        </p:nvSpPr>
        <p:spPr/>
        <p:txBody>
          <a:bodyPr/>
          <a:lstStyle/>
          <a:p>
            <a:fld id="{7B8AEBBE-F8B2-42CF-9895-E86A608384EB}"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5" name="Date Placeholder 4"/>
          <p:cNvSpPr>
            <a:spLocks noGrp="1"/>
          </p:cNvSpPr>
          <p:nvPr>
            <p:ph type="dt" sz="half" idx="10"/>
          </p:nvPr>
        </p:nvSpPr>
        <p:spPr/>
        <p:txBody>
          <a:bodyPr/>
          <a:lstStyle/>
          <a:p>
            <a:fld id="{E1FAA6B6-10E5-4810-BC9F-DA72D8452E73}" type="datetime1">
              <a:rPr lang="en-US" smtClean="0"/>
              <a:pPr/>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7" name="Date Placeholder 6"/>
          <p:cNvSpPr>
            <a:spLocks noGrp="1"/>
          </p:cNvSpPr>
          <p:nvPr>
            <p:ph type="dt" sz="half" idx="10"/>
          </p:nvPr>
        </p:nvSpPr>
        <p:spPr/>
        <p:txBody>
          <a:bodyPr/>
          <a:lstStyle/>
          <a:p>
            <a:fld id="{6D18D072-EF12-4AA2-BD71-ABC68B06D0E2}" type="datetime1">
              <a:rPr lang="en-US" smtClean="0"/>
              <a:pPr/>
              <a:t>9/17/25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Date Placeholder 2"/>
          <p:cNvSpPr>
            <a:spLocks noGrp="1"/>
          </p:cNvSpPr>
          <p:nvPr>
            <p:ph type="dt" sz="half" idx="10"/>
          </p:nvPr>
        </p:nvSpPr>
        <p:spPr/>
        <p:txBody>
          <a:bodyPr/>
          <a:lstStyle/>
          <a:p>
            <a:fld id="{B8CDBF60-6CC3-4B74-A60D-3486985E4346}" type="datetime1">
              <a:rPr lang="en-US" smtClean="0"/>
              <a:pPr/>
              <a:t>9/17/25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22714818-984F-4759-BF72-A33BDC1963BD}" type="datetime1">
              <a:rPr lang="en-US" smtClean="0"/>
              <a:pPr/>
              <a:t>9/17/25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EA7E191-5F94-4FC1-B823-BD7CABF7FA06}" type="datetime1">
              <a:rPr lang="en-US" smtClean="0"/>
              <a:pPr/>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fr-FR"/>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fr-FR"/>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4"/>
          <p:cNvSpPr>
            <a:spLocks noGrp="1"/>
          </p:cNvSpPr>
          <p:nvPr>
            <p:ph type="dt" sz="half" idx="10"/>
          </p:nvPr>
        </p:nvSpPr>
        <p:spPr/>
        <p:txBody>
          <a:bodyPr/>
          <a:lstStyle/>
          <a:p>
            <a:fld id="{88856D55-EFBE-4F9B-8A5F-09D42CA22A9B}" type="datetime1">
              <a:rPr lang="en-US" smtClean="0"/>
              <a:pPr/>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Drag picture to placeholder or click icon to add</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E5CFCF5A-EA79-452C-A52C-1A2668C2E7DF}"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E5C4C28-BD4B-4892-9A2D-6E19BD753A9A}"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fr-FR"/>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fr-FR"/>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D1D110F-3F4E-48D9-B8AA-5D0E825AFDBA}" type="datetime1">
              <a:rPr lang="en-US" smtClean="0"/>
              <a:pPr/>
              <a:t>9/17/25</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87D7A59-36E2-48B9-B146-C1E59501F63F}"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Finance for IT managers</a:t>
            </a:r>
          </a:p>
        </p:txBody>
      </p:sp>
      <p:sp>
        <p:nvSpPr>
          <p:cNvPr id="3" name="Subtitle 2"/>
          <p:cNvSpPr>
            <a:spLocks noGrp="1"/>
          </p:cNvSpPr>
          <p:nvPr>
            <p:ph type="subTitle" idx="1"/>
          </p:nvPr>
        </p:nvSpPr>
        <p:spPr/>
        <p:txBody>
          <a:bodyPr/>
          <a:lstStyle/>
          <a:p>
            <a:r>
              <a:rPr lang="en-US" dirty="0"/>
              <a:t>International Masters </a:t>
            </a:r>
          </a:p>
          <a:p>
            <a:r>
              <a:rPr lang="en-US"/>
              <a:t>Fall </a:t>
            </a:r>
            <a:r>
              <a:rPr lang="en-US" dirty="0"/>
              <a:t>2025 program</a:t>
            </a:r>
          </a:p>
        </p:txBody>
      </p:sp>
      <p:pic>
        <p:nvPicPr>
          <p:cNvPr id="4" name="Image 3" descr="\\shares.ionis.epitech.net\EPITA_MASTER_INTERNATIONAUX\Logos\EPITA GRADUATE.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533" y="5798820"/>
            <a:ext cx="1869440" cy="1059180"/>
          </a:xfrm>
          <a:prstGeom prst="rect">
            <a:avLst/>
          </a:prstGeom>
          <a:noFill/>
          <a:ln w="9525">
            <a:noFill/>
            <a:miter lim="800000"/>
            <a:headEnd/>
            <a:tailEnd/>
          </a:ln>
        </p:spPr>
      </p:pic>
      <p:sp>
        <p:nvSpPr>
          <p:cNvPr id="5" name="TextBox 4"/>
          <p:cNvSpPr txBox="1"/>
          <p:nvPr/>
        </p:nvSpPr>
        <p:spPr>
          <a:xfrm>
            <a:off x="6515100" y="6338125"/>
            <a:ext cx="2400101" cy="369332"/>
          </a:xfrm>
          <a:prstGeom prst="rect">
            <a:avLst/>
          </a:prstGeom>
          <a:noFill/>
        </p:spPr>
        <p:txBody>
          <a:bodyPr wrap="square" rtlCol="0">
            <a:spAutoFit/>
          </a:bodyPr>
          <a:lstStyle/>
          <a:p>
            <a:pPr algn="r"/>
            <a:r>
              <a:rPr lang="en-US" b="1" dirty="0">
                <a:solidFill>
                  <a:srgbClr val="185CB9"/>
                </a:solidFill>
              </a:rPr>
              <a:t>©</a:t>
            </a:r>
            <a:r>
              <a:rPr lang="en-US" dirty="0"/>
              <a:t> </a:t>
            </a:r>
            <a:r>
              <a:rPr lang="en-US" b="1" dirty="0">
                <a:solidFill>
                  <a:srgbClr val="185CB9"/>
                </a:solidFill>
              </a:rPr>
              <a:t>Sylvie Appriou</a:t>
            </a:r>
          </a:p>
        </p:txBody>
      </p:sp>
    </p:spTree>
    <p:extLst>
      <p:ext uri="{BB962C8B-B14F-4D97-AF65-F5344CB8AC3E}">
        <p14:creationId xmlns:p14="http://schemas.microsoft.com/office/powerpoint/2010/main" val="861334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610610"/>
            <a:ext cx="7772400" cy="2376950"/>
          </a:xfrm>
        </p:spPr>
        <p:txBody>
          <a:bodyPr/>
          <a:lstStyle/>
          <a:p>
            <a:r>
              <a:rPr lang="en-US" dirty="0"/>
              <a:t>Case Study</a:t>
            </a:r>
            <a:br>
              <a:rPr lang="en-US" dirty="0"/>
            </a:br>
            <a:r>
              <a:rPr lang="en-US" dirty="0"/>
              <a:t>New Corp IT budget</a:t>
            </a:r>
            <a:br>
              <a:rPr lang="en-US" dirty="0"/>
            </a:br>
            <a:endParaRPr lang="en-US" dirty="0"/>
          </a:p>
        </p:txBody>
      </p:sp>
    </p:spTree>
    <p:extLst>
      <p:ext uri="{BB962C8B-B14F-4D97-AF65-F5344CB8AC3E}">
        <p14:creationId xmlns:p14="http://schemas.microsoft.com/office/powerpoint/2010/main" val="301093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83372" y="2576760"/>
            <a:ext cx="8616613" cy="4281240"/>
          </a:xfrm>
        </p:spPr>
        <p:txBody>
          <a:bodyPr>
            <a:noAutofit/>
          </a:bodyPr>
          <a:lstStyle/>
          <a:p>
            <a:pPr lvl="0">
              <a:buFont typeface="Arial"/>
              <a:buChar char="•"/>
            </a:pPr>
            <a:r>
              <a:rPr lang="en-US" sz="1600" dirty="0"/>
              <a:t>Despite the global economic climate, New Corp. has managed to continue growing at a slow pace for the past three years.</a:t>
            </a:r>
          </a:p>
          <a:p>
            <a:pPr lvl="0">
              <a:buFont typeface="Arial"/>
              <a:buChar char="•"/>
            </a:pPr>
            <a:r>
              <a:rPr lang="en-US" sz="1600" dirty="0"/>
              <a:t>The outlook for 2025 is more favorable as New Corp. was short-listed on several large sales opportunities, which could materialize in 2025.</a:t>
            </a:r>
          </a:p>
          <a:p>
            <a:pPr lvl="0">
              <a:buFont typeface="Arial"/>
              <a:buChar char="•"/>
            </a:pPr>
            <a:r>
              <a:rPr lang="en-US" sz="1600" dirty="0"/>
              <a:t>Your CEO anticipates business to grow faster than recently and </a:t>
            </a:r>
            <a:r>
              <a:rPr lang="en-US" sz="1600" b="1" dirty="0"/>
              <a:t>plans on a 20% annual sales growth for next year</a:t>
            </a:r>
            <a:r>
              <a:rPr lang="en-US" sz="1600" dirty="0"/>
              <a:t>.</a:t>
            </a:r>
          </a:p>
          <a:p>
            <a:pPr lvl="0">
              <a:buFont typeface="Arial"/>
              <a:buChar char="•"/>
            </a:pPr>
            <a:r>
              <a:rPr lang="en-US" sz="1600" dirty="0"/>
              <a:t>New Corp. plans on growing the </a:t>
            </a:r>
            <a:r>
              <a:rPr lang="en-US" sz="1600" b="1" dirty="0"/>
              <a:t>sales team by 15% and the rest of the organization by 10%</a:t>
            </a:r>
          </a:p>
          <a:p>
            <a:pPr lvl="0">
              <a:buFont typeface="Arial"/>
              <a:buChar char="•"/>
            </a:pPr>
            <a:r>
              <a:rPr lang="en-US" sz="1600" b="1" dirty="0"/>
              <a:t>IT is key to New Corp.’s strategy</a:t>
            </a:r>
            <a:r>
              <a:rPr lang="en-US" sz="1600" dirty="0"/>
              <a:t>, hence why you were recently hired</a:t>
            </a:r>
          </a:p>
          <a:p>
            <a:pPr lvl="0">
              <a:buFont typeface="Arial"/>
              <a:buChar char="•"/>
            </a:pPr>
            <a:r>
              <a:rPr lang="en-US" sz="1600" dirty="0"/>
              <a:t>The company runs on </a:t>
            </a:r>
            <a:r>
              <a:rPr lang="en-US" sz="1600" b="1" dirty="0"/>
              <a:t>an ERP system, implemented last year</a:t>
            </a:r>
            <a:r>
              <a:rPr lang="en-US" sz="1600" dirty="0"/>
              <a:t>, after two previous unsuccessful attempts.</a:t>
            </a:r>
          </a:p>
          <a:p>
            <a:pPr lvl="0">
              <a:buFont typeface="Arial"/>
              <a:buChar char="•"/>
            </a:pPr>
            <a:r>
              <a:rPr lang="en-US" sz="1600" dirty="0"/>
              <a:t>Your servers run at 78% capacity and despite a few data availability issues this year, your team seems to </a:t>
            </a:r>
            <a:r>
              <a:rPr lang="en-US" sz="1600" b="1" dirty="0"/>
              <a:t>meet all SLAs.</a:t>
            </a:r>
          </a:p>
          <a:p>
            <a:pPr lvl="0">
              <a:buFont typeface="Arial"/>
              <a:buChar char="•"/>
            </a:pPr>
            <a:r>
              <a:rPr lang="en-US" sz="1600" dirty="0"/>
              <a:t>The Marketing manager asked to meet with you next week, as she wants to discuss the revamping of </a:t>
            </a:r>
            <a:r>
              <a:rPr lang="en-US" sz="1600" b="1" dirty="0"/>
              <a:t>New Corp.’s web site </a:t>
            </a:r>
            <a:r>
              <a:rPr lang="en-US" sz="1600" dirty="0"/>
              <a:t>with you.</a:t>
            </a:r>
          </a:p>
        </p:txBody>
      </p:sp>
      <p:sp>
        <p:nvSpPr>
          <p:cNvPr id="3" name="Title 2"/>
          <p:cNvSpPr>
            <a:spLocks noGrp="1"/>
          </p:cNvSpPr>
          <p:nvPr>
            <p:ph type="title"/>
          </p:nvPr>
        </p:nvSpPr>
        <p:spPr/>
        <p:txBody>
          <a:bodyPr/>
          <a:lstStyle/>
          <a:p>
            <a:r>
              <a:rPr lang="en-US" dirty="0"/>
              <a:t>Case study details </a:t>
            </a:r>
            <a:r>
              <a:rPr lang="en-US" sz="2400" dirty="0"/>
              <a:t>(1/4)</a:t>
            </a:r>
          </a:p>
        </p:txBody>
      </p:sp>
    </p:spTree>
    <p:extLst>
      <p:ext uri="{BB962C8B-B14F-4D97-AF65-F5344CB8AC3E}">
        <p14:creationId xmlns:p14="http://schemas.microsoft.com/office/powerpoint/2010/main" val="2965336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83373" y="2576760"/>
            <a:ext cx="8543145" cy="4281240"/>
          </a:xfrm>
        </p:spPr>
        <p:txBody>
          <a:bodyPr>
            <a:noAutofit/>
          </a:bodyPr>
          <a:lstStyle/>
          <a:p>
            <a:pPr lvl="0">
              <a:buFont typeface="Arial"/>
              <a:buChar char="•"/>
            </a:pPr>
            <a:r>
              <a:rPr lang="en-US" sz="1500" dirty="0"/>
              <a:t>In addition of supporting the growing business with your IT department, your CEO mentioned during your interview that:</a:t>
            </a:r>
          </a:p>
          <a:p>
            <a:pPr lvl="1" algn="just">
              <a:buFont typeface="Courier New"/>
              <a:buChar char="o"/>
            </a:pPr>
            <a:r>
              <a:rPr lang="en-US" sz="1500" dirty="0"/>
              <a:t>He would like to invest into an </a:t>
            </a:r>
            <a:r>
              <a:rPr lang="en-US" sz="1500" b="1" dirty="0"/>
              <a:t>HR system </a:t>
            </a:r>
            <a:r>
              <a:rPr lang="en-US" sz="1500" dirty="0"/>
              <a:t>to </a:t>
            </a:r>
            <a:r>
              <a:rPr lang="en-US" sz="1500" b="1" dirty="0"/>
              <a:t>automate all HR activities and provide an HR tool to all managers</a:t>
            </a:r>
            <a:r>
              <a:rPr lang="en-US" sz="1500" dirty="0"/>
              <a:t>. Your CEO already knows from a friend of his (President of a large software company specialized in HR packages) that he could implement their HR system for less than </a:t>
            </a:r>
            <a:r>
              <a:rPr lang="en-US" sz="1500" b="1" dirty="0"/>
              <a:t>120,000USD, within 9 months</a:t>
            </a:r>
            <a:r>
              <a:rPr lang="en-US" sz="1500" dirty="0"/>
              <a:t>, with the </a:t>
            </a:r>
            <a:r>
              <a:rPr lang="en-US" sz="1500" b="1" dirty="0"/>
              <a:t>addition of contractors and consultants</a:t>
            </a:r>
            <a:r>
              <a:rPr lang="en-US" sz="1500" dirty="0"/>
              <a:t>. </a:t>
            </a:r>
          </a:p>
          <a:p>
            <a:pPr lvl="1" algn="just">
              <a:buFont typeface="Courier New"/>
              <a:buChar char="o"/>
            </a:pPr>
            <a:r>
              <a:rPr lang="en-US" sz="1500" dirty="0"/>
              <a:t>He is frustrated at sales representatives keeping all of their sales contacts and sales forecast data privately on their own laptops. The loss of key sales data hurt New Corp. severely last summer when the most senior and performing sales representative left the company.</a:t>
            </a:r>
          </a:p>
          <a:p>
            <a:pPr lvl="1" algn="just">
              <a:buFont typeface="Courier New"/>
              <a:buChar char="o"/>
            </a:pPr>
            <a:r>
              <a:rPr lang="en-US" sz="1500" dirty="0"/>
              <a:t>He trusts you for making a </a:t>
            </a:r>
            <a:r>
              <a:rPr lang="en-US" sz="1500" b="1" dirty="0"/>
              <a:t>full assessment of the IT situation </a:t>
            </a:r>
            <a:r>
              <a:rPr lang="en-US" sz="1500" dirty="0"/>
              <a:t>and come up with </a:t>
            </a:r>
            <a:r>
              <a:rPr lang="en-US" sz="1500" b="1" dirty="0"/>
              <a:t>recommendations</a:t>
            </a:r>
            <a:r>
              <a:rPr lang="en-US" sz="1500" dirty="0"/>
              <a:t> on where you see </a:t>
            </a:r>
            <a:r>
              <a:rPr lang="en-US" sz="1500" b="1" dirty="0"/>
              <a:t>priorities and opportunities </a:t>
            </a:r>
            <a:r>
              <a:rPr lang="en-US" sz="1500" dirty="0"/>
              <a:t>to </a:t>
            </a:r>
            <a:r>
              <a:rPr lang="en-US" sz="1500" b="1" dirty="0"/>
              <a:t>reduce costs and improve productivity.</a:t>
            </a:r>
          </a:p>
        </p:txBody>
      </p:sp>
      <p:sp>
        <p:nvSpPr>
          <p:cNvPr id="3" name="Title 2"/>
          <p:cNvSpPr>
            <a:spLocks noGrp="1"/>
          </p:cNvSpPr>
          <p:nvPr>
            <p:ph type="title"/>
          </p:nvPr>
        </p:nvSpPr>
        <p:spPr/>
        <p:txBody>
          <a:bodyPr/>
          <a:lstStyle/>
          <a:p>
            <a:r>
              <a:rPr lang="en-US" dirty="0"/>
              <a:t>Case study details </a:t>
            </a:r>
            <a:r>
              <a:rPr lang="en-US" sz="2400" dirty="0"/>
              <a:t>(2/4)</a:t>
            </a:r>
            <a:endParaRPr lang="en-US" dirty="0"/>
          </a:p>
        </p:txBody>
      </p:sp>
    </p:spTree>
    <p:extLst>
      <p:ext uri="{BB962C8B-B14F-4D97-AF65-F5344CB8AC3E}">
        <p14:creationId xmlns:p14="http://schemas.microsoft.com/office/powerpoint/2010/main" val="389624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7799" y="2624066"/>
            <a:ext cx="8683250" cy="4233933"/>
          </a:xfrm>
        </p:spPr>
        <p:txBody>
          <a:bodyPr>
            <a:noAutofit/>
          </a:bodyPr>
          <a:lstStyle/>
          <a:p>
            <a:pPr lvl="0">
              <a:buFont typeface="Arial"/>
              <a:buChar char="•"/>
            </a:pPr>
            <a:r>
              <a:rPr lang="en-US" sz="1600" dirty="0"/>
              <a:t>You met individually with all of your permanent team members and gathered that </a:t>
            </a:r>
            <a:r>
              <a:rPr lang="en-US" sz="1600" b="1" dirty="0"/>
              <a:t>one person on your team is keen on moving into project management</a:t>
            </a:r>
            <a:r>
              <a:rPr lang="en-US" sz="1600" dirty="0"/>
              <a:t>, with additional training. Another person on your team has indicated </a:t>
            </a:r>
            <a:r>
              <a:rPr lang="en-US" sz="1600" b="1" dirty="0"/>
              <a:t>she is interested into moving to HR as a future career move.</a:t>
            </a:r>
          </a:p>
          <a:p>
            <a:pPr lvl="0">
              <a:buFont typeface="Arial"/>
              <a:buChar char="•"/>
            </a:pPr>
            <a:r>
              <a:rPr lang="en-US" sz="1600" dirty="0"/>
              <a:t>Bob, the sales manager you met at the first leadership meeting has been very vocal about the need to equip his entire </a:t>
            </a:r>
            <a:r>
              <a:rPr lang="en-US" sz="1600" b="1" dirty="0"/>
              <a:t>sales representatives with </a:t>
            </a:r>
            <a:r>
              <a:rPr lang="en-US" sz="1600" b="1" dirty="0" err="1"/>
              <a:t>iPads</a:t>
            </a:r>
            <a:r>
              <a:rPr lang="en-US" sz="1600" b="1" dirty="0"/>
              <a:t> to have access to sales and technical information at all times, </a:t>
            </a:r>
            <a:r>
              <a:rPr lang="en-US" sz="1600" dirty="0"/>
              <a:t>to be able to forecast when visiting customers. Your CEO doesn’t seem to have a clear position on the question but doesn’t seem able to say “no” to Bob.</a:t>
            </a:r>
          </a:p>
          <a:p>
            <a:pPr lvl="0">
              <a:buFont typeface="Arial"/>
              <a:buChar char="•"/>
            </a:pPr>
            <a:r>
              <a:rPr lang="en-US" sz="1600" dirty="0"/>
              <a:t>You already started planning the requested implementation of the </a:t>
            </a:r>
            <a:r>
              <a:rPr lang="en-US" sz="1600" b="1" dirty="0"/>
              <a:t>HR system into your budget </a:t>
            </a:r>
            <a:r>
              <a:rPr lang="en-US" sz="1600" dirty="0"/>
              <a:t>with the addition of</a:t>
            </a:r>
            <a:r>
              <a:rPr lang="en-US" sz="1600" b="1" dirty="0"/>
              <a:t> 1 full-time consultant from March </a:t>
            </a:r>
            <a:r>
              <a:rPr lang="en-US" sz="1600" dirty="0"/>
              <a:t>and </a:t>
            </a:r>
            <a:r>
              <a:rPr lang="en-US" sz="1600" b="1" dirty="0"/>
              <a:t>5 contractors between June and November</a:t>
            </a:r>
            <a:r>
              <a:rPr lang="en-US" sz="1600" dirty="0"/>
              <a:t>. You </a:t>
            </a:r>
            <a:r>
              <a:rPr lang="en-US" sz="1600" b="1" dirty="0"/>
              <a:t>haven’t yet included any of the software license, equipment or non-personnel costs into your budget.</a:t>
            </a:r>
            <a:r>
              <a:rPr lang="en-US" sz="1600" dirty="0"/>
              <a:t> You also expect to learn more from meeting with the HR manager soon. You are also considering some of the </a:t>
            </a:r>
            <a:r>
              <a:rPr lang="en-US" sz="1600" dirty="0" err="1"/>
              <a:t>SaaS</a:t>
            </a:r>
            <a:r>
              <a:rPr lang="en-US" sz="1600" dirty="0"/>
              <a:t> solutions available on the market, as a way to speed up implementation time frames and reduce </a:t>
            </a:r>
            <a:r>
              <a:rPr lang="en-US" sz="1600" dirty="0" err="1"/>
              <a:t>CapEx</a:t>
            </a:r>
            <a:r>
              <a:rPr lang="en-US" sz="1600" dirty="0"/>
              <a:t> expenditure.</a:t>
            </a:r>
          </a:p>
        </p:txBody>
      </p:sp>
      <p:sp>
        <p:nvSpPr>
          <p:cNvPr id="3" name="Title 2"/>
          <p:cNvSpPr>
            <a:spLocks noGrp="1"/>
          </p:cNvSpPr>
          <p:nvPr>
            <p:ph type="title"/>
          </p:nvPr>
        </p:nvSpPr>
        <p:spPr/>
        <p:txBody>
          <a:bodyPr/>
          <a:lstStyle/>
          <a:p>
            <a:r>
              <a:rPr lang="en-US" dirty="0"/>
              <a:t>Case study details </a:t>
            </a:r>
            <a:r>
              <a:rPr lang="en-US" sz="2400" dirty="0"/>
              <a:t>(3/4)</a:t>
            </a:r>
            <a:endParaRPr lang="en-US" dirty="0"/>
          </a:p>
        </p:txBody>
      </p:sp>
    </p:spTree>
    <p:extLst>
      <p:ext uri="{BB962C8B-B14F-4D97-AF65-F5344CB8AC3E}">
        <p14:creationId xmlns:p14="http://schemas.microsoft.com/office/powerpoint/2010/main" val="2253511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7799" y="2634564"/>
            <a:ext cx="8589214" cy="4223436"/>
          </a:xfrm>
        </p:spPr>
        <p:txBody>
          <a:bodyPr>
            <a:noAutofit/>
          </a:bodyPr>
          <a:lstStyle/>
          <a:p>
            <a:pPr lvl="0">
              <a:buFont typeface="Arial"/>
              <a:buChar char="•"/>
            </a:pPr>
            <a:r>
              <a:rPr lang="en-US" sz="1600" dirty="0"/>
              <a:t>You </a:t>
            </a:r>
            <a:r>
              <a:rPr lang="en-US" sz="1600" b="1" dirty="0"/>
              <a:t>will end 2024 with a team of 8 people </a:t>
            </a:r>
            <a:r>
              <a:rPr lang="en-US" sz="1600" dirty="0"/>
              <a:t>(Cell B14 on tab 2), yourself included.</a:t>
            </a:r>
          </a:p>
          <a:p>
            <a:pPr lvl="0">
              <a:buFont typeface="Arial"/>
              <a:buChar char="•"/>
            </a:pPr>
            <a:r>
              <a:rPr lang="en-US" sz="1600" dirty="0"/>
              <a:t>Your CEO didn’t mention this directly to you but you are aware of the</a:t>
            </a:r>
            <a:r>
              <a:rPr lang="en-US" sz="1600" b="1" dirty="0"/>
              <a:t> idea of an acquisition being discussed at board level</a:t>
            </a:r>
            <a:r>
              <a:rPr lang="en-US" sz="1600" dirty="0"/>
              <a:t>. You don’t know much about the potential targets but heard that foreign companies were being considered.</a:t>
            </a:r>
          </a:p>
          <a:p>
            <a:pPr lvl="0">
              <a:buFont typeface="Arial"/>
              <a:buChar char="•"/>
            </a:pPr>
            <a:r>
              <a:rPr lang="en-US" sz="1600" dirty="0"/>
              <a:t>Finally, in your previous job, you had participated in the very successful implementation of a </a:t>
            </a:r>
            <a:r>
              <a:rPr lang="en-US" sz="1600" b="1" dirty="0"/>
              <a:t>corporate data warehouse and BI solution</a:t>
            </a:r>
            <a:r>
              <a:rPr lang="en-US" sz="1600" dirty="0"/>
              <a:t>, which you believe contributed to a </a:t>
            </a:r>
            <a:r>
              <a:rPr lang="en-US" sz="1600" b="1" dirty="0"/>
              <a:t>10% growth in sales and 25% cost reduction.</a:t>
            </a:r>
          </a:p>
        </p:txBody>
      </p:sp>
      <p:sp>
        <p:nvSpPr>
          <p:cNvPr id="3" name="Title 2"/>
          <p:cNvSpPr>
            <a:spLocks noGrp="1"/>
          </p:cNvSpPr>
          <p:nvPr>
            <p:ph type="title"/>
          </p:nvPr>
        </p:nvSpPr>
        <p:spPr/>
        <p:txBody>
          <a:bodyPr/>
          <a:lstStyle/>
          <a:p>
            <a:r>
              <a:rPr lang="en-US" dirty="0"/>
              <a:t>Case study details </a:t>
            </a:r>
            <a:r>
              <a:rPr lang="en-US" sz="2400" dirty="0"/>
              <a:t>(4/4)</a:t>
            </a:r>
          </a:p>
        </p:txBody>
      </p:sp>
    </p:spTree>
    <p:extLst>
      <p:ext uri="{BB962C8B-B14F-4D97-AF65-F5344CB8AC3E}">
        <p14:creationId xmlns:p14="http://schemas.microsoft.com/office/powerpoint/2010/main" val="4209769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Looking at the budget model Monthly worksheet (Excel)  : </a:t>
            </a:r>
          </a:p>
          <a:p>
            <a:pPr marL="759143" lvl="1" indent="-457200">
              <a:buFont typeface="+mj-lt"/>
              <a:buAutoNum type="arabicPeriod"/>
            </a:pPr>
            <a:r>
              <a:rPr lang="en-US" sz="2000" b="1" dirty="0"/>
              <a:t>What does the 180,000 in cell B4 represent ?</a:t>
            </a:r>
          </a:p>
          <a:p>
            <a:pPr marL="759143" lvl="1" indent="-457200">
              <a:buFont typeface="+mj-lt"/>
              <a:buAutoNum type="arabicPeriod"/>
            </a:pPr>
            <a:r>
              <a:rPr lang="en-US" sz="2000" b="1" dirty="0"/>
              <a:t>How many Full time employees, contractors do you have in your department at the end of the year ?</a:t>
            </a:r>
          </a:p>
          <a:p>
            <a:pPr marL="759143" lvl="1" indent="-457200">
              <a:buFont typeface="+mj-lt"/>
              <a:buAutoNum type="arabicPeriod"/>
            </a:pPr>
            <a:r>
              <a:rPr lang="en-US" sz="2000" b="1" dirty="0"/>
              <a:t>How was the 325,000 in cell B18 was calculated ?</a:t>
            </a:r>
          </a:p>
          <a:p>
            <a:pPr marL="759143" lvl="1" indent="-457200">
              <a:buFont typeface="+mj-lt"/>
              <a:buAutoNum type="arabicPeriod"/>
            </a:pPr>
            <a:r>
              <a:rPr lang="en-US" sz="2000" b="1" dirty="0"/>
              <a:t>Same question for 255,000 in cell B23</a:t>
            </a:r>
          </a:p>
        </p:txBody>
      </p:sp>
      <p:sp>
        <p:nvSpPr>
          <p:cNvPr id="3" name="Title 2"/>
          <p:cNvSpPr>
            <a:spLocks noGrp="1"/>
          </p:cNvSpPr>
          <p:nvPr>
            <p:ph type="title"/>
          </p:nvPr>
        </p:nvSpPr>
        <p:spPr/>
        <p:txBody>
          <a:bodyPr>
            <a:normAutofit/>
          </a:bodyPr>
          <a:lstStyle/>
          <a:p>
            <a:r>
              <a:rPr lang="en-US" dirty="0"/>
              <a:t>Questions on the Budget model</a:t>
            </a:r>
          </a:p>
        </p:txBody>
      </p:sp>
    </p:spTree>
    <p:extLst>
      <p:ext uri="{BB962C8B-B14F-4D97-AF65-F5344CB8AC3E}">
        <p14:creationId xmlns:p14="http://schemas.microsoft.com/office/powerpoint/2010/main" val="2985302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0262" y="2686618"/>
            <a:ext cx="8539562" cy="4071021"/>
          </a:xfrm>
        </p:spPr>
        <p:txBody>
          <a:bodyPr>
            <a:normAutofit/>
          </a:bodyPr>
          <a:lstStyle/>
          <a:p>
            <a:pPr>
              <a:buFont typeface="Arial" panose="020B0604020202020204" pitchFamily="34" charset="0"/>
              <a:buChar char="•"/>
            </a:pPr>
            <a:r>
              <a:rPr lang="en-US" b="1" dirty="0"/>
              <a:t>Reading the Case study narrative (ppt) : </a:t>
            </a:r>
          </a:p>
          <a:p>
            <a:pPr marL="759143" lvl="1" indent="-457200">
              <a:buFont typeface="+mj-lt"/>
              <a:buAutoNum type="arabicPeriod"/>
            </a:pPr>
            <a:r>
              <a:rPr lang="en-US" sz="2000" b="1" dirty="0"/>
              <a:t>How would you rate the upcoming year general business environment and why ? Very Good, Good, Average, Bad or Very Bad…</a:t>
            </a:r>
          </a:p>
          <a:p>
            <a:pPr marL="759143" lvl="1" indent="-457200">
              <a:buFont typeface="+mj-lt"/>
              <a:buAutoNum type="arabicPeriod"/>
            </a:pPr>
            <a:r>
              <a:rPr lang="en-US" sz="2000" b="1" dirty="0"/>
              <a:t>Which candidate projects have you identified for for the upcoming year ?</a:t>
            </a:r>
          </a:p>
          <a:p>
            <a:pPr marL="759143" lvl="1" indent="-457200">
              <a:buFont typeface="+mj-lt"/>
              <a:buAutoNum type="arabicPeriod"/>
            </a:pPr>
            <a:r>
              <a:rPr lang="en-US" sz="2000" b="1" dirty="0"/>
              <a:t>How do you see your department headcount evolve in the upcoming year : should it increase, decrease or stay the same ? Why ?</a:t>
            </a:r>
          </a:p>
          <a:p>
            <a:pPr marL="759143" lvl="1" indent="-457200">
              <a:buFont typeface="+mj-lt"/>
              <a:buAutoNum type="arabicPeriod"/>
            </a:pPr>
            <a:r>
              <a:rPr lang="en-US" sz="2000" b="1" dirty="0"/>
              <a:t>How would you react when one of your employees mentions h/she wants to move to the </a:t>
            </a:r>
            <a:r>
              <a:rPr lang="en-US" sz="2000" b="1"/>
              <a:t>HR department </a:t>
            </a:r>
            <a:r>
              <a:rPr lang="en-US" sz="2000" b="1" dirty="0"/>
              <a:t>?</a:t>
            </a:r>
          </a:p>
          <a:p>
            <a:pPr marL="759143" lvl="1" indent="-457200">
              <a:buFont typeface="+mj-lt"/>
              <a:buAutoNum type="arabicPeriod"/>
            </a:pPr>
            <a:r>
              <a:rPr lang="en-US" sz="2000" b="1" dirty="0"/>
              <a:t>Do you think your budget for the upcoming year will be higher, lower or the same as last year ? Why ?</a:t>
            </a:r>
          </a:p>
        </p:txBody>
      </p:sp>
      <p:sp>
        <p:nvSpPr>
          <p:cNvPr id="3" name="Title 2"/>
          <p:cNvSpPr>
            <a:spLocks noGrp="1"/>
          </p:cNvSpPr>
          <p:nvPr>
            <p:ph type="title"/>
          </p:nvPr>
        </p:nvSpPr>
        <p:spPr/>
        <p:txBody>
          <a:bodyPr>
            <a:normAutofit/>
          </a:bodyPr>
          <a:lstStyle/>
          <a:p>
            <a:r>
              <a:rPr lang="en-US" dirty="0"/>
              <a:t>Questions on Case study narrative</a:t>
            </a:r>
          </a:p>
        </p:txBody>
      </p:sp>
    </p:spTree>
    <p:extLst>
      <p:ext uri="{BB962C8B-B14F-4D97-AF65-F5344CB8AC3E}">
        <p14:creationId xmlns:p14="http://schemas.microsoft.com/office/powerpoint/2010/main" val="1998827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0436" y="2381144"/>
            <a:ext cx="4249899" cy="1754327"/>
          </a:xfrm>
          <a:prstGeom prst="rect">
            <a:avLst/>
          </a:prstGeom>
          <a:noFill/>
        </p:spPr>
        <p:txBody>
          <a:bodyPr wrap="square" rtlCol="0">
            <a:spAutoFit/>
          </a:bodyPr>
          <a:lstStyle/>
          <a:p>
            <a:pPr algn="ctr"/>
            <a:r>
              <a:rPr lang="en-US" sz="3600" b="1" dirty="0">
                <a:solidFill>
                  <a:schemeClr val="tx2"/>
                </a:solidFill>
              </a:rPr>
              <a:t>Thank you!</a:t>
            </a:r>
          </a:p>
          <a:p>
            <a:pPr algn="ctr"/>
            <a:endParaRPr lang="en-US" sz="3600" b="1" dirty="0">
              <a:solidFill>
                <a:schemeClr val="tx2"/>
              </a:solidFill>
            </a:endParaRPr>
          </a:p>
          <a:p>
            <a:pPr algn="ctr"/>
            <a:r>
              <a:rPr lang="en-US" sz="3600" b="1" dirty="0">
                <a:solidFill>
                  <a:schemeClr val="tx2"/>
                </a:solidFill>
              </a:rPr>
              <a:t>See you next time</a:t>
            </a:r>
          </a:p>
        </p:txBody>
      </p:sp>
    </p:spTree>
    <p:extLst>
      <p:ext uri="{BB962C8B-B14F-4D97-AF65-F5344CB8AC3E}">
        <p14:creationId xmlns:p14="http://schemas.microsoft.com/office/powerpoint/2010/main" val="41595496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8531485B0C104F9C58C50E30CD7832" ma:contentTypeVersion="4" ma:contentTypeDescription="Create a new document." ma:contentTypeScope="" ma:versionID="1dfccaadae0d2f0b848ad55bc03a2905">
  <xsd:schema xmlns:xsd="http://www.w3.org/2001/XMLSchema" xmlns:xs="http://www.w3.org/2001/XMLSchema" xmlns:p="http://schemas.microsoft.com/office/2006/metadata/properties" xmlns:ns2="0ea48c8c-38ab-43fa-892b-dc8a284a5f0d" targetNamespace="http://schemas.microsoft.com/office/2006/metadata/properties" ma:root="true" ma:fieldsID="2d2e5abe0c8f91bc85a8371e13ced834" ns2:_="">
    <xsd:import namespace="0ea48c8c-38ab-43fa-892b-dc8a284a5f0d"/>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a48c8c-38ab-43fa-892b-dc8a284a5f0d"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0ea48c8c-38ab-43fa-892b-dc8a284a5f0d" xsi:nil="true"/>
  </documentManagement>
</p:properties>
</file>

<file path=customXml/itemProps1.xml><?xml version="1.0" encoding="utf-8"?>
<ds:datastoreItem xmlns:ds="http://schemas.openxmlformats.org/officeDocument/2006/customXml" ds:itemID="{F6BE1B7B-6EE2-44D8-815D-9E97717C9531}"/>
</file>

<file path=customXml/itemProps2.xml><?xml version="1.0" encoding="utf-8"?>
<ds:datastoreItem xmlns:ds="http://schemas.openxmlformats.org/officeDocument/2006/customXml" ds:itemID="{02C52126-3CD6-4579-A618-85FB0A929775}"/>
</file>

<file path=customXml/itemProps3.xml><?xml version="1.0" encoding="utf-8"?>
<ds:datastoreItem xmlns:ds="http://schemas.openxmlformats.org/officeDocument/2006/customXml" ds:itemID="{E79194DF-CA41-4301-B0AF-B57F3FB908AB}"/>
</file>

<file path=docProps/app.xml><?xml version="1.0" encoding="utf-8"?>
<Properties xmlns="http://schemas.openxmlformats.org/officeDocument/2006/extended-properties" xmlns:vt="http://schemas.openxmlformats.org/officeDocument/2006/docPropsVTypes">
  <Template>Waveform.thmx</Template>
  <TotalTime>3796</TotalTime>
  <Words>893</Words>
  <Application>Microsoft Macintosh PowerPoint</Application>
  <PresentationFormat>On-screen Show (4:3)</PresentationFormat>
  <Paragraphs>43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Candara</vt:lpstr>
      <vt:lpstr>Courier New</vt:lpstr>
      <vt:lpstr>Symbol</vt:lpstr>
      <vt:lpstr>Waveform</vt:lpstr>
      <vt:lpstr>Finance for IT managers</vt:lpstr>
      <vt:lpstr>Case Study New Corp IT budget </vt:lpstr>
      <vt:lpstr>Case study details (1/4)</vt:lpstr>
      <vt:lpstr>Case study details (2/4)</vt:lpstr>
      <vt:lpstr>Case study details (3/4)</vt:lpstr>
      <vt:lpstr>Case study details (4/4)</vt:lpstr>
      <vt:lpstr>Questions on the Budget model</vt:lpstr>
      <vt:lpstr>Questions on Case study narrative</vt:lpstr>
      <vt:lpstr>PowerPoint Presentation</vt:lpstr>
    </vt:vector>
  </TitlesOfParts>
  <Manager/>
  <Company>Hervé Gallot for EPITA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Masters</dc:title>
  <dc:subject>Finance for IT Managers</dc:subject>
  <dc:creator>Hervé Gallot</dc:creator>
  <cp:keywords/>
  <dc:description/>
  <cp:lastModifiedBy>appriou sylvie</cp:lastModifiedBy>
  <cp:revision>727</cp:revision>
  <cp:lastPrinted>2013-03-11T16:12:03Z</cp:lastPrinted>
  <dcterms:created xsi:type="dcterms:W3CDTF">2013-02-25T11:18:49Z</dcterms:created>
  <dcterms:modified xsi:type="dcterms:W3CDTF">2025-09-17T09:29:49Z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0x010100FD8531485B0C104F9C58C50E30CD7832</vt:lpwstr>
  </property>
</Properties>
</file>