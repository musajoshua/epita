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8"/>
  </p:notesMasterIdLst>
  <p:handoutMasterIdLst>
    <p:handoutMasterId r:id="rId49"/>
  </p:handoutMasterIdLst>
  <p:sldIdLst>
    <p:sldId id="256" r:id="rId2"/>
    <p:sldId id="541" r:id="rId3"/>
    <p:sldId id="567" r:id="rId4"/>
    <p:sldId id="568" r:id="rId5"/>
    <p:sldId id="944" r:id="rId6"/>
    <p:sldId id="537" r:id="rId7"/>
    <p:sldId id="941" r:id="rId8"/>
    <p:sldId id="491" r:id="rId9"/>
    <p:sldId id="492" r:id="rId10"/>
    <p:sldId id="918" r:id="rId11"/>
    <p:sldId id="550" r:id="rId12"/>
    <p:sldId id="551" r:id="rId13"/>
    <p:sldId id="552" r:id="rId14"/>
    <p:sldId id="553" r:id="rId15"/>
    <p:sldId id="554" r:id="rId16"/>
    <p:sldId id="555" r:id="rId17"/>
    <p:sldId id="948" r:id="rId18"/>
    <p:sldId id="465" r:id="rId19"/>
    <p:sldId id="470" r:id="rId20"/>
    <p:sldId id="472" r:id="rId21"/>
    <p:sldId id="391" r:id="rId22"/>
    <p:sldId id="494" r:id="rId23"/>
    <p:sldId id="496" r:id="rId24"/>
    <p:sldId id="495" r:id="rId25"/>
    <p:sldId id="394" r:id="rId26"/>
    <p:sldId id="456" r:id="rId27"/>
    <p:sldId id="473" r:id="rId28"/>
    <p:sldId id="474" r:id="rId29"/>
    <p:sldId id="475" r:id="rId30"/>
    <p:sldId id="369" r:id="rId31"/>
    <p:sldId id="396" r:id="rId32"/>
    <p:sldId id="397" r:id="rId33"/>
    <p:sldId id="945" r:id="rId34"/>
    <p:sldId id="478" r:id="rId35"/>
    <p:sldId id="476" r:id="rId36"/>
    <p:sldId id="457" r:id="rId37"/>
    <p:sldId id="497" r:id="rId38"/>
    <p:sldId id="946" r:id="rId39"/>
    <p:sldId id="947" r:id="rId40"/>
    <p:sldId id="484" r:id="rId41"/>
    <p:sldId id="398" r:id="rId42"/>
    <p:sldId id="486" r:id="rId43"/>
    <p:sldId id="498" r:id="rId44"/>
    <p:sldId id="557" r:id="rId45"/>
    <p:sldId id="558" r:id="rId46"/>
    <p:sldId id="49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5846" autoAdjust="0"/>
  </p:normalViewPr>
  <p:slideViewPr>
    <p:cSldViewPr snapToGrid="0" snapToObjects="1">
      <p:cViewPr varScale="1">
        <p:scale>
          <a:sx n="103" d="100"/>
          <a:sy n="103" d="100"/>
        </p:scale>
        <p:origin x="1808" y="472"/>
      </p:cViewPr>
      <p:guideLst>
        <p:guide orient="horz" pos="163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5/4/25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7098D7-F03D-454D-A4F0-32B46C79E6C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1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5/4/25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Corporate Finance</a:t>
            </a:r>
            <a:br>
              <a:rPr lang="en-US" b="1" dirty="0"/>
            </a:br>
            <a:r>
              <a:rPr lang="en-US" sz="3100" b="1" dirty="0"/>
              <a:t>3. Capital Budgeting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Spring 2025 program</a:t>
            </a:r>
            <a:endParaRPr lang="en-US" dirty="0"/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364852" y="6338125"/>
            <a:ext cx="255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Sessions calendar</a:t>
            </a:r>
            <a:br>
              <a:rPr lang="en-US" dirty="0"/>
            </a:br>
            <a:r>
              <a:rPr lang="en-US" sz="3600" dirty="0"/>
              <a:t>Group 1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60991"/>
              </p:ext>
            </p:extLst>
          </p:nvPr>
        </p:nvGraphicFramePr>
        <p:xfrm>
          <a:off x="355600" y="2854960"/>
          <a:ext cx="8445502" cy="354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31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109">
                  <a:extLst>
                    <a:ext uri="{9D8B030D-6E8A-4147-A177-3AD203B41FA5}">
                      <a16:colId xmlns:a16="http://schemas.microsoft.com/office/drawing/2014/main" val="792141374"/>
                    </a:ext>
                  </a:extLst>
                </a:gridCol>
                <a:gridCol w="263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7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Session</a:t>
                      </a:r>
                    </a:p>
                    <a:p>
                      <a:pPr algn="ctr"/>
                      <a:r>
                        <a:rPr lang="en-US" sz="1400" dirty="0" err="1"/>
                        <a:t>nb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Contents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March 26th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14:00 - 16:00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Introduction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April 3rd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–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April 17th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–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April 30th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010992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Tuesday May 6th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–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68007003"/>
                  </a:ext>
                </a:extLst>
              </a:tr>
              <a:tr h="3639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May 21st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335289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May 28th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15:00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 / 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35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82DE-D195-3CCE-FCE8-F2C763F8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C4CD4F-510F-AA6F-2236-BC2B8B21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Sessions calendar</a:t>
            </a:r>
            <a:br>
              <a:rPr lang="en-US" dirty="0"/>
            </a:br>
            <a:r>
              <a:rPr lang="en-US" sz="3600" dirty="0"/>
              <a:t>Group 2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BBD006-79B5-4C59-A92D-8AD0B76EE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366918"/>
              </p:ext>
            </p:extLst>
          </p:nvPr>
        </p:nvGraphicFramePr>
        <p:xfrm>
          <a:off x="355600" y="2854960"/>
          <a:ext cx="8445502" cy="354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31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109">
                  <a:extLst>
                    <a:ext uri="{9D8B030D-6E8A-4147-A177-3AD203B41FA5}">
                      <a16:colId xmlns:a16="http://schemas.microsoft.com/office/drawing/2014/main" val="792141374"/>
                    </a:ext>
                  </a:extLst>
                </a:gridCol>
                <a:gridCol w="263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7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Session</a:t>
                      </a:r>
                    </a:p>
                    <a:p>
                      <a:pPr algn="ctr"/>
                      <a:r>
                        <a:rPr lang="en-US" sz="1400" dirty="0" err="1"/>
                        <a:t>nb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Contents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March 27th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09:00 - 11:00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Introduction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April 3rd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–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April 16th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Tuesday April 29th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–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010992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Tuesday May 6th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–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68007003"/>
                  </a:ext>
                </a:extLst>
              </a:tr>
              <a:tr h="3639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May 22nd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–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335289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May 28th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15:00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 / 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85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C99C-FFFB-66AE-A998-D61F48F9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79F37B-B3DB-00B4-F401-9DE87FF5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Sessions calendar</a:t>
            </a:r>
            <a:br>
              <a:rPr lang="en-US" dirty="0"/>
            </a:br>
            <a:r>
              <a:rPr lang="en-US" sz="3600" dirty="0"/>
              <a:t>Group 3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F2B5CB-C2A3-371C-9EFB-9F68E6E7D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33630"/>
              </p:ext>
            </p:extLst>
          </p:nvPr>
        </p:nvGraphicFramePr>
        <p:xfrm>
          <a:off x="355600" y="2854960"/>
          <a:ext cx="8445502" cy="354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31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109">
                  <a:extLst>
                    <a:ext uri="{9D8B030D-6E8A-4147-A177-3AD203B41FA5}">
                      <a16:colId xmlns:a16="http://schemas.microsoft.com/office/drawing/2014/main" val="792141374"/>
                    </a:ext>
                  </a:extLst>
                </a:gridCol>
                <a:gridCol w="263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7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Session</a:t>
                      </a:r>
                    </a:p>
                    <a:p>
                      <a:pPr algn="ctr"/>
                      <a:r>
                        <a:rPr lang="en-US" sz="1400" dirty="0" err="1"/>
                        <a:t>nb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Contents</a:t>
                      </a:r>
                    </a:p>
                  </a:txBody>
                  <a:tcPr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March 27th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11:00 - 13:00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Introduction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April 2nd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April 17th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09:00 – 11:00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Tuesday April 29th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–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KB601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010992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May 7th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68007003"/>
                  </a:ext>
                </a:extLst>
              </a:tr>
              <a:tr h="3639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Thursday May 22nd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11:00 – 13:00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work review + class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3352896"/>
                  </a:ext>
                </a:extLst>
              </a:tr>
              <a:tr h="4142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Wednesday May 28th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15:00 – 16:00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KB601 / KB604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33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4501-3CE4-DF97-4ADB-06A9802B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EB4C2-A605-15D6-54F9-52768EF0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schedule and contents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FACE9FC-3179-28DB-7AF1-47D32626164C}"/>
              </a:ext>
            </a:extLst>
          </p:cNvPr>
          <p:cNvSpPr txBox="1">
            <a:spLocks/>
          </p:cNvSpPr>
          <p:nvPr/>
        </p:nvSpPr>
        <p:spPr>
          <a:xfrm>
            <a:off x="339946" y="2187419"/>
            <a:ext cx="4093800" cy="37185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itchFamily="18" charset="2"/>
              <a:buNone/>
            </a:pPr>
            <a:r>
              <a:rPr lang="en-US" sz="1800" b="1" dirty="0"/>
              <a:t>Session 1 </a:t>
            </a:r>
          </a:p>
          <a:p>
            <a:pPr>
              <a:buFont typeface="Arial"/>
              <a:buChar char="•"/>
            </a:pPr>
            <a:r>
              <a:rPr lang="en-US" sz="1800" dirty="0"/>
              <a:t>Introduction</a:t>
            </a:r>
          </a:p>
          <a:p>
            <a:pPr>
              <a:buFont typeface="Arial"/>
              <a:buChar char="•"/>
            </a:pPr>
            <a:r>
              <a:rPr lang="en-US" sz="1800" dirty="0"/>
              <a:t>Corporate Finance general concepts</a:t>
            </a:r>
          </a:p>
          <a:p>
            <a:pPr>
              <a:buFont typeface="Arial"/>
              <a:buChar char="•"/>
            </a:pPr>
            <a:r>
              <a:rPr lang="en-US" sz="1800" dirty="0"/>
              <a:t>Review of key Financial statements</a:t>
            </a:r>
          </a:p>
          <a:p>
            <a:pPr>
              <a:buFont typeface="Arial"/>
              <a:buChar char="•"/>
            </a:pPr>
            <a:endParaRPr lang="en-US" sz="1800" b="1" dirty="0"/>
          </a:p>
          <a:p>
            <a:pPr marL="0" indent="0">
              <a:buFont typeface="Symbol" pitchFamily="18" charset="2"/>
              <a:buNone/>
            </a:pPr>
            <a:r>
              <a:rPr lang="en-US" sz="1800" b="1" dirty="0"/>
              <a:t>Session 2 </a:t>
            </a:r>
          </a:p>
          <a:p>
            <a:pPr>
              <a:buFont typeface="Arial"/>
              <a:buChar char="•"/>
            </a:pPr>
            <a:r>
              <a:rPr lang="en-US" sz="1800" dirty="0"/>
              <a:t>Cash vs Profit</a:t>
            </a:r>
          </a:p>
          <a:p>
            <a:pPr>
              <a:buFont typeface="Arial"/>
              <a:buChar char="•"/>
            </a:pPr>
            <a:r>
              <a:rPr lang="en-US" sz="1800" dirty="0"/>
              <a:t>Key Financial indicators</a:t>
            </a:r>
          </a:p>
          <a:p>
            <a:pPr>
              <a:buFont typeface="Arial"/>
              <a:buChar char="•"/>
            </a:pPr>
            <a:r>
              <a:rPr lang="en-US" sz="1800" dirty="0"/>
              <a:t>Planning and Budgeting introduction</a:t>
            </a:r>
          </a:p>
          <a:p>
            <a:pPr marL="0" indent="0">
              <a:buFont typeface="Symbol" pitchFamily="18" charset="2"/>
              <a:buNone/>
            </a:pPr>
            <a:endParaRPr lang="en-US" sz="1800" b="1" dirty="0"/>
          </a:p>
          <a:p>
            <a:pPr marL="0" indent="0">
              <a:buFont typeface="Symbol" pitchFamily="18" charset="2"/>
              <a:buNone/>
            </a:pPr>
            <a:r>
              <a:rPr lang="en-US" sz="1800" b="1" dirty="0"/>
              <a:t>Session 3 </a:t>
            </a:r>
          </a:p>
          <a:p>
            <a:pPr>
              <a:buFont typeface="Arial"/>
              <a:buChar char="•"/>
            </a:pPr>
            <a:r>
              <a:rPr lang="en-US" sz="1800" dirty="0"/>
              <a:t>Planning and budgeting continuation</a:t>
            </a:r>
          </a:p>
          <a:p>
            <a:pPr>
              <a:buFont typeface="Arial"/>
              <a:buChar char="•"/>
            </a:pPr>
            <a:r>
              <a:rPr lang="en-US" sz="1800" dirty="0"/>
              <a:t>Budgeting Case study</a:t>
            </a:r>
          </a:p>
          <a:p>
            <a:pPr>
              <a:buFont typeface="Arial"/>
              <a:buChar char="•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703AAF3-9A3B-F2DF-06D7-AADE969AB128}"/>
              </a:ext>
            </a:extLst>
          </p:cNvPr>
          <p:cNvSpPr txBox="1">
            <a:spLocks/>
          </p:cNvSpPr>
          <p:nvPr/>
        </p:nvSpPr>
        <p:spPr>
          <a:xfrm>
            <a:off x="4786456" y="2699213"/>
            <a:ext cx="4093800" cy="37185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itchFamily="18" charset="2"/>
              <a:buNone/>
            </a:pPr>
            <a:r>
              <a:rPr lang="en-US" sz="1800" b="1" dirty="0"/>
              <a:t>Session 4</a:t>
            </a:r>
            <a:endParaRPr lang="en-US" sz="1800" dirty="0"/>
          </a:p>
          <a:p>
            <a:pPr>
              <a:buFont typeface="Arial"/>
              <a:buChar char="•"/>
            </a:pPr>
            <a:r>
              <a:rPr lang="en-US" sz="1800" dirty="0"/>
              <a:t>Case study correction</a:t>
            </a:r>
          </a:p>
          <a:p>
            <a:pPr>
              <a:buFont typeface="Arial"/>
              <a:buChar char="•"/>
            </a:pPr>
            <a:r>
              <a:rPr lang="en-US" sz="1800" dirty="0"/>
              <a:t>Cost Management</a:t>
            </a:r>
          </a:p>
          <a:p>
            <a:pPr>
              <a:buFont typeface="Arial"/>
              <a:buChar char="•"/>
            </a:pPr>
            <a:r>
              <a:rPr lang="en-US" sz="1800" dirty="0"/>
              <a:t>Capital investment introduction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Session 5</a:t>
            </a:r>
          </a:p>
          <a:p>
            <a:pPr>
              <a:buFont typeface="Arial"/>
              <a:buChar char="•"/>
            </a:pPr>
            <a:r>
              <a:rPr lang="en-US" sz="1800" dirty="0"/>
              <a:t>Capital investment continuation</a:t>
            </a:r>
          </a:p>
          <a:p>
            <a:pPr>
              <a:buFont typeface="Arial"/>
              <a:buChar char="•"/>
            </a:pPr>
            <a:r>
              <a:rPr lang="en-US" sz="1800" dirty="0"/>
              <a:t>Project value case methodologies</a:t>
            </a:r>
          </a:p>
          <a:p>
            <a:pPr>
              <a:buFont typeface="Arial"/>
              <a:buChar char="•"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Session 6</a:t>
            </a:r>
          </a:p>
          <a:p>
            <a:pPr>
              <a:buFont typeface="Arial"/>
              <a:buChar char="•"/>
            </a:pPr>
            <a:r>
              <a:rPr lang="en-US" sz="1800" dirty="0"/>
              <a:t>Real life example : Project Value case</a:t>
            </a:r>
          </a:p>
          <a:p>
            <a:pPr>
              <a:buFont typeface="Arial"/>
              <a:buChar char="•"/>
            </a:pPr>
            <a:r>
              <a:rPr lang="en-US" sz="1800" dirty="0"/>
              <a:t>Introduction to Cost Accounting</a:t>
            </a:r>
          </a:p>
          <a:p>
            <a:pPr>
              <a:buFont typeface="Arial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5331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Portfolio based</a:t>
            </a:r>
            <a:br>
              <a:rPr lang="en-US" dirty="0"/>
            </a:br>
            <a:r>
              <a:rPr lang="en-US" dirty="0"/>
              <a:t>investment planning</a:t>
            </a:r>
          </a:p>
        </p:txBody>
      </p:sp>
    </p:spTree>
    <p:extLst>
      <p:ext uri="{BB962C8B-B14F-4D97-AF65-F5344CB8AC3E}">
        <p14:creationId xmlns:p14="http://schemas.microsoft.com/office/powerpoint/2010/main" val="270103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 bwMode="auto">
          <a:xfrm>
            <a:off x="5257800" y="5592764"/>
            <a:ext cx="2419350" cy="509588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bg1">
                <a:lumMod val="95000"/>
                <a:alpha val="43000"/>
              </a:schemeClr>
            </a:outerShdw>
          </a:effectLst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Management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5257800" y="4867276"/>
            <a:ext cx="2419350" cy="509588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bg1">
                <a:lumMod val="95000"/>
                <a:alpha val="43000"/>
              </a:schemeClr>
            </a:outerShdw>
          </a:effectLst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257800" y="4168776"/>
            <a:ext cx="2419350" cy="509588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schemeClr val="bg1">
                <a:lumMod val="95000"/>
                <a:alpha val="43000"/>
              </a:schemeClr>
            </a:outerShdw>
          </a:effectLst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47650" y="1346200"/>
            <a:ext cx="81597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None/>
            </a:pPr>
            <a:endParaRPr lang="en-US" b="1" dirty="0">
              <a:solidFill>
                <a:srgbClr val="000090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endParaRPr lang="fr-FR" b="1" dirty="0">
              <a:solidFill>
                <a:srgbClr val="000090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r>
              <a:rPr lang="fr-FR" sz="2400" b="1" dirty="0" err="1">
                <a:solidFill>
                  <a:srgbClr val="000090"/>
                </a:solidFill>
              </a:rPr>
              <a:t>Demand</a:t>
            </a:r>
            <a:r>
              <a:rPr lang="fr-FR" sz="2400" b="1" dirty="0">
                <a:solidFill>
                  <a:srgbClr val="000090"/>
                </a:solidFill>
              </a:rPr>
              <a:t> management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fr-FR" sz="2000" b="1" dirty="0">
                <a:solidFill>
                  <a:srgbClr val="000090"/>
                </a:solidFill>
              </a:rPr>
              <a:t>IT : </a:t>
            </a:r>
            <a:r>
              <a:rPr lang="fr-FR" sz="2000" b="1" dirty="0" err="1">
                <a:solidFill>
                  <a:srgbClr val="000090"/>
                </a:solidFill>
              </a:rPr>
              <a:t>from</a:t>
            </a:r>
            <a:r>
              <a:rPr lang="fr-FR" sz="2000" b="1" dirty="0">
                <a:solidFill>
                  <a:srgbClr val="000090"/>
                </a:solidFill>
              </a:rPr>
              <a:t> </a:t>
            </a:r>
            <a:r>
              <a:rPr lang="fr-FR" sz="2000" b="1" dirty="0" err="1">
                <a:solidFill>
                  <a:srgbClr val="000090"/>
                </a:solidFill>
              </a:rPr>
              <a:t>Internal</a:t>
            </a:r>
            <a:r>
              <a:rPr lang="fr-FR" sz="2000" b="1" dirty="0">
                <a:solidFill>
                  <a:srgbClr val="000090"/>
                </a:solidFill>
              </a:rPr>
              <a:t> Service provider to </a:t>
            </a:r>
            <a:r>
              <a:rPr lang="fr-FR" sz="2000" b="1" dirty="0" err="1">
                <a:solidFill>
                  <a:srgbClr val="000090"/>
                </a:solidFill>
              </a:rPr>
              <a:t>Strategic</a:t>
            </a:r>
            <a:r>
              <a:rPr lang="fr-FR" sz="2000" b="1" dirty="0">
                <a:solidFill>
                  <a:srgbClr val="000090"/>
                </a:solidFill>
              </a:rPr>
              <a:t> </a:t>
            </a:r>
            <a:r>
              <a:rPr lang="fr-FR" sz="2000" b="1" dirty="0" err="1">
                <a:solidFill>
                  <a:srgbClr val="000090"/>
                </a:solidFill>
              </a:rPr>
              <a:t>differentiator</a:t>
            </a:r>
            <a:endParaRPr lang="fr-FR" sz="2000" b="1" dirty="0">
              <a:solidFill>
                <a:srgbClr val="000090"/>
              </a:solidFill>
            </a:endParaRPr>
          </a:p>
          <a:p>
            <a:pPr marL="693738" lvl="1" indent="-236538" algn="l" defTabSz="814388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fr-FR" sz="2000" b="1" dirty="0" err="1">
                <a:solidFill>
                  <a:srgbClr val="000090"/>
                </a:solidFill>
              </a:rPr>
              <a:t>Planned</a:t>
            </a:r>
            <a:r>
              <a:rPr lang="fr-FR" sz="2000" b="1" dirty="0">
                <a:solidFill>
                  <a:srgbClr val="000090"/>
                </a:solidFill>
              </a:rPr>
              <a:t> vs </a:t>
            </a:r>
            <a:r>
              <a:rPr lang="fr-FR" sz="2000" b="1" dirty="0" err="1">
                <a:solidFill>
                  <a:srgbClr val="000090"/>
                </a:solidFill>
              </a:rPr>
              <a:t>unplanned</a:t>
            </a:r>
            <a:r>
              <a:rPr lang="fr-FR" sz="2000" b="1" dirty="0">
                <a:solidFill>
                  <a:srgbClr val="000090"/>
                </a:solidFill>
              </a:rPr>
              <a:t> </a:t>
            </a:r>
            <a:r>
              <a:rPr lang="fr-FR" sz="2000" b="1" dirty="0" err="1">
                <a:solidFill>
                  <a:srgbClr val="000090"/>
                </a:solidFill>
              </a:rPr>
              <a:t>demand</a:t>
            </a:r>
            <a:r>
              <a:rPr lang="fr-FR" sz="2000" b="1" dirty="0">
                <a:solidFill>
                  <a:srgbClr val="000090"/>
                </a:solidFill>
              </a:rPr>
              <a:t> (change </a:t>
            </a:r>
            <a:r>
              <a:rPr lang="fr-FR" sz="2000" b="1" dirty="0" err="1">
                <a:solidFill>
                  <a:srgbClr val="000090"/>
                </a:solidFill>
              </a:rPr>
              <a:t>requests</a:t>
            </a:r>
            <a:r>
              <a:rPr lang="fr-FR" sz="2000" b="1" dirty="0">
                <a:solidFill>
                  <a:srgbClr val="000090"/>
                </a:solidFill>
              </a:rPr>
              <a:t>, bug fixes…)</a:t>
            </a:r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</a:pPr>
            <a:endParaRPr lang="fr-FR" sz="2000" b="1" dirty="0">
              <a:solidFill>
                <a:srgbClr val="000090"/>
              </a:solidFill>
            </a:endParaRPr>
          </a:p>
        </p:txBody>
      </p:sp>
      <p:pic>
        <p:nvPicPr>
          <p:cNvPr id="9" name="Content Placeholder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016376"/>
            <a:ext cx="4343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970213" y="6397626"/>
            <a:ext cx="1984375" cy="317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fr-FR" sz="1600" b="1" dirty="0" err="1"/>
              <a:t>Approved</a:t>
            </a:r>
            <a:r>
              <a:rPr lang="fr-FR" sz="1600" b="1" dirty="0"/>
              <a:t> </a:t>
            </a:r>
            <a:r>
              <a:rPr lang="fr-FR" sz="1600" b="1" dirty="0" err="1"/>
              <a:t>demand</a:t>
            </a:r>
            <a:endParaRPr lang="en-US" sz="1600" dirty="0"/>
          </a:p>
        </p:txBody>
      </p:sp>
      <p:sp>
        <p:nvSpPr>
          <p:cNvPr id="11" name="Down Arrow 10"/>
          <p:cNvSpPr/>
          <p:nvPr/>
        </p:nvSpPr>
        <p:spPr bwMode="auto">
          <a:xfrm>
            <a:off x="2755900" y="3730626"/>
            <a:ext cx="304800" cy="3810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2" name="Down Arrow 11"/>
          <p:cNvSpPr/>
          <p:nvPr/>
        </p:nvSpPr>
        <p:spPr bwMode="auto">
          <a:xfrm>
            <a:off x="3594100" y="3730626"/>
            <a:ext cx="304800" cy="3810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432300" y="3730626"/>
            <a:ext cx="304800" cy="3810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5257800" y="3740152"/>
            <a:ext cx="222567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600" b="1" dirty="0" err="1"/>
              <a:t>Ideas</a:t>
            </a:r>
            <a:r>
              <a:rPr lang="fr-FR" sz="1600" b="1" dirty="0"/>
              <a:t> / </a:t>
            </a:r>
            <a:r>
              <a:rPr lang="fr-FR" sz="1600" b="1" dirty="0" err="1"/>
              <a:t>Opportunities</a:t>
            </a:r>
            <a:endParaRPr lang="en-US" sz="1600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962400" y="4349751"/>
            <a:ext cx="622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1100" b="1">
                <a:solidFill>
                  <a:srgbClr val="2B95BB"/>
                </a:solidFill>
              </a:rPr>
              <a:t>Ideas</a:t>
            </a:r>
          </a:p>
          <a:p>
            <a:endParaRPr lang="en-US" sz="1100">
              <a:solidFill>
                <a:srgbClr val="2B95BB"/>
              </a:solidFill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3886200" y="4233071"/>
            <a:ext cx="685800" cy="633412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69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3581400" y="5018883"/>
            <a:ext cx="685800" cy="633412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69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3581400" y="5178426"/>
            <a:ext cx="6858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900" b="1">
                <a:solidFill>
                  <a:srgbClr val="2B95BB"/>
                </a:solidFill>
              </a:rPr>
              <a:t>Projects</a:t>
            </a:r>
          </a:p>
          <a:p>
            <a:endParaRPr lang="en-US" sz="1400">
              <a:solidFill>
                <a:srgbClr val="2B95BB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3048000" y="4473576"/>
            <a:ext cx="685800" cy="60960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69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962400" y="4333876"/>
            <a:ext cx="533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900" b="1">
                <a:solidFill>
                  <a:srgbClr val="2B95BB"/>
                </a:solidFill>
              </a:rPr>
              <a:t>Ideas</a:t>
            </a:r>
            <a:endParaRPr lang="fr-FR" sz="700" b="1">
              <a:solidFill>
                <a:srgbClr val="2B95BB"/>
              </a:solidFill>
            </a:endParaRPr>
          </a:p>
          <a:p>
            <a:endParaRPr lang="en-US" sz="1100">
              <a:solidFill>
                <a:srgbClr val="2B95BB"/>
              </a:solidFill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3048000" y="4610101"/>
            <a:ext cx="685800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fr-FR" sz="900" b="1">
                <a:solidFill>
                  <a:srgbClr val="2B95BB"/>
                </a:solidFill>
              </a:rPr>
              <a:t>Project requests</a:t>
            </a:r>
          </a:p>
          <a:p>
            <a:endParaRPr lang="en-US" sz="1600">
              <a:solidFill>
                <a:srgbClr val="2B95BB"/>
              </a:solidFill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5181600" y="4183064"/>
            <a:ext cx="2495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fr-FR" sz="1200" b="1" dirty="0">
                <a:solidFill>
                  <a:srgbClr val="2B95BB"/>
                </a:solidFill>
              </a:rPr>
              <a:t>Capture </a:t>
            </a:r>
            <a:r>
              <a:rPr lang="fr-FR" sz="1200" b="1" dirty="0" err="1">
                <a:solidFill>
                  <a:srgbClr val="2B95BB"/>
                </a:solidFill>
              </a:rPr>
              <a:t>demand</a:t>
            </a:r>
            <a:r>
              <a:rPr lang="fr-FR" sz="1200" b="1" dirty="0">
                <a:solidFill>
                  <a:srgbClr val="2B95BB"/>
                </a:solidFill>
              </a:rPr>
              <a:t> and </a:t>
            </a:r>
            <a:r>
              <a:rPr lang="fr-FR" sz="1200" b="1" dirty="0" err="1">
                <a:solidFill>
                  <a:srgbClr val="2B95BB"/>
                </a:solidFill>
              </a:rPr>
              <a:t>identify</a:t>
            </a:r>
            <a:r>
              <a:rPr lang="fr-FR" sz="1200" b="1" dirty="0">
                <a:solidFill>
                  <a:srgbClr val="2B95BB"/>
                </a:solidFill>
              </a:rPr>
              <a:t> </a:t>
            </a:r>
            <a:r>
              <a:rPr lang="fr-FR" sz="1200" b="1" dirty="0" err="1">
                <a:solidFill>
                  <a:srgbClr val="2B95BB"/>
                </a:solidFill>
              </a:rPr>
              <a:t>opportunities</a:t>
            </a:r>
            <a:endParaRPr lang="en-US" sz="1200" dirty="0">
              <a:solidFill>
                <a:srgbClr val="2B95BB"/>
              </a:solidFill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5181600" y="4868864"/>
            <a:ext cx="2495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fr-FR" sz="1200" b="1">
                <a:solidFill>
                  <a:srgbClr val="2B95BB"/>
                </a:solidFill>
              </a:rPr>
              <a:t>Build business case</a:t>
            </a:r>
          </a:p>
          <a:p>
            <a:pPr algn="ctr"/>
            <a:r>
              <a:rPr lang="fr-FR" sz="1200" b="1">
                <a:solidFill>
                  <a:srgbClr val="2B95BB"/>
                </a:solidFill>
              </a:rPr>
              <a:t>Seek executives approval</a:t>
            </a:r>
            <a:endParaRPr lang="en-US" sz="1200">
              <a:solidFill>
                <a:srgbClr val="2B95BB"/>
              </a:solidFill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5181600" y="5592764"/>
            <a:ext cx="24955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fr-FR" sz="1200" b="1" dirty="0" err="1">
                <a:solidFill>
                  <a:srgbClr val="2B95BB"/>
                </a:solidFill>
              </a:rPr>
              <a:t>Perform</a:t>
            </a:r>
            <a:r>
              <a:rPr lang="fr-FR" sz="1200" b="1" dirty="0">
                <a:solidFill>
                  <a:srgbClr val="2B95BB"/>
                </a:solidFill>
              </a:rPr>
              <a:t> </a:t>
            </a:r>
            <a:r>
              <a:rPr lang="fr-FR" sz="1200" b="1" dirty="0" err="1">
                <a:solidFill>
                  <a:srgbClr val="2B95BB"/>
                </a:solidFill>
              </a:rPr>
              <a:t>detailed</a:t>
            </a:r>
            <a:r>
              <a:rPr lang="fr-FR" sz="1200" b="1" dirty="0">
                <a:solidFill>
                  <a:srgbClr val="2B95BB"/>
                </a:solidFill>
              </a:rPr>
              <a:t> </a:t>
            </a:r>
            <a:r>
              <a:rPr lang="fr-FR" sz="1200" b="1" dirty="0" err="1">
                <a:solidFill>
                  <a:srgbClr val="2B95BB"/>
                </a:solidFill>
              </a:rPr>
              <a:t>budgeting</a:t>
            </a:r>
            <a:endParaRPr lang="fr-FR" sz="1200" b="1" dirty="0">
              <a:solidFill>
                <a:srgbClr val="2B95BB"/>
              </a:solidFill>
            </a:endParaRPr>
          </a:p>
          <a:p>
            <a:pPr algn="ctr"/>
            <a:r>
              <a:rPr lang="fr-FR" sz="1200" b="1" dirty="0">
                <a:solidFill>
                  <a:srgbClr val="2B95BB"/>
                </a:solidFill>
              </a:rPr>
              <a:t>and planning</a:t>
            </a:r>
          </a:p>
          <a:p>
            <a:pPr algn="ctr"/>
            <a:endParaRPr lang="fr-FR" sz="1200" b="1" dirty="0">
              <a:solidFill>
                <a:srgbClr val="2B95BB"/>
              </a:solidFill>
            </a:endParaRPr>
          </a:p>
          <a:p>
            <a:pPr algn="ctr"/>
            <a:endParaRPr lang="fr-FR" sz="1200" b="1" dirty="0">
              <a:solidFill>
                <a:srgbClr val="2B95BB"/>
              </a:solidFill>
            </a:endParaRPr>
          </a:p>
          <a:p>
            <a:pPr algn="ctr"/>
            <a:endParaRPr lang="en-US" sz="1200" dirty="0">
              <a:solidFill>
                <a:srgbClr val="2B95B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83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Portfolio based </a:t>
            </a:r>
            <a:br>
              <a:rPr lang="en-US" dirty="0"/>
            </a:br>
            <a:r>
              <a:rPr lang="en-US" dirty="0"/>
              <a:t>investment planning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8600" y="1789906"/>
            <a:ext cx="7883525" cy="409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85750" indent="-285750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Arial"/>
              <a:buChar char="•"/>
            </a:pPr>
            <a:endParaRPr lang="en-US" b="1" dirty="0">
              <a:solidFill>
                <a:srgbClr val="000090"/>
              </a:solidFill>
            </a:endParaRPr>
          </a:p>
          <a:p>
            <a:pPr marL="285750" indent="-285750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endParaRPr lang="fr-FR" b="1" dirty="0">
              <a:solidFill>
                <a:srgbClr val="000090"/>
              </a:solidFill>
            </a:endParaRPr>
          </a:p>
          <a:p>
            <a:pPr marL="342900" indent="-342900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fr-FR" sz="2400" b="1" dirty="0">
                <a:solidFill>
                  <a:srgbClr val="000090"/>
                </a:solidFill>
              </a:rPr>
              <a:t>Project Portfolio Management (PPM) vs Project / </a:t>
            </a:r>
            <a:r>
              <a:rPr lang="fr-FR" sz="2400" b="1" dirty="0" err="1">
                <a:solidFill>
                  <a:srgbClr val="000090"/>
                </a:solidFill>
              </a:rPr>
              <a:t>project</a:t>
            </a:r>
            <a:endParaRPr lang="fr-FR" sz="2400" b="1" dirty="0">
              <a:solidFill>
                <a:srgbClr val="000090"/>
              </a:solidFill>
            </a:endParaRPr>
          </a:p>
          <a:p>
            <a:pPr marL="800100" lvl="1" indent="-342900" defTabSz="81438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fr-FR" b="1" dirty="0">
                <a:solidFill>
                  <a:srgbClr val="000090"/>
                </a:solidFill>
              </a:rPr>
              <a:t>Framework for </a:t>
            </a:r>
            <a:r>
              <a:rPr lang="fr-FR" b="1" dirty="0" err="1">
                <a:solidFill>
                  <a:srgbClr val="000090"/>
                </a:solidFill>
              </a:rPr>
              <a:t>prioritization</a:t>
            </a:r>
            <a:endParaRPr lang="fr-FR" b="1" dirty="0">
              <a:solidFill>
                <a:srgbClr val="000090"/>
              </a:solidFill>
            </a:endParaRPr>
          </a:p>
          <a:p>
            <a:pPr marL="800100" lvl="1" indent="-342900" defTabSz="81438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fr-FR" sz="1800" b="1" dirty="0" err="1">
                <a:solidFill>
                  <a:srgbClr val="000090"/>
                </a:solidFill>
              </a:rPr>
              <a:t>Define</a:t>
            </a:r>
            <a:r>
              <a:rPr lang="fr-FR" sz="1800" b="1" dirty="0">
                <a:solidFill>
                  <a:srgbClr val="000090"/>
                </a:solidFill>
              </a:rPr>
              <a:t> </a:t>
            </a:r>
            <a:r>
              <a:rPr lang="fr-FR" sz="1800" b="1" dirty="0" err="1">
                <a:solidFill>
                  <a:srgbClr val="000090"/>
                </a:solidFill>
              </a:rPr>
              <a:t>categories</a:t>
            </a:r>
            <a:r>
              <a:rPr lang="fr-FR" sz="1800" b="1" dirty="0">
                <a:solidFill>
                  <a:srgbClr val="000090"/>
                </a:solidFill>
              </a:rPr>
              <a:t> and </a:t>
            </a:r>
            <a:r>
              <a:rPr lang="fr-FR" sz="1800" b="1" dirty="0" err="1">
                <a:solidFill>
                  <a:srgbClr val="000090"/>
                </a:solidFill>
              </a:rPr>
              <a:t>target</a:t>
            </a:r>
            <a:r>
              <a:rPr lang="fr-FR" sz="1800" b="1" dirty="0">
                <a:solidFill>
                  <a:srgbClr val="000090"/>
                </a:solidFill>
              </a:rPr>
              <a:t> % in line </a:t>
            </a:r>
            <a:r>
              <a:rPr lang="fr-FR" sz="1800" b="1" dirty="0" err="1">
                <a:solidFill>
                  <a:srgbClr val="000090"/>
                </a:solidFill>
              </a:rPr>
              <a:t>with</a:t>
            </a:r>
            <a:r>
              <a:rPr lang="fr-FR" sz="1800" b="1" dirty="0">
                <a:solidFill>
                  <a:srgbClr val="000090"/>
                </a:solidFill>
              </a:rPr>
              <a:t> </a:t>
            </a:r>
            <a:r>
              <a:rPr lang="fr-FR" sz="1800" b="1" dirty="0" err="1">
                <a:solidFill>
                  <a:srgbClr val="000090"/>
                </a:solidFill>
              </a:rPr>
              <a:t>company</a:t>
            </a:r>
            <a:r>
              <a:rPr lang="fr-FR" sz="1800" b="1" dirty="0">
                <a:solidFill>
                  <a:srgbClr val="000090"/>
                </a:solidFill>
              </a:rPr>
              <a:t> </a:t>
            </a:r>
            <a:r>
              <a:rPr lang="fr-FR" sz="1800" b="1" dirty="0" err="1">
                <a:solidFill>
                  <a:srgbClr val="000090"/>
                </a:solidFill>
              </a:rPr>
              <a:t>strategic</a:t>
            </a:r>
            <a:r>
              <a:rPr lang="fr-FR" sz="1800" b="1" dirty="0">
                <a:solidFill>
                  <a:srgbClr val="000090"/>
                </a:solidFill>
              </a:rPr>
              <a:t> </a:t>
            </a:r>
            <a:r>
              <a:rPr lang="fr-FR" sz="1800" b="1" dirty="0" err="1">
                <a:solidFill>
                  <a:srgbClr val="000090"/>
                </a:solidFill>
              </a:rPr>
              <a:t>priorities</a:t>
            </a:r>
            <a:endParaRPr lang="fr-FR" b="1" dirty="0">
              <a:solidFill>
                <a:srgbClr val="000090"/>
              </a:solidFill>
            </a:endParaRPr>
          </a:p>
          <a:p>
            <a:pPr marL="800100" lvl="1" indent="-342900" defTabSz="81438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fr-FR" sz="1800" b="1" dirty="0">
                <a:solidFill>
                  <a:srgbClr val="000090"/>
                </a:solidFill>
              </a:rPr>
              <a:t>Monitor </a:t>
            </a:r>
            <a:r>
              <a:rPr lang="fr-FR" sz="1800" b="1" dirty="0" err="1">
                <a:solidFill>
                  <a:srgbClr val="000090"/>
                </a:solidFill>
              </a:rPr>
              <a:t>actual</a:t>
            </a:r>
            <a:r>
              <a:rPr lang="fr-FR" sz="1800" b="1" dirty="0">
                <a:solidFill>
                  <a:srgbClr val="000090"/>
                </a:solidFill>
              </a:rPr>
              <a:t> </a:t>
            </a:r>
            <a:r>
              <a:rPr lang="fr-FR" sz="1800" b="1" dirty="0" err="1">
                <a:solidFill>
                  <a:srgbClr val="000090"/>
                </a:solidFill>
              </a:rPr>
              <a:t>projects</a:t>
            </a:r>
            <a:r>
              <a:rPr lang="fr-FR" sz="1800" b="1" dirty="0">
                <a:solidFill>
                  <a:srgbClr val="000090"/>
                </a:solidFill>
              </a:rPr>
              <a:t> vs </a:t>
            </a:r>
            <a:r>
              <a:rPr lang="fr-FR" sz="1800" b="1" dirty="0" err="1">
                <a:solidFill>
                  <a:srgbClr val="000090"/>
                </a:solidFill>
              </a:rPr>
              <a:t>target</a:t>
            </a:r>
            <a:r>
              <a:rPr lang="fr-FR" sz="1800" b="1" dirty="0">
                <a:solidFill>
                  <a:srgbClr val="000090"/>
                </a:solidFill>
              </a:rPr>
              <a:t> portfolio</a:t>
            </a:r>
            <a:endParaRPr lang="fr-FR" sz="2000" b="1" dirty="0">
              <a:solidFill>
                <a:srgbClr val="000090"/>
              </a:solidFill>
            </a:endParaRP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Tx/>
              <a:buChar char="-"/>
            </a:pPr>
            <a:endParaRPr lang="fr-FR" b="1" dirty="0">
              <a:solidFill>
                <a:srgbClr val="000090"/>
              </a:solidFill>
            </a:endParaRP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Tx/>
              <a:buChar char="-"/>
            </a:pPr>
            <a:endParaRPr lang="fr-FR" b="1" dirty="0">
              <a:solidFill>
                <a:srgbClr val="000090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>
              <a:solidFill>
                <a:srgbClr val="000090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>
              <a:solidFill>
                <a:srgbClr val="000090"/>
              </a:solidFill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0" t="5479" r="1934" b="6850"/>
          <a:stretch/>
        </p:blipFill>
        <p:spPr bwMode="auto">
          <a:xfrm>
            <a:off x="2411412" y="4267200"/>
            <a:ext cx="462438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957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Portfolio based </a:t>
            </a:r>
            <a:br>
              <a:rPr lang="en-US" dirty="0"/>
            </a:br>
            <a:r>
              <a:rPr lang="en-US" dirty="0"/>
              <a:t>investment planning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5593" y="1357694"/>
            <a:ext cx="8075613" cy="1645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85750" indent="-285750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endParaRPr lang="en-US" b="1" dirty="0">
              <a:solidFill>
                <a:srgbClr val="185CB9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endParaRPr lang="fr-FR" b="1" dirty="0">
              <a:solidFill>
                <a:srgbClr val="185CB9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r>
              <a:rPr lang="fr-FR" sz="2000" b="1" dirty="0">
                <a:solidFill>
                  <a:srgbClr val="185CB9"/>
                </a:solidFill>
              </a:rPr>
              <a:t>Project Portfolio Management (PPM)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r>
              <a:rPr lang="fr-FR" sz="2000" b="1" dirty="0">
                <a:solidFill>
                  <a:srgbClr val="185CB9"/>
                </a:solidFill>
              </a:rPr>
              <a:t>Business objectives – </a:t>
            </a:r>
            <a:r>
              <a:rPr lang="fr-FR" sz="2000" b="1" dirty="0" err="1">
                <a:solidFill>
                  <a:srgbClr val="185CB9"/>
                </a:solidFill>
              </a:rPr>
              <a:t>Function</a:t>
            </a:r>
            <a:r>
              <a:rPr lang="fr-FR" sz="2000" b="1" dirty="0">
                <a:solidFill>
                  <a:srgbClr val="185CB9"/>
                </a:solidFill>
              </a:rPr>
              <a:t> – Budget (</a:t>
            </a:r>
            <a:r>
              <a:rPr lang="fr-FR" sz="2000" b="1" dirty="0" err="1">
                <a:solidFill>
                  <a:srgbClr val="185CB9"/>
                </a:solidFill>
              </a:rPr>
              <a:t>bubble</a:t>
            </a:r>
            <a:r>
              <a:rPr lang="fr-FR" sz="2000" b="1" dirty="0">
                <a:solidFill>
                  <a:srgbClr val="185CB9"/>
                </a:solidFill>
              </a:rPr>
              <a:t> size)</a:t>
            </a: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Tx/>
              <a:buChar char="-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793" y="3149598"/>
          <a:ext cx="7618413" cy="3663952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8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Marketing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Sales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Order management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Customer service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Finance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Increase revenue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8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Decrease costs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8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Regulatory /  Compliance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8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Strategic initiatives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8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8E8E95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 bwMode="auto">
          <a:xfrm>
            <a:off x="5017293" y="4673598"/>
            <a:ext cx="533400" cy="5334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731293" y="4025898"/>
            <a:ext cx="228600" cy="2286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026693" y="4083048"/>
            <a:ext cx="152400" cy="1143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693193" y="4673598"/>
            <a:ext cx="381000" cy="381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788443" y="5549898"/>
            <a:ext cx="190500" cy="1905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988593" y="5549898"/>
            <a:ext cx="190500" cy="1905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931443" y="6273798"/>
            <a:ext cx="247650" cy="2286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5169693" y="6273798"/>
            <a:ext cx="304800" cy="3048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7455693" y="5511798"/>
            <a:ext cx="381000" cy="381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541293" y="4673598"/>
            <a:ext cx="381000" cy="381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6084093" y="4940298"/>
            <a:ext cx="228600" cy="2286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defTabSz="814388"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8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Portfolio based </a:t>
            </a:r>
            <a:br>
              <a:rPr lang="en-US" dirty="0"/>
            </a:br>
            <a:r>
              <a:rPr lang="en-US" dirty="0"/>
              <a:t>investment planning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2202646"/>
            <a:ext cx="8075613" cy="1645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85750" indent="-285750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endParaRPr lang="en-US" b="1" dirty="0">
              <a:solidFill>
                <a:srgbClr val="185CB9"/>
              </a:solidFill>
            </a:endParaRP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100000"/>
              <a:buFont typeface="Wingdings" charset="0"/>
              <a:buChar char="§"/>
            </a:pPr>
            <a:r>
              <a:rPr lang="fr-FR" b="1" dirty="0" err="1">
                <a:solidFill>
                  <a:srgbClr val="185CB9"/>
                </a:solidFill>
              </a:rPr>
              <a:t>Metrics</a:t>
            </a:r>
            <a:r>
              <a:rPr lang="fr-FR" b="1" dirty="0">
                <a:solidFill>
                  <a:srgbClr val="185CB9"/>
                </a:solidFill>
              </a:rPr>
              <a:t> </a:t>
            </a:r>
            <a:r>
              <a:rPr lang="fr-FR" b="1" dirty="0" err="1">
                <a:solidFill>
                  <a:srgbClr val="185CB9"/>
                </a:solidFill>
              </a:rPr>
              <a:t>reporting</a:t>
            </a:r>
            <a:r>
              <a:rPr lang="fr-FR" b="1" dirty="0">
                <a:solidFill>
                  <a:srgbClr val="185CB9"/>
                </a:solidFill>
              </a:rPr>
              <a:t> </a:t>
            </a:r>
            <a:r>
              <a:rPr lang="fr-FR" b="1" dirty="0" err="1">
                <a:solidFill>
                  <a:srgbClr val="185CB9"/>
                </a:solidFill>
              </a:rPr>
              <a:t>example</a:t>
            </a:r>
            <a:endParaRPr lang="fr-FR" sz="2000" b="1" dirty="0">
              <a:solidFill>
                <a:srgbClr val="185CB9"/>
              </a:solidFill>
            </a:endParaRPr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Tx/>
              <a:buChar char="-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2E12BB-9637-274F-9DA6-9AA2EB832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3" t="33747" r="45949" b="20481"/>
          <a:stretch/>
        </p:blipFill>
        <p:spPr>
          <a:xfrm>
            <a:off x="1724626" y="3252485"/>
            <a:ext cx="6504973" cy="350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7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827423"/>
            <a:ext cx="7772400" cy="2160137"/>
          </a:xfrm>
        </p:spPr>
        <p:txBody>
          <a:bodyPr/>
          <a:lstStyle/>
          <a:p>
            <a:r>
              <a:rPr lang="en-US" dirty="0"/>
              <a:t>Introduction to Capital Budgeting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80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7467" y="2515114"/>
            <a:ext cx="8769066" cy="4342886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GB" b="1" dirty="0"/>
              <a:t>The goal of Capital budgeting is to estimate the financial viability of a capital investment over the life of the investment</a:t>
            </a:r>
          </a:p>
          <a:p>
            <a:pPr>
              <a:buFont typeface="Arial"/>
              <a:buChar char="•"/>
            </a:pPr>
            <a:endParaRPr lang="en-GB" sz="500" b="1" dirty="0"/>
          </a:p>
          <a:p>
            <a:pPr>
              <a:buFont typeface="Arial"/>
              <a:buChar char="•"/>
            </a:pPr>
            <a:r>
              <a:rPr lang="en-GB" b="1" dirty="0"/>
              <a:t>Applicable to all investments : 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Construction of a new plant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Investment in an outside venture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Projects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….</a:t>
            </a:r>
          </a:p>
          <a:p>
            <a:pPr lvl="1">
              <a:buFont typeface="Arial"/>
              <a:buChar char="•"/>
            </a:pPr>
            <a:endParaRPr lang="en-GB" sz="700" b="1" dirty="0"/>
          </a:p>
          <a:p>
            <a:pPr>
              <a:buFont typeface="Arial"/>
              <a:buChar char="•"/>
            </a:pPr>
            <a:r>
              <a:rPr lang="en-GB" b="1" dirty="0"/>
              <a:t>Based on an evaluation of :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Investment costs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Investment returns</a:t>
            </a:r>
          </a:p>
          <a:p>
            <a:pPr>
              <a:buFont typeface="Arial"/>
              <a:buChar char="•"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Capital Budgeting ?</a:t>
            </a:r>
            <a:r>
              <a:rPr lang="en-US" sz="2800" dirty="0"/>
              <a:t> (1/2)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6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5912" y="1980844"/>
            <a:ext cx="8390888" cy="4342886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GB" b="1" dirty="0"/>
              <a:t>In the context of IT, used to :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Quantify the value of a given IT project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Decide on the Go / </a:t>
            </a:r>
            <a:r>
              <a:rPr lang="en-GB" sz="2000" b="1" dirty="0" err="1"/>
              <a:t>NoGo</a:t>
            </a:r>
            <a:r>
              <a:rPr lang="en-GB" sz="2000" b="1" dirty="0"/>
              <a:t> for a project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Prioritize projects</a:t>
            </a:r>
          </a:p>
          <a:p>
            <a:pPr lvl="1">
              <a:buFont typeface="Arial"/>
              <a:buChar char="•"/>
            </a:pPr>
            <a:endParaRPr lang="en-GB" sz="600" b="1" dirty="0"/>
          </a:p>
          <a:p>
            <a:pPr>
              <a:buFont typeface="Arial"/>
              <a:buChar char="•"/>
            </a:pPr>
            <a:r>
              <a:rPr lang="en-GB" b="1" dirty="0"/>
              <a:t>Process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Determine the project costs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Determine the project benefits or returns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Apply Financial metrics :</a:t>
            </a:r>
          </a:p>
          <a:p>
            <a:pPr lvl="2">
              <a:buFont typeface="Arial"/>
              <a:buChar char="•"/>
            </a:pPr>
            <a:r>
              <a:rPr lang="en-GB" sz="1800" dirty="0"/>
              <a:t>Payback period</a:t>
            </a:r>
          </a:p>
          <a:p>
            <a:pPr lvl="2">
              <a:buFont typeface="Arial"/>
              <a:buChar char="•"/>
            </a:pPr>
            <a:r>
              <a:rPr lang="en-GB" sz="1800" dirty="0"/>
              <a:t>ROI : Return on Investment</a:t>
            </a:r>
          </a:p>
          <a:p>
            <a:pPr lvl="2">
              <a:buFont typeface="Arial"/>
              <a:buChar char="•"/>
            </a:pPr>
            <a:r>
              <a:rPr lang="en-GB" sz="1800" dirty="0"/>
              <a:t>NPV : Net Present Value</a:t>
            </a:r>
          </a:p>
          <a:p>
            <a:pPr lvl="2">
              <a:buFont typeface="Arial"/>
              <a:buChar char="•"/>
            </a:pPr>
            <a:r>
              <a:rPr lang="en-GB" sz="1800" dirty="0"/>
              <a:t>IRR : Internal Rate of return</a:t>
            </a:r>
          </a:p>
          <a:p>
            <a:pPr lvl="2">
              <a:buFont typeface="Arial"/>
              <a:buChar char="•"/>
            </a:pPr>
            <a:r>
              <a:rPr lang="en-GB" sz="1800" dirty="0"/>
              <a:t>…</a:t>
            </a:r>
          </a:p>
          <a:p>
            <a:pPr lvl="2">
              <a:buFont typeface="Arial"/>
              <a:buChar char="•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Capital Budgeting ? </a:t>
            </a:r>
            <a:r>
              <a:rPr lang="en-US" sz="2800" dirty="0"/>
              <a:t>(2/2)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2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9698" y="2515114"/>
            <a:ext cx="8983555" cy="4342886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GB" b="1" dirty="0"/>
              <a:t>A dollar today is worth more than a dollar tomorrow</a:t>
            </a:r>
          </a:p>
          <a:p>
            <a:pPr>
              <a:buFont typeface="Arial"/>
              <a:buChar char="•"/>
            </a:pPr>
            <a:r>
              <a:rPr lang="en-GB" b="1" dirty="0"/>
              <a:t>Video</a:t>
            </a:r>
          </a:p>
          <a:p>
            <a:pPr>
              <a:buFont typeface="Arial"/>
              <a:buChar char="•"/>
            </a:pPr>
            <a:r>
              <a:rPr lang="en-GB" b="1" dirty="0"/>
              <a:t>Future value, Present value, Interest…</a:t>
            </a:r>
          </a:p>
          <a:p>
            <a:pPr>
              <a:buFont typeface="Arial"/>
              <a:buChar char="•"/>
            </a:pPr>
            <a:r>
              <a:rPr lang="en-US" b="1" dirty="0"/>
              <a:t>Future Value : based on the “compound interest” methodology</a:t>
            </a:r>
          </a:p>
          <a:p>
            <a:pPr lvl="1">
              <a:buFont typeface="Arial"/>
              <a:buChar char="•"/>
            </a:pPr>
            <a:r>
              <a:rPr lang="en-US" sz="2000" b="1" dirty="0"/>
              <a:t>FV = PV (1+i) on 1 period</a:t>
            </a:r>
          </a:p>
          <a:p>
            <a:pPr lvl="1">
              <a:buFont typeface="Arial"/>
              <a:buChar char="•"/>
            </a:pPr>
            <a:r>
              <a:rPr lang="en-US" sz="2000" b="1" dirty="0"/>
              <a:t>FV = PV (1+i)</a:t>
            </a:r>
            <a:r>
              <a:rPr lang="en-US" sz="2000" b="1" baseline="30000" dirty="0">
                <a:latin typeface="+mj-lt"/>
              </a:rPr>
              <a:t>n</a:t>
            </a:r>
          </a:p>
          <a:p>
            <a:pPr lvl="2">
              <a:buFont typeface="Arial"/>
              <a:buChar char="•"/>
            </a:pPr>
            <a:r>
              <a:rPr lang="en-US" sz="1600" b="1" dirty="0" err="1">
                <a:latin typeface="+mj-lt"/>
              </a:rPr>
              <a:t>i</a:t>
            </a:r>
            <a:r>
              <a:rPr lang="en-US" sz="1600" b="1" dirty="0">
                <a:latin typeface="+mj-lt"/>
              </a:rPr>
              <a:t> is the interest rate or discount rate or hurdle rate or Cost of capital</a:t>
            </a:r>
          </a:p>
          <a:p>
            <a:pPr lvl="2">
              <a:buFont typeface="Arial"/>
              <a:buChar char="•"/>
            </a:pPr>
            <a:r>
              <a:rPr lang="en-US" sz="1600" b="1" dirty="0">
                <a:latin typeface="+mj-lt"/>
              </a:rPr>
              <a:t>n is the </a:t>
            </a:r>
            <a:r>
              <a:rPr lang="en-US" sz="1600" b="1" dirty="0" err="1">
                <a:latin typeface="+mj-lt"/>
              </a:rPr>
              <a:t>nb</a:t>
            </a:r>
            <a:r>
              <a:rPr lang="en-US" sz="1600" b="1" dirty="0">
                <a:latin typeface="+mj-lt"/>
              </a:rPr>
              <a:t> of periods</a:t>
            </a:r>
          </a:p>
          <a:p>
            <a:pPr>
              <a:buFont typeface="Arial"/>
              <a:buChar char="•"/>
            </a:pPr>
            <a:r>
              <a:rPr lang="en-US" b="1" dirty="0"/>
              <a:t>Present Value</a:t>
            </a:r>
          </a:p>
          <a:p>
            <a:pPr lvl="1">
              <a:buFont typeface="Arial"/>
              <a:buChar char="•"/>
            </a:pPr>
            <a:r>
              <a:rPr lang="en-GB" sz="2000" b="1" dirty="0"/>
              <a:t>PV = FV / (1+i)</a:t>
            </a:r>
            <a:r>
              <a:rPr lang="en-GB" sz="2000" b="1" baseline="30000" dirty="0"/>
              <a:t>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value of money</a:t>
            </a:r>
          </a:p>
        </p:txBody>
      </p:sp>
    </p:spTree>
    <p:extLst>
      <p:ext uri="{BB962C8B-B14F-4D97-AF65-F5344CB8AC3E}">
        <p14:creationId xmlns:p14="http://schemas.microsoft.com/office/powerpoint/2010/main" val="92102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3674" y="2515114"/>
            <a:ext cx="8776651" cy="4342886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GB" b="1" dirty="0"/>
              <a:t>Opportunity costs represent the potential benefits that an individual, investor, or business misses out on when choosing one alternative over another. </a:t>
            </a:r>
          </a:p>
          <a:p>
            <a:pPr lvl="1">
              <a:buFont typeface="Arial"/>
              <a:buChar char="•"/>
            </a:pPr>
            <a:r>
              <a:rPr lang="en-GB" sz="1800" b="1" dirty="0"/>
              <a:t>Because opportunity costs are unseen by definition, they can be easily overlooked. </a:t>
            </a:r>
          </a:p>
          <a:p>
            <a:r>
              <a:rPr lang="en-GB" b="1" dirty="0"/>
              <a:t>Opportunity cost is the forgone benefit that would have been derived from an option not chosen.</a:t>
            </a:r>
          </a:p>
          <a:p>
            <a:pPr lvl="1"/>
            <a:r>
              <a:rPr lang="en-GB" sz="1800" b="1" dirty="0"/>
              <a:t>To evaluate opportunity costs, the costs and benefits of every option available must be considered and weighed against the others.</a:t>
            </a:r>
          </a:p>
          <a:p>
            <a:pPr lvl="1"/>
            <a:r>
              <a:rPr lang="en-GB" sz="1800" b="1" dirty="0"/>
              <a:t>Considering the value of opportunity costs can guide individuals and organizations to more profitable decision making.</a:t>
            </a:r>
            <a:endParaRPr lang="en-GB" sz="2000" b="1" dirty="0"/>
          </a:p>
          <a:p>
            <a:r>
              <a:rPr lang="en-GB" b="1" dirty="0"/>
              <a:t>Video</a:t>
            </a:r>
          </a:p>
          <a:p>
            <a:pPr>
              <a:buFont typeface="Arial"/>
              <a:buChar char="•"/>
            </a:pPr>
            <a:endParaRPr lang="en-GB" dirty="0"/>
          </a:p>
          <a:p>
            <a:pPr lvl="2">
              <a:buFont typeface="Arial"/>
              <a:buChar char="•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Opportunity cost</a:t>
            </a:r>
          </a:p>
        </p:txBody>
      </p:sp>
    </p:spTree>
    <p:extLst>
      <p:ext uri="{BB962C8B-B14F-4D97-AF65-F5344CB8AC3E}">
        <p14:creationId xmlns:p14="http://schemas.microsoft.com/office/powerpoint/2010/main" val="109809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5911" y="2595533"/>
            <a:ext cx="8678755" cy="4262467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GB" sz="2200" b="1" dirty="0"/>
              <a:t>Discounted cash flow (DCF) is a valuation method used to estimate the value of an investment based on its expected future cash flows. </a:t>
            </a:r>
          </a:p>
          <a:p>
            <a:pPr>
              <a:buFont typeface="Arial"/>
              <a:buChar char="•"/>
            </a:pPr>
            <a:endParaRPr lang="en-GB" sz="800" b="1" dirty="0"/>
          </a:p>
          <a:p>
            <a:pPr>
              <a:buFont typeface="Arial"/>
              <a:buChar char="•"/>
            </a:pPr>
            <a:r>
              <a:rPr lang="en-GB" sz="2200" b="1" dirty="0"/>
              <a:t>DCF analysis attempts to figure out the value of an investment today, based on projections of how much money it will generate in the future.</a:t>
            </a:r>
          </a:p>
          <a:p>
            <a:pPr>
              <a:buFont typeface="Arial"/>
              <a:buChar char="•"/>
            </a:pPr>
            <a:endParaRPr lang="en-GB" sz="800" b="1" dirty="0"/>
          </a:p>
          <a:p>
            <a:pPr>
              <a:buFont typeface="Arial"/>
              <a:buChar char="•"/>
            </a:pPr>
            <a:r>
              <a:rPr lang="en-GB" sz="2200" b="1" dirty="0"/>
              <a:t>It converts all future cash flows to their current value</a:t>
            </a:r>
          </a:p>
          <a:p>
            <a:pPr>
              <a:buFont typeface="Arial"/>
              <a:buChar char="•"/>
            </a:pPr>
            <a:endParaRPr lang="en-GB" sz="800" b="1" dirty="0"/>
          </a:p>
          <a:p>
            <a:pPr>
              <a:buFont typeface="Arial"/>
              <a:buChar char="•"/>
            </a:pPr>
            <a:r>
              <a:rPr lang="en-GB" sz="2200" b="1" dirty="0"/>
              <a:t>DCF = CF1/ (1+r) + CF2/ (1+r)</a:t>
            </a:r>
            <a:r>
              <a:rPr lang="en-GB" sz="2200" b="1" baseline="30000" dirty="0"/>
              <a:t>2</a:t>
            </a:r>
            <a:r>
              <a:rPr lang="en-GB" sz="2200" b="1" dirty="0"/>
              <a:t>+ CF3/ (1+r)</a:t>
            </a:r>
            <a:r>
              <a:rPr lang="en-GB" sz="2200" b="1" baseline="30000" dirty="0"/>
              <a:t>3</a:t>
            </a:r>
            <a:r>
              <a:rPr lang="en-GB" sz="2200" b="1" dirty="0"/>
              <a:t>+….+</a:t>
            </a:r>
            <a:r>
              <a:rPr lang="en-GB" sz="2200" b="1" dirty="0" err="1"/>
              <a:t>CFn</a:t>
            </a:r>
            <a:r>
              <a:rPr lang="en-GB" sz="2200" b="1" dirty="0"/>
              <a:t>/(1+r)</a:t>
            </a:r>
            <a:r>
              <a:rPr lang="en-GB" sz="2200" b="1" baseline="30000" dirty="0"/>
              <a:t>n</a:t>
            </a:r>
          </a:p>
          <a:p>
            <a:pPr>
              <a:buFont typeface="Arial"/>
              <a:buChar char="•"/>
            </a:pPr>
            <a:endParaRPr lang="en-GB" sz="800" b="1" dirty="0"/>
          </a:p>
          <a:p>
            <a:r>
              <a:rPr lang="en-GB" sz="2200" b="1" dirty="0"/>
              <a:t>Basis for NPV : Net Present Value and IRR : Internal rate of Return</a:t>
            </a:r>
          </a:p>
          <a:p>
            <a:endParaRPr lang="en-GB" sz="800" b="1" dirty="0"/>
          </a:p>
          <a:p>
            <a:r>
              <a:rPr lang="en-GB" sz="2200" b="1" dirty="0"/>
              <a:t>Video</a:t>
            </a:r>
          </a:p>
          <a:p>
            <a:pPr marL="0" indent="0">
              <a:buNone/>
            </a:pPr>
            <a:endParaRPr lang="en-GB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Discounted Cash flows</a:t>
            </a:r>
          </a:p>
        </p:txBody>
      </p:sp>
    </p:spTree>
    <p:extLst>
      <p:ext uri="{BB962C8B-B14F-4D97-AF65-F5344CB8AC3E}">
        <p14:creationId xmlns:p14="http://schemas.microsoft.com/office/powerpoint/2010/main" val="3740629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D0EA-27D2-56AD-15E6-6E25061E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8B45D-5162-48C0-EF6E-CFBB2E0E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Discounted Cash 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8C894-8736-F501-3356-3B78D566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83" t="28615" r="37655" b="14434"/>
          <a:stretch/>
        </p:blipFill>
        <p:spPr>
          <a:xfrm>
            <a:off x="293511" y="2246489"/>
            <a:ext cx="3734896" cy="4368800"/>
          </a:xfrm>
          <a:prstGeom prst="rect">
            <a:avLst/>
          </a:prstGeom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FD48CA0-59CC-18D0-56AD-621E4C6A6E7E}"/>
              </a:ext>
            </a:extLst>
          </p:cNvPr>
          <p:cNvSpPr txBox="1">
            <a:spLocks/>
          </p:cNvSpPr>
          <p:nvPr/>
        </p:nvSpPr>
        <p:spPr>
          <a:xfrm>
            <a:off x="4200254" y="2570339"/>
            <a:ext cx="4399058" cy="29035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 b="1" dirty="0"/>
              <a:t>Future Value : </a:t>
            </a:r>
          </a:p>
          <a:p>
            <a:pPr lvl="1">
              <a:buFont typeface="Arial"/>
              <a:buChar char="•"/>
            </a:pPr>
            <a:r>
              <a:rPr lang="en-US" sz="1800" b="1" dirty="0"/>
              <a:t>FV = PV (1+i)</a:t>
            </a:r>
            <a:r>
              <a:rPr lang="en-US" sz="1800" b="1" baseline="30000" dirty="0">
                <a:latin typeface="+mj-lt"/>
              </a:rPr>
              <a:t>n</a:t>
            </a:r>
          </a:p>
          <a:p>
            <a:pPr lvl="2">
              <a:buFont typeface="Arial"/>
              <a:buChar char="•"/>
            </a:pPr>
            <a:r>
              <a:rPr lang="en-US" sz="1600" b="1" dirty="0" err="1">
                <a:latin typeface="+mj-lt"/>
              </a:rPr>
              <a:t>i</a:t>
            </a:r>
            <a:r>
              <a:rPr lang="en-US" sz="1600" b="1" dirty="0">
                <a:latin typeface="+mj-lt"/>
              </a:rPr>
              <a:t> is the interest rate or discount rate or hurdle rate or Cost of capital</a:t>
            </a:r>
          </a:p>
          <a:p>
            <a:pPr lvl="2">
              <a:buFont typeface="Arial"/>
              <a:buChar char="•"/>
            </a:pPr>
            <a:r>
              <a:rPr lang="en-US" sz="1600" b="1" dirty="0">
                <a:latin typeface="+mj-lt"/>
              </a:rPr>
              <a:t>n is the </a:t>
            </a:r>
            <a:r>
              <a:rPr lang="en-US" sz="1600" b="1" dirty="0" err="1">
                <a:latin typeface="+mj-lt"/>
              </a:rPr>
              <a:t>nb</a:t>
            </a:r>
            <a:r>
              <a:rPr lang="en-US" sz="1600" b="1" dirty="0">
                <a:latin typeface="+mj-lt"/>
              </a:rPr>
              <a:t> of periods</a:t>
            </a:r>
          </a:p>
          <a:p>
            <a:pPr>
              <a:buFont typeface="Arial"/>
              <a:buChar char="•"/>
            </a:pPr>
            <a:r>
              <a:rPr lang="en-US" b="1" dirty="0"/>
              <a:t>Present Value</a:t>
            </a:r>
          </a:p>
          <a:p>
            <a:pPr lvl="1">
              <a:buFont typeface="Arial"/>
              <a:buChar char="•"/>
            </a:pPr>
            <a:r>
              <a:rPr lang="en-GB" sz="1800" b="1" dirty="0"/>
              <a:t>PV = FV / (1+i)</a:t>
            </a:r>
            <a:r>
              <a:rPr lang="en-GB" sz="1800" b="1" baseline="30000" dirty="0"/>
              <a:t>n</a:t>
            </a:r>
          </a:p>
          <a:p>
            <a:pPr marL="0" indent="0">
              <a:buFont typeface="Symbol" pitchFamily="18" charset="2"/>
              <a:buNone/>
            </a:pP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2A84CC-872D-F42F-D5E8-82F93343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98536"/>
            <a:ext cx="4317912" cy="135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24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827423"/>
            <a:ext cx="7772400" cy="2160137"/>
          </a:xfrm>
        </p:spPr>
        <p:txBody>
          <a:bodyPr/>
          <a:lstStyle/>
          <a:p>
            <a:r>
              <a:rPr lang="en-US" dirty="0"/>
              <a:t>Project value case</a:t>
            </a:r>
          </a:p>
        </p:txBody>
      </p:sp>
    </p:spTree>
    <p:extLst>
      <p:ext uri="{BB962C8B-B14F-4D97-AF65-F5344CB8AC3E}">
        <p14:creationId xmlns:p14="http://schemas.microsoft.com/office/powerpoint/2010/main" val="4145769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5913" y="2515114"/>
            <a:ext cx="8390888" cy="4342886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US" sz="1800" dirty="0"/>
              <a:t>A value case, or business case, is the fundamental analysis of the cost of a project, system cost, feasibility, risks, benefits and economic return. This analysis combines quantitative and qualitative data in a prioritized fashion to render a written, comprehensive, and defensible justification for undertaking a transformation.</a:t>
            </a:r>
          </a:p>
          <a:p>
            <a:pPr>
              <a:buFont typeface="Arial"/>
              <a:buChar char="•"/>
            </a:pPr>
            <a:r>
              <a:rPr lang="en-US" sz="1800" dirty="0"/>
              <a:t>The value case delivers four important benefits:</a:t>
            </a:r>
          </a:p>
          <a:p>
            <a:pPr lvl="1">
              <a:buFont typeface="Courier New"/>
              <a:buChar char="o"/>
            </a:pPr>
            <a:r>
              <a:rPr lang="en-US" sz="1600" b="1" dirty="0"/>
              <a:t>Organizational agreement </a:t>
            </a:r>
            <a:r>
              <a:rPr lang="en-US" sz="1600" dirty="0"/>
              <a:t>- The value case, and the value case development process, is a format for the organization to reach agreement on initiatives and projects, goals and financial expectations.</a:t>
            </a:r>
          </a:p>
          <a:p>
            <a:pPr lvl="1">
              <a:buFont typeface="Courier New"/>
              <a:buChar char="o"/>
            </a:pPr>
            <a:r>
              <a:rPr lang="en-US" sz="1600" b="1" dirty="0"/>
              <a:t>Economic justification </a:t>
            </a:r>
            <a:r>
              <a:rPr lang="en-US" sz="1600" dirty="0"/>
              <a:t>- The value case provides the hard numbers for costs and projected benefits to measure return on investment.</a:t>
            </a:r>
          </a:p>
          <a:p>
            <a:pPr lvl="1">
              <a:buFont typeface="Courier New"/>
              <a:buChar char="o"/>
            </a:pPr>
            <a:r>
              <a:rPr lang="en-US" sz="1600" b="1" dirty="0"/>
              <a:t>Documented proof </a:t>
            </a:r>
            <a:r>
              <a:rPr lang="en-US" sz="1600" dirty="0"/>
              <a:t>- The value case is a tangible, referenced, written testament for the organization that can be used on an ongoing basis to reaffirm commitments and measure progress.</a:t>
            </a:r>
          </a:p>
          <a:p>
            <a:pPr lvl="1">
              <a:buFont typeface="Courier New"/>
              <a:buChar char="o"/>
            </a:pPr>
            <a:r>
              <a:rPr lang="en-US" sz="1600" b="1" dirty="0"/>
              <a:t>Confidence </a:t>
            </a:r>
            <a:r>
              <a:rPr lang="en-US" sz="1600" dirty="0"/>
              <a:t>(vs. hope) - The value case replaces intuition, hope, and optimism with confident business decisions made on sound analysis.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project value case?</a:t>
            </a:r>
          </a:p>
        </p:txBody>
      </p:sp>
    </p:spTree>
    <p:extLst>
      <p:ext uri="{BB962C8B-B14F-4D97-AF65-F5344CB8AC3E}">
        <p14:creationId xmlns:p14="http://schemas.microsoft.com/office/powerpoint/2010/main" val="2881030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367" y="2637367"/>
            <a:ext cx="8551333" cy="3450696"/>
          </a:xfrm>
        </p:spPr>
        <p:txBody>
          <a:bodyPr>
            <a:normAutofit fontScale="77500" lnSpcReduction="20000"/>
          </a:bodyPr>
          <a:lstStyle/>
          <a:p>
            <a:pPr>
              <a:buFont typeface="Arial"/>
              <a:buChar char="•"/>
            </a:pPr>
            <a:r>
              <a:rPr lang="en-US" dirty="0"/>
              <a:t>Despite their benefits, </a:t>
            </a:r>
            <a:r>
              <a:rPr lang="en-US" b="1" dirty="0"/>
              <a:t>value cases are often not completed </a:t>
            </a:r>
            <a:r>
              <a:rPr lang="en-US" dirty="0"/>
              <a:t>for even large, high-risk projects. There are several reasons, all of which can contribute to the failure of proper business justification. These include </a:t>
            </a:r>
          </a:p>
          <a:p>
            <a:pPr lvl="1">
              <a:buFont typeface="Arial"/>
              <a:buChar char="•"/>
            </a:pPr>
            <a:r>
              <a:rPr lang="en-US" dirty="0"/>
              <a:t>Skipping the value case because of enthusiastic mandates from management</a:t>
            </a:r>
          </a:p>
          <a:p>
            <a:pPr lvl="1">
              <a:buFont typeface="Arial"/>
              <a:buChar char="•"/>
            </a:pPr>
            <a:r>
              <a:rPr lang="en-US" dirty="0"/>
              <a:t>Not having the skills or bandwidth to complete one. </a:t>
            </a:r>
          </a:p>
          <a:p>
            <a:pPr lvl="1"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dirty="0"/>
              <a:t>The value case helps make tough business decisions by providing clear economic justification for IT projects and initiatives.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dirty="0"/>
              <a:t>More importantly, the value case is a process by which all necessary decision-makers come to agreement on the decision criteria and justification.</a:t>
            </a:r>
          </a:p>
          <a:p>
            <a:pPr>
              <a:buFont typeface="Arial"/>
              <a:buChar char="•"/>
            </a:pPr>
            <a:endParaRPr lang="en-US" sz="1600" dirty="0"/>
          </a:p>
          <a:p>
            <a:pPr>
              <a:buFont typeface="Arial"/>
              <a:buChar char="•"/>
            </a:pPr>
            <a:r>
              <a:rPr lang="en-US" dirty="0"/>
              <a:t>A less-than-perfect value case is better than no value case at all…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project value case?</a:t>
            </a:r>
          </a:p>
        </p:txBody>
      </p:sp>
    </p:spTree>
    <p:extLst>
      <p:ext uri="{BB962C8B-B14F-4D97-AF65-F5344CB8AC3E}">
        <p14:creationId xmlns:p14="http://schemas.microsoft.com/office/powerpoint/2010/main" val="78734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… is also about:</a:t>
            </a:r>
          </a:p>
          <a:p>
            <a:pPr>
              <a:buFont typeface="Arial"/>
              <a:buChar char="•"/>
            </a:pPr>
            <a:r>
              <a:rPr lang="en-US" dirty="0"/>
              <a:t>Project assessment and prioritization</a:t>
            </a:r>
          </a:p>
          <a:p>
            <a:pPr>
              <a:buFont typeface="Arial"/>
              <a:buChar char="•"/>
            </a:pPr>
            <a:r>
              <a:rPr lang="en-US" dirty="0"/>
              <a:t>Need to win consensus and win others</a:t>
            </a:r>
          </a:p>
          <a:p>
            <a:pPr>
              <a:buFont typeface="Arial"/>
              <a:buChar char="•"/>
            </a:pPr>
            <a:r>
              <a:rPr lang="en-US" dirty="0"/>
              <a:t>Need for a robust process &amp; review framework</a:t>
            </a:r>
          </a:p>
          <a:p>
            <a:pPr>
              <a:buFont typeface="Arial"/>
              <a:buChar char="•"/>
            </a:pPr>
            <a:r>
              <a:rPr lang="en-US" dirty="0"/>
              <a:t>Sometimes require managing upwards</a:t>
            </a:r>
          </a:p>
          <a:p>
            <a:pPr>
              <a:buFont typeface="Arial"/>
              <a:buChar char="•"/>
            </a:pPr>
            <a:r>
              <a:rPr lang="en-US" dirty="0"/>
              <a:t>Requires common evaluation criterion</a:t>
            </a:r>
          </a:p>
          <a:p>
            <a:pPr>
              <a:buFont typeface="Arial"/>
              <a:buChar char="•"/>
            </a:pPr>
            <a:r>
              <a:rPr lang="en-US" dirty="0"/>
              <a:t>Need discipline… and common sense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Practically project value case…</a:t>
            </a:r>
          </a:p>
        </p:txBody>
      </p:sp>
    </p:spTree>
    <p:extLst>
      <p:ext uri="{BB962C8B-B14F-4D97-AF65-F5344CB8AC3E}">
        <p14:creationId xmlns:p14="http://schemas.microsoft.com/office/powerpoint/2010/main" val="3415484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Financial Benefits categories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984575"/>
              </p:ext>
            </p:extLst>
          </p:nvPr>
        </p:nvGraphicFramePr>
        <p:xfrm>
          <a:off x="228927" y="3019396"/>
          <a:ext cx="8601805" cy="361248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3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588">
                <a:tc>
                  <a:txBody>
                    <a:bodyPr/>
                    <a:lstStyle/>
                    <a:p>
                      <a:r>
                        <a:rPr lang="en-US" dirty="0"/>
                        <a:t>Benefits category / Savings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488">
                <a:tc>
                  <a:txBody>
                    <a:bodyPr/>
                    <a:lstStyle/>
                    <a:p>
                      <a:r>
                        <a:rPr lang="en-US" dirty="0"/>
                        <a:t>Operating costs reduction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 reduction in</a:t>
                      </a:r>
                      <a:r>
                        <a:rPr lang="en-US" baseline="0" dirty="0"/>
                        <a:t> costs the company is spending today and will stop spending as a result of doing the project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109">
                <a:tc>
                  <a:txBody>
                    <a:bodyPr/>
                    <a:lstStyle/>
                    <a:p>
                      <a:r>
                        <a:rPr lang="en-US" dirty="0"/>
                        <a:t>Cost avoidance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avoidance is defined as the benefits realized by reducing / avoiding future expenditure although the projected expenditures have not been budgeted or obligated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43">
                <a:tc>
                  <a:txBody>
                    <a:bodyPr/>
                    <a:lstStyle/>
                    <a:p>
                      <a:r>
                        <a:rPr lang="en-US" dirty="0"/>
                        <a:t>Productivity gains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Productivity savings are defined as the time saved or freed</a:t>
                      </a:r>
                      <a:r>
                        <a:rPr lang="en-US" baseline="0" dirty="0"/>
                        <a:t> up as a result of doing the project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843">
                <a:tc>
                  <a:txBody>
                    <a:bodyPr/>
                    <a:lstStyle/>
                    <a:p>
                      <a:r>
                        <a:rPr lang="en-US" dirty="0"/>
                        <a:t>Financial penalty savings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Savings resulting from financial penalties going away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68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Benefits categories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812800" y="2269067"/>
            <a:ext cx="7408333" cy="3450696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2000" dirty="0"/>
              <a:t>Revenue generation</a:t>
            </a:r>
          </a:p>
          <a:p>
            <a:pPr>
              <a:buFont typeface="Arial"/>
              <a:buChar char="•"/>
            </a:pPr>
            <a:r>
              <a:rPr lang="en-US" sz="2000" dirty="0"/>
              <a:t>Compliance</a:t>
            </a:r>
          </a:p>
          <a:p>
            <a:pPr>
              <a:buFont typeface="Arial"/>
              <a:buChar char="•"/>
            </a:pPr>
            <a:r>
              <a:rPr lang="en-US" sz="2000" dirty="0"/>
              <a:t>Customer satisfaction</a:t>
            </a:r>
          </a:p>
          <a:p>
            <a:pPr>
              <a:buFont typeface="Arial"/>
              <a:buChar char="•"/>
            </a:pPr>
            <a:r>
              <a:rPr lang="en-US" sz="2000" dirty="0"/>
              <a:t>Employee development / satisfaction</a:t>
            </a:r>
          </a:p>
          <a:p>
            <a:pPr>
              <a:buFont typeface="Arial"/>
              <a:buChar char="•"/>
            </a:pPr>
            <a:r>
              <a:rPr lang="en-US" sz="2000" dirty="0"/>
              <a:t>Process standardization</a:t>
            </a:r>
          </a:p>
          <a:p>
            <a:pPr>
              <a:buFont typeface="Arial"/>
              <a:buChar char="•"/>
            </a:pPr>
            <a:r>
              <a:rPr lang="en-US" sz="2000" dirty="0"/>
              <a:t>Data / system security</a:t>
            </a:r>
          </a:p>
          <a:p>
            <a:pPr>
              <a:buFont typeface="Arial"/>
              <a:buChar char="•"/>
            </a:pPr>
            <a:r>
              <a:rPr lang="en-US" sz="2000" dirty="0"/>
              <a:t>User experience</a:t>
            </a:r>
          </a:p>
          <a:p>
            <a:pPr>
              <a:buFont typeface="Arial"/>
              <a:buChar char="•"/>
            </a:pPr>
            <a:r>
              <a:rPr lang="en-US" sz="2000" dirty="0"/>
              <a:t>Brand image</a:t>
            </a:r>
          </a:p>
          <a:p>
            <a:pPr>
              <a:buFont typeface="Arial"/>
              <a:buChar char="•"/>
            </a:pPr>
            <a:r>
              <a:rPr lang="en-US" sz="2000" dirty="0"/>
              <a:t>….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2421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categories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50758"/>
              </p:ext>
            </p:extLst>
          </p:nvPr>
        </p:nvGraphicFramePr>
        <p:xfrm>
          <a:off x="203527" y="2739997"/>
          <a:ext cx="8601805" cy="388084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3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588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r>
                        <a:rPr lang="en-US" baseline="0" dirty="0"/>
                        <a:t> categories</a:t>
                      </a:r>
                      <a:endParaRPr lang="en-US" dirty="0"/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488">
                <a:tc>
                  <a:txBody>
                    <a:bodyPr/>
                    <a:lstStyle/>
                    <a:p>
                      <a:r>
                        <a:rPr lang="en-US" dirty="0"/>
                        <a:t>Business resource costs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r>
                        <a:rPr lang="en-US" baseline="0" dirty="0"/>
                        <a:t> team business resource costs (permanent, Temp or contractors)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528">
                <a:tc>
                  <a:txBody>
                    <a:bodyPr/>
                    <a:lstStyle/>
                    <a:p>
                      <a:r>
                        <a:rPr lang="en-US" dirty="0"/>
                        <a:t>IT resource costs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Project team IT resource costs </a:t>
                      </a:r>
                      <a:r>
                        <a:rPr lang="en-US" baseline="0" dirty="0"/>
                        <a:t>(permanent, Temp or contractors)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US" dirty="0"/>
                        <a:t>Infrastructure (HW) costs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Servers,</a:t>
                      </a:r>
                      <a:r>
                        <a:rPr lang="en-US" baseline="0" dirty="0"/>
                        <a:t> Telecoms equipment etc….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6">
                <a:tc>
                  <a:txBody>
                    <a:bodyPr/>
                    <a:lstStyle/>
                    <a:p>
                      <a:r>
                        <a:rPr lang="en-US" dirty="0"/>
                        <a:t>SW </a:t>
                      </a:r>
                      <a:r>
                        <a:rPr lang="en-US" dirty="0" err="1"/>
                        <a:t>licence</a:t>
                      </a:r>
                      <a:r>
                        <a:rPr lang="en-US" baseline="0" dirty="0"/>
                        <a:t> costs</a:t>
                      </a:r>
                      <a:endParaRPr lang="en-US" dirty="0"/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6">
                <a:tc>
                  <a:txBody>
                    <a:bodyPr/>
                    <a:lstStyle/>
                    <a:p>
                      <a:r>
                        <a:rPr lang="en-US" dirty="0"/>
                        <a:t>Organization</a:t>
                      </a:r>
                      <a:r>
                        <a:rPr lang="en-US" baseline="0" dirty="0"/>
                        <a:t> adoption costs</a:t>
                      </a:r>
                      <a:endParaRPr lang="en-US" dirty="0"/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Training, communication etc…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843">
                <a:tc>
                  <a:txBody>
                    <a:bodyPr/>
                    <a:lstStyle/>
                    <a:p>
                      <a:r>
                        <a:rPr lang="en-US" dirty="0"/>
                        <a:t>Maintenance / support costs</a:t>
                      </a:r>
                    </a:p>
                  </a:txBody>
                  <a:tcPr>
                    <a:lnR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to support once project is live</a:t>
                      </a:r>
                    </a:p>
                  </a:txBody>
                  <a:tcPr>
                    <a:lnL w="6350" cap="flat" cmpd="sng" algn="ctr">
                      <a:solidFill>
                        <a:srgbClr val="C6E7FC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941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293192"/>
            <a:ext cx="7408333" cy="416719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Cost Benefit criteria:</a:t>
            </a:r>
          </a:p>
          <a:p>
            <a:pPr>
              <a:buFont typeface="Arial"/>
              <a:buChar char="•"/>
            </a:pPr>
            <a:r>
              <a:rPr lang="en-US" dirty="0"/>
              <a:t>Return on investment (ROI)</a:t>
            </a:r>
          </a:p>
          <a:p>
            <a:pPr>
              <a:buFont typeface="Arial"/>
              <a:buChar char="•"/>
            </a:pPr>
            <a:r>
              <a:rPr lang="en-US" dirty="0"/>
              <a:t>Payback period</a:t>
            </a:r>
          </a:p>
          <a:p>
            <a:pPr>
              <a:buFont typeface="Arial"/>
              <a:buChar char="•"/>
            </a:pPr>
            <a:r>
              <a:rPr lang="en-US" dirty="0"/>
              <a:t>Net present value (NPV)</a:t>
            </a:r>
          </a:p>
          <a:p>
            <a:pPr>
              <a:buFont typeface="Arial"/>
              <a:buChar char="•"/>
            </a:pPr>
            <a:r>
              <a:rPr lang="en-US" dirty="0"/>
              <a:t>Internal Rate of Return (IRR)</a:t>
            </a:r>
          </a:p>
          <a:p>
            <a:pPr>
              <a:buFont typeface="Arial"/>
              <a:buChar char="•"/>
            </a:pPr>
            <a:r>
              <a:rPr lang="en-US" dirty="0"/>
              <a:t>Etc…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General criteria:</a:t>
            </a:r>
          </a:p>
          <a:p>
            <a:pPr>
              <a:buFont typeface="Arial"/>
              <a:buChar char="•"/>
            </a:pPr>
            <a:r>
              <a:rPr lang="en-US" dirty="0"/>
              <a:t>Strategic alignment</a:t>
            </a:r>
          </a:p>
          <a:p>
            <a:pPr>
              <a:buFont typeface="Arial"/>
              <a:buChar char="•"/>
            </a:pPr>
            <a:r>
              <a:rPr lang="en-US" dirty="0"/>
              <a:t>Risk level</a:t>
            </a:r>
          </a:p>
          <a:p>
            <a:pPr>
              <a:buFont typeface="Arial"/>
              <a:buChar char="•"/>
            </a:pPr>
            <a:r>
              <a:rPr lang="en-US" dirty="0"/>
              <a:t>Size of initial investment</a:t>
            </a:r>
          </a:p>
          <a:p>
            <a:pPr>
              <a:buFont typeface="Arial"/>
              <a:buChar char="•"/>
            </a:pPr>
            <a:r>
              <a:rPr lang="en-US" dirty="0"/>
              <a:t>Criticality level</a:t>
            </a:r>
          </a:p>
          <a:p>
            <a:pPr>
              <a:buFont typeface="Arial"/>
              <a:buChar char="•"/>
            </a:pPr>
            <a:r>
              <a:rPr lang="en-US" dirty="0"/>
              <a:t>Etc…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… And others you may have or may encounter…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assessment methods</a:t>
            </a:r>
          </a:p>
        </p:txBody>
      </p:sp>
    </p:spTree>
    <p:extLst>
      <p:ext uri="{BB962C8B-B14F-4D97-AF65-F5344CB8AC3E}">
        <p14:creationId xmlns:p14="http://schemas.microsoft.com/office/powerpoint/2010/main" val="2250327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786743"/>
            <a:ext cx="8229600" cy="4071257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This term means different things to different people…Many business managers use the term in a general sense as a means of assessing the merit of an investment or business decision.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In simple terms this </a:t>
            </a:r>
            <a:r>
              <a:rPr lang="en-US" b="1" dirty="0"/>
              <a:t>the “profit” made from an investment</a:t>
            </a:r>
            <a:r>
              <a:rPr lang="en-US" dirty="0"/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 (ROI)</a:t>
            </a:r>
          </a:p>
        </p:txBody>
      </p:sp>
    </p:spTree>
    <p:extLst>
      <p:ext uri="{BB962C8B-B14F-4D97-AF65-F5344CB8AC3E}">
        <p14:creationId xmlns:p14="http://schemas.microsoft.com/office/powerpoint/2010/main" val="1217003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0976" y="2019606"/>
            <a:ext cx="8642047" cy="483839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 b="1" dirty="0"/>
              <a:t>Why is ROI Important?</a:t>
            </a:r>
          </a:p>
          <a:p>
            <a:pPr marL="0" indent="0">
              <a:buNone/>
            </a:pPr>
            <a:endParaRPr lang="en-US" sz="2200" b="1" dirty="0"/>
          </a:p>
          <a:p>
            <a:pPr>
              <a:buFont typeface="Arial"/>
              <a:buChar char="•"/>
            </a:pPr>
            <a:r>
              <a:rPr lang="en-US" sz="4200" dirty="0"/>
              <a:t>It </a:t>
            </a:r>
            <a:r>
              <a:rPr lang="en-US" sz="4200" b="1" dirty="0"/>
              <a:t>quantifies project value </a:t>
            </a:r>
            <a:endParaRPr lang="en-US" sz="4200" dirty="0"/>
          </a:p>
          <a:p>
            <a:pPr lvl="1">
              <a:buFont typeface="Arial"/>
              <a:buChar char="•"/>
            </a:pPr>
            <a:r>
              <a:rPr lang="en-US" sz="3800" dirty="0"/>
              <a:t>Perhaps the most important aspect of ROI is its ability to show business leaders dollar/currency figures of a project’s worth. </a:t>
            </a:r>
          </a:p>
          <a:p>
            <a:pPr lvl="1">
              <a:buFont typeface="Arial"/>
              <a:buChar char="•"/>
            </a:pPr>
            <a:r>
              <a:rPr lang="en-US" sz="3800" dirty="0"/>
              <a:t>ROI turns the subjective into the objective, which can often turn uncertainty into support.</a:t>
            </a:r>
          </a:p>
          <a:p>
            <a:pPr lvl="1">
              <a:buFont typeface="Arial"/>
              <a:buChar char="•"/>
            </a:pPr>
            <a:endParaRPr lang="en-US" sz="1500" dirty="0"/>
          </a:p>
          <a:p>
            <a:pPr>
              <a:buFont typeface="Arial"/>
              <a:buChar char="•"/>
            </a:pPr>
            <a:r>
              <a:rPr lang="en-US" sz="4200" dirty="0"/>
              <a:t>It can build </a:t>
            </a:r>
            <a:r>
              <a:rPr lang="en-US" sz="4200" b="1" dirty="0"/>
              <a:t>stakeholder support </a:t>
            </a:r>
            <a:endParaRPr lang="en-US" sz="4200" dirty="0"/>
          </a:p>
          <a:p>
            <a:pPr lvl="1">
              <a:buFont typeface="Arial"/>
              <a:buChar char="•"/>
            </a:pPr>
            <a:r>
              <a:rPr lang="en-US" sz="3800" dirty="0"/>
              <a:t>Tying a dollar/currency value to a project may help with a “go/no-go” decision. </a:t>
            </a:r>
          </a:p>
          <a:p>
            <a:pPr lvl="1">
              <a:buFont typeface="Arial"/>
              <a:buChar char="•"/>
            </a:pPr>
            <a:r>
              <a:rPr lang="en-US" sz="3800" dirty="0"/>
              <a:t>Many times, stakeholders want to see what the dollar/currency value is to them if they are to support a particular project.</a:t>
            </a:r>
          </a:p>
          <a:p>
            <a:pPr lvl="1">
              <a:buFont typeface="Arial"/>
              <a:buChar char="•"/>
            </a:pPr>
            <a:endParaRPr lang="en-US" sz="1500" dirty="0"/>
          </a:p>
          <a:p>
            <a:pPr>
              <a:buFont typeface="Arial"/>
              <a:buChar char="•"/>
            </a:pPr>
            <a:r>
              <a:rPr lang="en-US" sz="4200" dirty="0"/>
              <a:t>It can lead to </a:t>
            </a:r>
            <a:r>
              <a:rPr lang="en-US" sz="4200" b="1" dirty="0"/>
              <a:t>project prioritization </a:t>
            </a:r>
          </a:p>
          <a:p>
            <a:pPr lvl="1">
              <a:buFont typeface="Arial"/>
              <a:buChar char="•"/>
            </a:pPr>
            <a:r>
              <a:rPr lang="en-US" sz="3800" dirty="0"/>
              <a:t>Once the decision has been made to launch a project, ROI helps determine the project’s ranking among other priorities</a:t>
            </a:r>
          </a:p>
          <a:p>
            <a:pPr lvl="1">
              <a:buFont typeface="Arial"/>
              <a:buChar char="•"/>
            </a:pPr>
            <a:r>
              <a:rPr lang="en-US" sz="3800" dirty="0"/>
              <a:t>Usually, projects with greater ROI are ranked higher and gain resource support more quickly.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ROI</a:t>
            </a:r>
          </a:p>
        </p:txBody>
      </p:sp>
    </p:spTree>
    <p:extLst>
      <p:ext uri="{BB962C8B-B14F-4D97-AF65-F5344CB8AC3E}">
        <p14:creationId xmlns:p14="http://schemas.microsoft.com/office/powerpoint/2010/main" val="2854043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9229" y="2677887"/>
            <a:ext cx="8534400" cy="4093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to Calculate ROI</a:t>
            </a:r>
          </a:p>
          <a:p>
            <a:pPr marL="0" indent="0">
              <a:buNone/>
            </a:pPr>
            <a:r>
              <a:rPr lang="en-US" i="1" dirty="0"/>
              <a:t>ROI = [(Financial value – Project cost) / Project cost] x 100</a:t>
            </a: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Note</a:t>
            </a:r>
            <a:r>
              <a:rPr lang="en-US" dirty="0"/>
              <a:t>: In looking at the formula, there are two components we need to determine: Financial value (or project benefits) and project cost.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ROI</a:t>
            </a:r>
          </a:p>
        </p:txBody>
      </p:sp>
    </p:spTree>
    <p:extLst>
      <p:ext uri="{BB962C8B-B14F-4D97-AF65-F5344CB8AC3E}">
        <p14:creationId xmlns:p14="http://schemas.microsoft.com/office/powerpoint/2010/main" val="2515401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6571" y="2427515"/>
            <a:ext cx="8545286" cy="41801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Financial value or Project Benefits</a:t>
            </a:r>
          </a:p>
          <a:p>
            <a:pPr marL="0" indent="0">
              <a:buNone/>
            </a:pPr>
            <a:endParaRPr lang="en-US" sz="800" b="1" dirty="0"/>
          </a:p>
          <a:p>
            <a:pPr>
              <a:buFont typeface="Arial"/>
              <a:buChar char="•"/>
            </a:pPr>
            <a:r>
              <a:rPr lang="en-US" dirty="0"/>
              <a:t>Financial value is the project’s payback. </a:t>
            </a:r>
          </a:p>
          <a:p>
            <a:pPr>
              <a:buFont typeface="Arial"/>
              <a:buChar char="•"/>
            </a:pPr>
            <a:r>
              <a:rPr lang="en-US" dirty="0"/>
              <a:t>Calculating value can be complicated based on the uncertainty of assigning actual dollars to a proposed outcome. </a:t>
            </a:r>
          </a:p>
          <a:p>
            <a:pPr>
              <a:buFont typeface="Arial"/>
              <a:buChar char="•"/>
            </a:pPr>
            <a:r>
              <a:rPr lang="en-US" dirty="0"/>
              <a:t>Process should qualify the benefits then quantify each of the identified benefits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Project costs</a:t>
            </a:r>
          </a:p>
          <a:p>
            <a:pPr marL="0" indent="0">
              <a:buNone/>
            </a:pPr>
            <a:endParaRPr lang="en-US" sz="800" b="1" dirty="0"/>
          </a:p>
          <a:p>
            <a:pPr>
              <a:buFont typeface="Arial"/>
              <a:buChar char="•"/>
            </a:pPr>
            <a:r>
              <a:rPr lang="en-US" dirty="0"/>
              <a:t>Project cost is calculated by determining all project costs and expenses over time.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Note</a:t>
            </a:r>
            <a:r>
              <a:rPr lang="en-US" b="1" dirty="0"/>
              <a:t>: </a:t>
            </a:r>
            <a:r>
              <a:rPr lang="en-US" dirty="0"/>
              <a:t>Best practice is to be conservative, </a:t>
            </a:r>
            <a:r>
              <a:rPr lang="en-US" dirty="0" err="1"/>
              <a:t>ie</a:t>
            </a:r>
            <a:r>
              <a:rPr lang="en-US" dirty="0"/>
              <a:t> under estimate benefits and over estimate costs…to be on the safe side….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ROI</a:t>
            </a:r>
          </a:p>
        </p:txBody>
      </p:sp>
    </p:spTree>
    <p:extLst>
      <p:ext uri="{BB962C8B-B14F-4D97-AF65-F5344CB8AC3E}">
        <p14:creationId xmlns:p14="http://schemas.microsoft.com/office/powerpoint/2010/main" val="1174167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04" y="2760046"/>
            <a:ext cx="6032696" cy="38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25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7"/>
            <a:ext cx="7697062" cy="345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If total project costs are $300,000 and expected gains are $360,000, the ROI will be:</a:t>
            </a:r>
          </a:p>
          <a:p>
            <a:pPr>
              <a:buFont typeface="Arial"/>
              <a:buChar char="•"/>
            </a:pPr>
            <a:r>
              <a:rPr lang="en-US" i="1" dirty="0"/>
              <a:t>ROI = [(Financial value – Project cost) / Project cost] x 100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>
              <a:buFont typeface="Arial"/>
              <a:buChar char="•"/>
            </a:pPr>
            <a:r>
              <a:rPr lang="en-US" i="1" dirty="0"/>
              <a:t>[(</a:t>
            </a:r>
            <a:r>
              <a:rPr lang="en-US" dirty="0"/>
              <a:t>$360,000 </a:t>
            </a:r>
            <a:r>
              <a:rPr lang="en-US" i="1" dirty="0"/>
              <a:t>– </a:t>
            </a:r>
            <a:r>
              <a:rPr lang="en-US" dirty="0"/>
              <a:t>$300,000 </a:t>
            </a:r>
            <a:r>
              <a:rPr lang="en-US" i="1" dirty="0"/>
              <a:t>) / </a:t>
            </a:r>
            <a:r>
              <a:rPr lang="en-US" dirty="0"/>
              <a:t>$300,000 </a:t>
            </a:r>
            <a:r>
              <a:rPr lang="en-US" i="1" dirty="0"/>
              <a:t>] x 100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Or 20%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ROI example</a:t>
            </a:r>
          </a:p>
        </p:txBody>
      </p:sp>
    </p:spTree>
    <p:extLst>
      <p:ext uri="{BB962C8B-B14F-4D97-AF65-F5344CB8AC3E}">
        <p14:creationId xmlns:p14="http://schemas.microsoft.com/office/powerpoint/2010/main" val="365240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9357" y="2807584"/>
            <a:ext cx="8545285" cy="4420529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US" sz="2000" b="1" dirty="0"/>
              <a:t>Payback</a:t>
            </a:r>
            <a:r>
              <a:rPr lang="en-US" sz="2000" dirty="0"/>
              <a:t> = How much time it takes to recover the costs of a project….or how long it takes for the project benefits to </a:t>
            </a:r>
            <a:r>
              <a:rPr lang="en-US" sz="2000" dirty="0" err="1"/>
              <a:t>outweight</a:t>
            </a:r>
            <a:r>
              <a:rPr lang="en-US" sz="2000" dirty="0"/>
              <a:t> the project costs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/>
              <a:t>When we are managing a business or a project, we care very much about </a:t>
            </a:r>
            <a:r>
              <a:rPr lang="en-US" sz="2000" b="1" dirty="0"/>
              <a:t>how quickly we get our money back</a:t>
            </a:r>
            <a:r>
              <a:rPr lang="en-US" sz="2000" dirty="0"/>
              <a:t>. 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It is a reality that some companies (or project sponsors) choose the </a:t>
            </a:r>
            <a:r>
              <a:rPr lang="en-US" sz="2000" i="1" dirty="0"/>
              <a:t>less-profitable</a:t>
            </a:r>
            <a:r>
              <a:rPr lang="en-US" sz="2000" dirty="0"/>
              <a:t> investment if they get their money back faster. 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The most common reasons for this decision would be if a company was strapped for cash, and did not want to use debt to finance operations.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Payback period</a:t>
            </a:r>
          </a:p>
        </p:txBody>
      </p:sp>
    </p:spTree>
    <p:extLst>
      <p:ext uri="{BB962C8B-B14F-4D97-AF65-F5344CB8AC3E}">
        <p14:creationId xmlns:p14="http://schemas.microsoft.com/office/powerpoint/2010/main" val="2257313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4FF46-FC27-4E70-6853-E2CA7262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0C9687-FA57-7D29-23D5-9C3C6E84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57" y="2992641"/>
            <a:ext cx="8545285" cy="4420529"/>
          </a:xfrm>
        </p:spPr>
        <p:txBody>
          <a:bodyPr>
            <a:noAutofit/>
          </a:bodyPr>
          <a:lstStyle/>
          <a:p>
            <a:pPr>
              <a:buFont typeface="Arial"/>
              <a:buChar char="•"/>
            </a:pPr>
            <a:r>
              <a:rPr lang="en-US" b="1" dirty="0"/>
              <a:t>When using payback period, companies will usually have a standard time period, such as two years... 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Any project that has a payback period of less than the standard will be acceptable. </a:t>
            </a:r>
          </a:p>
          <a:p>
            <a:pPr lvl="1">
              <a:buFont typeface="Arial"/>
              <a:buChar char="•"/>
            </a:pPr>
            <a:r>
              <a:rPr lang="en-US" sz="1800" dirty="0"/>
              <a:t>Those projects that take longer to return the original investment than the standard period will not be acceptable.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3A3572-1706-86ED-924A-481C2923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Payback period</a:t>
            </a:r>
          </a:p>
        </p:txBody>
      </p:sp>
    </p:spTree>
    <p:extLst>
      <p:ext uri="{BB962C8B-B14F-4D97-AF65-F5344CB8AC3E}">
        <p14:creationId xmlns:p14="http://schemas.microsoft.com/office/powerpoint/2010/main" val="2294917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565400"/>
            <a:ext cx="8436429" cy="4292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to Calculate Payback period, when cash inflows are </a:t>
            </a:r>
            <a:r>
              <a:rPr lang="en-US" b="1" u="sng" dirty="0"/>
              <a:t>even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i="1" dirty="0"/>
              <a:t>Payback period = Project cost / Annual cash inflows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dirty="0"/>
              <a:t>In case of uneven cashflows, calculate the total project costs, then accumulate the benefits year after year until the total becomes higher than the costs…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b="1" u="sng" dirty="0"/>
              <a:t>Notes</a:t>
            </a:r>
            <a:r>
              <a:rPr lang="en-US" b="1" dirty="0"/>
              <a:t>: </a:t>
            </a:r>
          </a:p>
          <a:p>
            <a:pPr>
              <a:buFont typeface="Arial"/>
              <a:buChar char="•"/>
            </a:pPr>
            <a:r>
              <a:rPr lang="en-US" sz="2200" dirty="0"/>
              <a:t>There are two main problems with the payback period method:</a:t>
            </a:r>
          </a:p>
          <a:p>
            <a:pPr marL="581343" lvl="2" indent="0">
              <a:buNone/>
            </a:pPr>
            <a:r>
              <a:rPr lang="en-US" sz="1700" dirty="0"/>
              <a:t>1. It ignores any benefits that occur after the payback period and, therefore, does not measure profitability.</a:t>
            </a:r>
          </a:p>
          <a:p>
            <a:pPr marL="581343" lvl="2" indent="0">
              <a:buNone/>
            </a:pPr>
            <a:r>
              <a:rPr lang="en-US" sz="1700" dirty="0"/>
              <a:t>2. It ignores the time value of money.</a:t>
            </a:r>
          </a:p>
          <a:p>
            <a:pPr marL="581343" lvl="2" indent="0">
              <a:buNone/>
            </a:pPr>
            <a:r>
              <a:rPr lang="en-US" sz="1700" dirty="0"/>
              <a:t>Because of these reasons, other methods of capital budgeting, like Net Present Value, are generally preferred.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Payback period</a:t>
            </a:r>
          </a:p>
        </p:txBody>
      </p:sp>
    </p:spTree>
    <p:extLst>
      <p:ext uri="{BB962C8B-B14F-4D97-AF65-F5344CB8AC3E}">
        <p14:creationId xmlns:p14="http://schemas.microsoft.com/office/powerpoint/2010/main" val="3502571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6"/>
            <a:ext cx="7408333" cy="4182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If a project costs $100,000 and is expected to return $20,000 annually, the payback period will be:</a:t>
            </a:r>
          </a:p>
          <a:p>
            <a:pPr>
              <a:buFont typeface="Arial"/>
              <a:buChar char="•"/>
            </a:pPr>
            <a:r>
              <a:rPr lang="en-US" i="1" dirty="0"/>
              <a:t>Payback period = Project cost / Annual cash inflows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$100,000 / $20,000</a:t>
            </a:r>
          </a:p>
          <a:p>
            <a:pPr>
              <a:buFont typeface="Arial"/>
              <a:buChar char="•"/>
            </a:pPr>
            <a:r>
              <a:rPr lang="en-US" dirty="0"/>
              <a:t>Or five years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Payback period </a:t>
            </a:r>
            <a:r>
              <a:rPr lang="en-US" dirty="0">
                <a:solidFill>
                  <a:schemeClr val="bg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0935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9754" y="2600325"/>
            <a:ext cx="8724492" cy="4365171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Contrarily to ROI and payback methodologies, </a:t>
            </a:r>
            <a:r>
              <a:rPr lang="en-US" b="1" dirty="0"/>
              <a:t>NPV takes into account the time value of money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It is a more sophisticated / accurate measure….It is also more complex….</a:t>
            </a:r>
          </a:p>
          <a:p>
            <a:pPr lvl="1">
              <a:buFont typeface="Arial"/>
              <a:buChar char="•"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dirty="0"/>
              <a:t>There are different and complex ways to construct NPV formulae but basically it is no more than </a:t>
            </a:r>
            <a:r>
              <a:rPr lang="en-US" b="1" dirty="0"/>
              <a:t>translating the project future cash flow value into their present values and adding them all up</a:t>
            </a:r>
            <a:r>
              <a:rPr lang="en-US" dirty="0"/>
              <a:t>…(See Discounted Cash Flow….)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If the NPV of a prospective project is positive, then it is profitable and is worth of consideration.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If negative then it's unprofitable and should not be pursued.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</p:spTree>
    <p:extLst>
      <p:ext uri="{BB962C8B-B14F-4D97-AF65-F5344CB8AC3E}">
        <p14:creationId xmlns:p14="http://schemas.microsoft.com/office/powerpoint/2010/main" val="3446793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561" y="2739852"/>
            <a:ext cx="8544469" cy="4355214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NPV is the sum of the PV (Present values) of incoming and outgoing cash flows over a period of time.</a:t>
            </a:r>
          </a:p>
          <a:p>
            <a:pPr>
              <a:buFont typeface="Arial"/>
              <a:buChar char="•"/>
            </a:pPr>
            <a:r>
              <a:rPr lang="en-US" dirty="0"/>
              <a:t>Present Value : based on the “compound interest” methodology</a:t>
            </a:r>
          </a:p>
          <a:p>
            <a:pPr lvl="1">
              <a:buFont typeface="Arial"/>
              <a:buChar char="•"/>
            </a:pPr>
            <a:r>
              <a:rPr lang="en-US" dirty="0"/>
              <a:t>FV = PV (1+i) on 1 period</a:t>
            </a:r>
          </a:p>
          <a:p>
            <a:pPr lvl="1">
              <a:buFont typeface="Arial"/>
              <a:buChar char="•"/>
            </a:pPr>
            <a:r>
              <a:rPr lang="en-US" dirty="0"/>
              <a:t>FV = PV (1+i) ^n</a:t>
            </a:r>
          </a:p>
          <a:p>
            <a:pPr lvl="1">
              <a:buFont typeface="Arial"/>
              <a:buChar char="•"/>
            </a:pPr>
            <a:r>
              <a:rPr lang="en-US" dirty="0"/>
              <a:t>PV = FV / (1+i)^n</a:t>
            </a:r>
          </a:p>
          <a:p>
            <a:pPr>
              <a:buFont typeface="Arial"/>
              <a:buChar char="•"/>
            </a:pPr>
            <a:r>
              <a:rPr lang="en-US" dirty="0"/>
              <a:t>NPV definition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000" t="48222" r="60000" b="44222"/>
          <a:stretch/>
        </p:blipFill>
        <p:spPr>
          <a:xfrm>
            <a:off x="882527" y="5088466"/>
            <a:ext cx="3621740" cy="8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31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BC70-4132-0A5E-16EB-E4A15CB8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5DF83A-5D78-16C5-FDEF-FF7600C7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BBB4A-692F-40B1-C763-FD584074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6" t="9442" r="5645" b="16776"/>
          <a:stretch/>
        </p:blipFill>
        <p:spPr>
          <a:xfrm>
            <a:off x="1017813" y="2633472"/>
            <a:ext cx="7328991" cy="40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61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A560-37FB-FC65-ECE2-F6B671B1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7B6DB5-07F6-A7E8-FCE5-5E91F3B7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B13EB3-7F0C-7C22-2C8F-DEAB10CA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2" t="9943" r="1400" b="10589"/>
          <a:stretch/>
        </p:blipFill>
        <p:spPr>
          <a:xfrm>
            <a:off x="337457" y="2600325"/>
            <a:ext cx="7946572" cy="421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36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72144" y="2305522"/>
            <a:ext cx="8567056" cy="4552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Discount rate:</a:t>
            </a:r>
          </a:p>
          <a:p>
            <a:pPr>
              <a:buFont typeface="Arial"/>
              <a:buChar char="•"/>
            </a:pPr>
            <a:r>
              <a:rPr lang="en-US" sz="2000" dirty="0"/>
              <a:t>Discount Rate can be considered as the rate of return required by the investor which includes costs, risks and lost opportunities.</a:t>
            </a:r>
          </a:p>
          <a:p>
            <a:pPr marL="0" indent="0">
              <a:buNone/>
            </a:pPr>
            <a:endParaRPr lang="en-US" sz="1100" dirty="0"/>
          </a:p>
          <a:p>
            <a:pPr>
              <a:buFont typeface="Arial"/>
              <a:buChar char="•"/>
            </a:pPr>
            <a:r>
              <a:rPr lang="en-US" sz="2000" dirty="0"/>
              <a:t>To make comparison meaningful between projects (for prioritization for example…), Projects should be assed with the same time horizon and Discount rate</a:t>
            </a:r>
          </a:p>
          <a:p>
            <a:pPr>
              <a:buFont typeface="Arial"/>
              <a:buChar char="•"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sz="2000" dirty="0"/>
              <a:t>However, the discount rate which is used for evaluating projects can vary in time and between different firms </a:t>
            </a:r>
          </a:p>
          <a:p>
            <a:pPr>
              <a:buFont typeface="Arial"/>
              <a:buChar char="•"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sz="2000" dirty="0"/>
              <a:t>Discount rate will be given to you by Finance or project office : it is not something you’ll have to determine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 (NPV)</a:t>
            </a:r>
          </a:p>
        </p:txBody>
      </p:sp>
    </p:spTree>
    <p:extLst>
      <p:ext uri="{BB962C8B-B14F-4D97-AF65-F5344CB8AC3E}">
        <p14:creationId xmlns:p14="http://schemas.microsoft.com/office/powerpoint/2010/main" val="40493458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2112" y="2723817"/>
            <a:ext cx="7582754" cy="1862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Even Cash Inflows: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Calculate the net present value of a project which requires an initial investment of $243,000 and it is expected to generate a cash inflow of $50,000 each month for 12 months. The target rate of return is 12% per annum.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NPV example</a:t>
            </a:r>
          </a:p>
        </p:txBody>
      </p:sp>
    </p:spTree>
    <p:extLst>
      <p:ext uri="{BB962C8B-B14F-4D97-AF65-F5344CB8AC3E}">
        <p14:creationId xmlns:p14="http://schemas.microsoft.com/office/powerpoint/2010/main" val="340851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71253" y="1787703"/>
            <a:ext cx="8630777" cy="50702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Solution:</a:t>
            </a:r>
          </a:p>
          <a:p>
            <a:pPr>
              <a:buFont typeface="Arial"/>
              <a:buChar char="•"/>
            </a:pPr>
            <a:r>
              <a:rPr lang="en-US" sz="1800" dirty="0"/>
              <a:t>Initial Investment = $243,000</a:t>
            </a:r>
          </a:p>
          <a:p>
            <a:pPr>
              <a:buFont typeface="Arial"/>
              <a:buChar char="•"/>
            </a:pPr>
            <a:r>
              <a:rPr lang="en-US" sz="1800" dirty="0"/>
              <a:t>Net cash Inflow per period = $50,000</a:t>
            </a:r>
          </a:p>
          <a:p>
            <a:pPr>
              <a:buFont typeface="Arial"/>
              <a:buChar char="•"/>
            </a:pPr>
            <a:r>
              <a:rPr lang="en-US" sz="1800" dirty="0"/>
              <a:t>Number of periods = 12</a:t>
            </a:r>
          </a:p>
          <a:p>
            <a:pPr>
              <a:buFont typeface="Arial"/>
              <a:buChar char="•"/>
            </a:pPr>
            <a:r>
              <a:rPr lang="en-US" sz="1800" dirty="0"/>
              <a:t>What is the Discount rate per period?</a:t>
            </a:r>
          </a:p>
          <a:p>
            <a:pPr>
              <a:buFont typeface="Arial"/>
              <a:buChar char="•"/>
            </a:pPr>
            <a:r>
              <a:rPr lang="en-US" sz="1800" dirty="0"/>
              <a:t>Discount rate per period = 12% ÷ 12 = 1%</a:t>
            </a:r>
          </a:p>
          <a:p>
            <a:pPr marL="0" indent="0">
              <a:buNone/>
            </a:pPr>
            <a:r>
              <a:rPr lang="en-US" sz="2000" b="1" dirty="0"/>
              <a:t>Net Present Value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Arial"/>
              <a:buChar char="•"/>
            </a:pPr>
            <a:r>
              <a:rPr lang="en-US" sz="2000" b="1" dirty="0"/>
              <a:t>NPV ≈ $319,754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NPV example</a:t>
            </a:r>
          </a:p>
        </p:txBody>
      </p:sp>
    </p:spTree>
    <p:extLst>
      <p:ext uri="{BB962C8B-B14F-4D97-AF65-F5344CB8AC3E}">
        <p14:creationId xmlns:p14="http://schemas.microsoft.com/office/powerpoint/2010/main" val="78791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NPV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3" y="2489200"/>
            <a:ext cx="47625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33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3095" y="2465798"/>
            <a:ext cx="8435219" cy="4392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IRR Internal Rate of Return </a:t>
            </a:r>
            <a:r>
              <a:rPr lang="en-US" dirty="0"/>
              <a:t>is a variation on NPV</a:t>
            </a:r>
          </a:p>
          <a:p>
            <a:pPr marL="0" indent="0">
              <a:buNone/>
            </a:pPr>
            <a:r>
              <a:rPr lang="en-US" dirty="0"/>
              <a:t>It is the discount rate that results in NPV = 0</a:t>
            </a:r>
          </a:p>
          <a:p>
            <a:pPr>
              <a:buFont typeface="Arial"/>
              <a:buChar char="•"/>
            </a:pPr>
            <a:r>
              <a:rPr lang="en-US" dirty="0"/>
              <a:t>Calculated through trial and error or with calculator spreadsheet</a:t>
            </a:r>
          </a:p>
          <a:p>
            <a:pPr>
              <a:buFont typeface="Arial"/>
              <a:buChar char="•"/>
            </a:pPr>
            <a:r>
              <a:rPr lang="en-US" dirty="0"/>
              <a:t>The higher the IRR, the more valuable the project</a:t>
            </a:r>
          </a:p>
          <a:p>
            <a:pPr>
              <a:buFont typeface="Arial"/>
              <a:buChar char="•"/>
            </a:pPr>
            <a:r>
              <a:rPr lang="en-US" dirty="0"/>
              <a:t>You would need to find an investment that returns at least the IRR as an alternative to the project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If IRR &gt; Discount rate : accept the project (NPV positive)</a:t>
            </a:r>
          </a:p>
          <a:p>
            <a:pPr lvl="1">
              <a:buFont typeface="Arial"/>
              <a:buChar char="•"/>
            </a:pPr>
            <a:r>
              <a:rPr lang="en-US" sz="2000" dirty="0"/>
              <a:t>If IRR &lt; Discount rate : reject the project (NPV negative)</a:t>
            </a:r>
          </a:p>
          <a:p>
            <a:pPr>
              <a:buFont typeface="Arial"/>
              <a:buChar char="•"/>
            </a:pPr>
            <a:r>
              <a:rPr lang="en-US" dirty="0"/>
              <a:t>Video : NPV and IRR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288" y="349617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/>
              <a:t>IRR : Internal Rate of Return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30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9552" y="2438400"/>
            <a:ext cx="8229600" cy="4517572"/>
          </a:xfrm>
        </p:spPr>
        <p:txBody>
          <a:bodyPr>
            <a:normAutofit/>
          </a:bodyPr>
          <a:lstStyle/>
          <a:p>
            <a:r>
              <a:rPr lang="en-US" dirty="0"/>
              <a:t>Also a variation on NPV methodology…</a:t>
            </a:r>
          </a:p>
          <a:p>
            <a:endParaRPr lang="en-US" sz="1200" dirty="0"/>
          </a:p>
          <a:p>
            <a:r>
              <a:rPr lang="en-US" dirty="0"/>
              <a:t>It “normalized” NPV so that bigger projects are not at an advantage</a:t>
            </a:r>
          </a:p>
          <a:p>
            <a:endParaRPr lang="en-US" sz="1200" dirty="0"/>
          </a:p>
          <a:p>
            <a:r>
              <a:rPr lang="en-US" b="1" dirty="0"/>
              <a:t>Profitability index </a:t>
            </a:r>
            <a:r>
              <a:rPr lang="en-US" dirty="0"/>
              <a:t>is the Present value of future expected cash flows / Initial investment</a:t>
            </a:r>
          </a:p>
          <a:p>
            <a:endParaRPr lang="en-US" sz="500" dirty="0"/>
          </a:p>
          <a:p>
            <a:pPr marL="0" indent="0">
              <a:buNone/>
            </a:pPr>
            <a:r>
              <a:rPr lang="en-US" dirty="0"/>
              <a:t>	PI = (PV of future Cash flows) / Initial investment</a:t>
            </a:r>
          </a:p>
          <a:p>
            <a:endParaRPr lang="en-US" sz="1400" dirty="0"/>
          </a:p>
          <a:p>
            <a:r>
              <a:rPr lang="en-US" dirty="0"/>
              <a:t>Should be higher than 1 for the project to be attractive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288" y="349617"/>
            <a:ext cx="8229600" cy="1252728"/>
          </a:xfrm>
        </p:spPr>
        <p:txBody>
          <a:bodyPr>
            <a:normAutofit/>
          </a:bodyPr>
          <a:lstStyle/>
          <a:p>
            <a:r>
              <a:rPr lang="en-US" dirty="0"/>
              <a:t>Profitability index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610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533707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4" ma:contentTypeDescription="Create a new document." ma:contentTypeScope="" ma:versionID="b8c14c896996e85395c9978c54adbc60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882f496c86657b97ff61aaa0a08b425e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4BA4583B-68F7-46E8-B224-C84D6FBF0440}"/>
</file>

<file path=customXml/itemProps2.xml><?xml version="1.0" encoding="utf-8"?>
<ds:datastoreItem xmlns:ds="http://schemas.openxmlformats.org/officeDocument/2006/customXml" ds:itemID="{8501E0AE-A7CA-40EA-9F30-45055C833769}"/>
</file>

<file path=customXml/itemProps3.xml><?xml version="1.0" encoding="utf-8"?>
<ds:datastoreItem xmlns:ds="http://schemas.openxmlformats.org/officeDocument/2006/customXml" ds:itemID="{241127E2-60F2-4EB5-891F-249ACFCA4095}"/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19930</TotalTime>
  <Words>2819</Words>
  <Application>Microsoft Macintosh PowerPoint</Application>
  <PresentationFormat>On-screen Show (4:3)</PresentationFormat>
  <Paragraphs>474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Candara</vt:lpstr>
      <vt:lpstr>Courier New</vt:lpstr>
      <vt:lpstr>Symbol</vt:lpstr>
      <vt:lpstr>Wingdings</vt:lpstr>
      <vt:lpstr>Waveform</vt:lpstr>
      <vt:lpstr>Corporate Finance 3. Capital Budgeting </vt:lpstr>
      <vt:lpstr>Sessions calendar Group 1</vt:lpstr>
      <vt:lpstr>Sessions calendar Group 2</vt:lpstr>
      <vt:lpstr>Sessions calendar Group 3</vt:lpstr>
      <vt:lpstr>Course schedule and contents</vt:lpstr>
      <vt:lpstr>Portfolio based investment planning</vt:lpstr>
      <vt:lpstr>Demand Management</vt:lpstr>
      <vt:lpstr>Portfolio based  investment planning</vt:lpstr>
      <vt:lpstr>Portfolio based  investment planning</vt:lpstr>
      <vt:lpstr>Portfolio based  investment planning</vt:lpstr>
      <vt:lpstr>Introduction to Capital Budgeting</vt:lpstr>
      <vt:lpstr>What is Capital Budgeting ? (1/2)</vt:lpstr>
      <vt:lpstr>What is Capital Budgeting ? (2/2)</vt:lpstr>
      <vt:lpstr>Time value of money</vt:lpstr>
      <vt:lpstr>Opportunity cost</vt:lpstr>
      <vt:lpstr>Discounted Cash flows</vt:lpstr>
      <vt:lpstr>Discounted Cash flows</vt:lpstr>
      <vt:lpstr>Project value case</vt:lpstr>
      <vt:lpstr>What is project value case?</vt:lpstr>
      <vt:lpstr>What is project value case?</vt:lpstr>
      <vt:lpstr>Practically project value case…</vt:lpstr>
      <vt:lpstr>Financial Benefits categories</vt:lpstr>
      <vt:lpstr>Other Benefits categories</vt:lpstr>
      <vt:lpstr>Cost categories</vt:lpstr>
      <vt:lpstr>Project assessment methods</vt:lpstr>
      <vt:lpstr>Return on Investment (ROI)</vt:lpstr>
      <vt:lpstr>Project ROI</vt:lpstr>
      <vt:lpstr>Project ROI</vt:lpstr>
      <vt:lpstr>Project ROI</vt:lpstr>
      <vt:lpstr>Project ROI</vt:lpstr>
      <vt:lpstr>Project ROI example</vt:lpstr>
      <vt:lpstr>Payback period</vt:lpstr>
      <vt:lpstr>Payback period</vt:lpstr>
      <vt:lpstr>Payback period</vt:lpstr>
      <vt:lpstr>Payback period example</vt:lpstr>
      <vt:lpstr>Net Present Value (NPV)</vt:lpstr>
      <vt:lpstr>Net Present Value (NPV)</vt:lpstr>
      <vt:lpstr>Net Present Value (NPV)</vt:lpstr>
      <vt:lpstr>Net Present Value (NPV)</vt:lpstr>
      <vt:lpstr>Net Present Value (NPV)</vt:lpstr>
      <vt:lpstr>NPV example</vt:lpstr>
      <vt:lpstr>NPV example</vt:lpstr>
      <vt:lpstr>NPV example</vt:lpstr>
      <vt:lpstr>IRR : Internal Rate of Return</vt:lpstr>
      <vt:lpstr>Profitability index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appriou sylvie</cp:lastModifiedBy>
  <cp:revision>786</cp:revision>
  <cp:lastPrinted>2013-03-21T16:55:29Z</cp:lastPrinted>
  <dcterms:created xsi:type="dcterms:W3CDTF">2013-02-25T11:18:49Z</dcterms:created>
  <dcterms:modified xsi:type="dcterms:W3CDTF">2025-05-05T17:19:26Z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