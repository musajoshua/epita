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5"/>
  </p:notesMasterIdLst>
  <p:handoutMasterIdLst>
    <p:handoutMasterId r:id="rId16"/>
  </p:handoutMasterIdLst>
  <p:sldIdLst>
    <p:sldId id="256" r:id="rId2"/>
    <p:sldId id="463" r:id="rId3"/>
    <p:sldId id="515" r:id="rId4"/>
    <p:sldId id="516" r:id="rId5"/>
    <p:sldId id="518" r:id="rId6"/>
    <p:sldId id="504" r:id="rId7"/>
    <p:sldId id="517" r:id="rId8"/>
    <p:sldId id="511" r:id="rId9"/>
    <p:sldId id="512" r:id="rId10"/>
    <p:sldId id="513" r:id="rId11"/>
    <p:sldId id="514" r:id="rId12"/>
    <p:sldId id="519" r:id="rId13"/>
    <p:sldId id="31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clrMode="bw" frameSlides="1"/>
  <p:clrMru>
    <a:srgbClr val="185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865" autoAdjust="0"/>
  </p:normalViewPr>
  <p:slideViewPr>
    <p:cSldViewPr snapToGrid="0" snapToObjects="1">
      <p:cViewPr varScale="1">
        <p:scale>
          <a:sx n="117" d="100"/>
          <a:sy n="117" d="100"/>
        </p:scale>
        <p:origin x="14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6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F7FC8-EDF1-B745-B794-DEBC2B28F3A5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C7BF8-8EEA-E746-B6B1-70A030903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5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7C15C-9360-D846-82FF-FB09835C3991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098D7-F03D-454D-A4F0-32B46C79E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1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1781175"/>
            <a:ext cx="7940675" cy="357187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310613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Finance for IT managers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International Masters </a:t>
            </a:r>
          </a:p>
          <a:p>
            <a:r>
              <a:rPr lang="en-US"/>
              <a:t>Fall </a:t>
            </a:r>
            <a:r>
              <a:rPr lang="en-US" dirty="0"/>
              <a:t>2025 program</a:t>
            </a:r>
          </a:p>
        </p:txBody>
      </p:sp>
      <p:pic>
        <p:nvPicPr>
          <p:cNvPr id="4" name="Image 3" descr="\\shares.ionis.epitech.net\EPITA_MASTER_INTERNATIONAUX\Logos\EPITA GRADUAT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3" y="5798820"/>
            <a:ext cx="1869440" cy="105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481638" y="6338125"/>
            <a:ext cx="243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185CB9"/>
                </a:solidFill>
              </a:rPr>
              <a:t>©</a:t>
            </a:r>
            <a:r>
              <a:rPr lang="en-US" dirty="0"/>
              <a:t> </a:t>
            </a:r>
            <a:r>
              <a:rPr lang="en-US" b="1" dirty="0">
                <a:solidFill>
                  <a:srgbClr val="185CB9"/>
                </a:solidFill>
              </a:rPr>
              <a:t>Sylvie Appriou</a:t>
            </a:r>
          </a:p>
        </p:txBody>
      </p:sp>
    </p:spTree>
    <p:extLst>
      <p:ext uri="{BB962C8B-B14F-4D97-AF65-F5344CB8AC3E}">
        <p14:creationId xmlns:p14="http://schemas.microsoft.com/office/powerpoint/2010/main" val="86133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1610610"/>
            <a:ext cx="7772400" cy="2376950"/>
          </a:xfrm>
        </p:spPr>
        <p:txBody>
          <a:bodyPr/>
          <a:lstStyle/>
          <a:p>
            <a:r>
              <a:rPr lang="en-US" dirty="0"/>
              <a:t>Finance quiz</a:t>
            </a:r>
          </a:p>
        </p:txBody>
      </p:sp>
    </p:spTree>
    <p:extLst>
      <p:ext uri="{BB962C8B-B14F-4D97-AF65-F5344CB8AC3E}">
        <p14:creationId xmlns:p14="http://schemas.microsoft.com/office/powerpoint/2010/main" val="18307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of the following is used to describe an asset held for more than 12 months 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Non current asset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Fixed asset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Current asset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All of the above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33548623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2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An increase in energy costs can explain a lower Gross Profit margin 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Yes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No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37020370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3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If my company runs a large and expensive TV </a:t>
            </a:r>
            <a:r>
              <a:rPr lang="en-US" sz="2000" b="1" dirty="0" err="1"/>
              <a:t>adverstizing</a:t>
            </a:r>
            <a:r>
              <a:rPr lang="en-US" sz="2000" b="1" dirty="0"/>
              <a:t> campaign, this is going to increase it Cost of Goods sold 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Yes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No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80892935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4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1714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main three sections of the Cash Flow Statement are: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Cash from operating activities; cash from investing activities and cash from financing activities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Cash from operating activities; cash from sales and cash from administrative activities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Cash from assets; cash from liabilities and cash from equity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Cash from sales; cash from operations and cash from depreciation and amortization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Cash from customers; cash from shareholders and cash from miscellaneous sources</a:t>
            </a: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56075991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5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Getting a loan from the bank will : 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Increase profit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Increase cash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Decrease profit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Decrease cash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None of the above</a:t>
            </a:r>
          </a:p>
          <a:p>
            <a:pPr lvl="1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38271192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6</a:t>
            </a:r>
          </a:p>
        </p:txBody>
      </p:sp>
      <p:sp>
        <p:nvSpPr>
          <p:cNvPr id="3072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300038" y="2006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stock would you rather invest in ?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Stock A with a Price to Earnings ratio = 10 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Stock B with a Price to </a:t>
            </a:r>
            <a:r>
              <a:rPr lang="en-US" sz="2000" b="1" dirty="0" err="1"/>
              <a:t>Earnigs</a:t>
            </a:r>
            <a:r>
              <a:rPr lang="en-US" sz="2000" b="1" dirty="0"/>
              <a:t> ratio = 30 </a:t>
            </a:r>
          </a:p>
        </p:txBody>
      </p:sp>
    </p:spTree>
    <p:extLst>
      <p:ext uri="{BB962C8B-B14F-4D97-AF65-F5344CB8AC3E}">
        <p14:creationId xmlns:p14="http://schemas.microsoft.com/office/powerpoint/2010/main" val="239736112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7</a:t>
            </a:r>
          </a:p>
        </p:txBody>
      </p:sp>
      <p:sp>
        <p:nvSpPr>
          <p:cNvPr id="3174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300038" y="2222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Last quarter,  Company X increase their Gross profit by 10% and their Net profit by 5%. Do you think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This is a positive sign indicating effective cost management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This is a negative sign</a:t>
            </a:r>
          </a:p>
        </p:txBody>
      </p:sp>
    </p:spTree>
    <p:extLst>
      <p:ext uri="{BB962C8B-B14F-4D97-AF65-F5344CB8AC3E}">
        <p14:creationId xmlns:p14="http://schemas.microsoft.com/office/powerpoint/2010/main" val="111564775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8</a:t>
            </a:r>
          </a:p>
        </p:txBody>
      </p:sp>
      <p:sp>
        <p:nvSpPr>
          <p:cNvPr id="3277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414338" y="2133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DSO for company A increased from 38 days to 45 last quarter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This is good as company is going to make greater profit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This does not impact company profit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This is going to challenge company cash position</a:t>
            </a:r>
          </a:p>
        </p:txBody>
      </p:sp>
    </p:spTree>
    <p:extLst>
      <p:ext uri="{BB962C8B-B14F-4D97-AF65-F5344CB8AC3E}">
        <p14:creationId xmlns:p14="http://schemas.microsoft.com/office/powerpoint/2010/main" val="37850884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9</a:t>
            </a:r>
          </a:p>
        </p:txBody>
      </p:sp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300038" y="22987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Company A increased their Inventory turn from 10 to 12 last quarter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This is going to increase Current ratio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This is going to increase Quick ratio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This is going to hurt working capital</a:t>
            </a:r>
          </a:p>
        </p:txBody>
      </p:sp>
    </p:spTree>
    <p:extLst>
      <p:ext uri="{BB962C8B-B14F-4D97-AF65-F5344CB8AC3E}">
        <p14:creationId xmlns:p14="http://schemas.microsoft.com/office/powerpoint/2010/main" val="99047965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10</a:t>
            </a:r>
          </a:p>
        </p:txBody>
      </p:sp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300038" y="22987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Debt to Equity ratio is used to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Measure the liquidity of the company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Measure the profitability of the company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Check if the company has too much debt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None of the above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469962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0436" y="2381144"/>
            <a:ext cx="4249899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Thank you!</a:t>
            </a:r>
          </a:p>
          <a:p>
            <a:pPr algn="ctr"/>
            <a:endParaRPr lang="en-US" sz="3600" b="1" dirty="0">
              <a:solidFill>
                <a:schemeClr val="tx2"/>
              </a:solidFill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</a:rPr>
              <a:t>See you next time</a:t>
            </a:r>
          </a:p>
        </p:txBody>
      </p:sp>
    </p:spTree>
    <p:extLst>
      <p:ext uri="{BB962C8B-B14F-4D97-AF65-F5344CB8AC3E}">
        <p14:creationId xmlns:p14="http://schemas.microsoft.com/office/powerpoint/2010/main" val="1493579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531485B0C104F9C58C50E30CD7832" ma:contentTypeVersion="4" ma:contentTypeDescription="Create a new document." ma:contentTypeScope="" ma:versionID="1dfccaadae0d2f0b848ad55bc03a2905">
  <xsd:schema xmlns:xsd="http://www.w3.org/2001/XMLSchema" xmlns:xs="http://www.w3.org/2001/XMLSchema" xmlns:p="http://schemas.microsoft.com/office/2006/metadata/properties" xmlns:ns2="0ea48c8c-38ab-43fa-892b-dc8a284a5f0d" targetNamespace="http://schemas.microsoft.com/office/2006/metadata/properties" ma:root="true" ma:fieldsID="2d2e5abe0c8f91bc85a8371e13ced834" ns2:_="">
    <xsd:import namespace="0ea48c8c-38ab-43fa-892b-dc8a284a5f0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48c8c-38ab-43fa-892b-dc8a284a5f0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ea48c8c-38ab-43fa-892b-dc8a284a5f0d" xsi:nil="true"/>
  </documentManagement>
</p:properties>
</file>

<file path=customXml/itemProps1.xml><?xml version="1.0" encoding="utf-8"?>
<ds:datastoreItem xmlns:ds="http://schemas.openxmlformats.org/officeDocument/2006/customXml" ds:itemID="{806899CE-85A3-4685-88D1-403F631C99AE}"/>
</file>

<file path=customXml/itemProps2.xml><?xml version="1.0" encoding="utf-8"?>
<ds:datastoreItem xmlns:ds="http://schemas.openxmlformats.org/officeDocument/2006/customXml" ds:itemID="{0901DDFA-7A73-474F-BBC6-4D64ABA1EEBD}"/>
</file>

<file path=customXml/itemProps3.xml><?xml version="1.0" encoding="utf-8"?>
<ds:datastoreItem xmlns:ds="http://schemas.openxmlformats.org/officeDocument/2006/customXml" ds:itemID="{1BEA4562-84A0-4449-AE22-3BF6CF074A96}"/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3233</TotalTime>
  <Words>439</Words>
  <Application>Microsoft Macintosh PowerPoint</Application>
  <PresentationFormat>On-screen Show (4:3)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Candara</vt:lpstr>
      <vt:lpstr>Symbol</vt:lpstr>
      <vt:lpstr>Wingdings</vt:lpstr>
      <vt:lpstr>Waveform</vt:lpstr>
      <vt:lpstr>Finance for IT managers</vt:lpstr>
      <vt:lpstr>Finance quiz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PowerPoint Presentation</vt:lpstr>
    </vt:vector>
  </TitlesOfParts>
  <Manager/>
  <Company>Hervé Gallot for EPITA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Masters</dc:title>
  <dc:subject>Finance for IT Managers</dc:subject>
  <dc:creator>Hervé Gallot</dc:creator>
  <cp:keywords/>
  <dc:description/>
  <cp:lastModifiedBy>appriou sylvie</cp:lastModifiedBy>
  <cp:revision>580</cp:revision>
  <cp:lastPrinted>2013-03-07T08:20:19Z</cp:lastPrinted>
  <dcterms:created xsi:type="dcterms:W3CDTF">2013-02-25T11:18:49Z</dcterms:created>
  <dcterms:modified xsi:type="dcterms:W3CDTF">2025-09-17T09:32:07Z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0x010100FD8531485B0C104F9C58C50E30CD7832</vt:lpwstr>
  </property>
</Properties>
</file>