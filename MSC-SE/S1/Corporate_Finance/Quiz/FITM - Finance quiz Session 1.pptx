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theme/theme2.xml" ContentType="application/vnd.openxmlformats-officedocument.theme+xml"/>
  <Override PartName="/ppt/theme/theme3.xml" ContentType="application/vnd.openxmlformats-officedocument.them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27"/>
  </p:notesMasterIdLst>
  <p:handoutMasterIdLst>
    <p:handoutMasterId r:id="rId28"/>
  </p:handoutMasterIdLst>
  <p:sldIdLst>
    <p:sldId id="256" r:id="rId2"/>
    <p:sldId id="463" r:id="rId3"/>
    <p:sldId id="488" r:id="rId4"/>
    <p:sldId id="489" r:id="rId5"/>
    <p:sldId id="490" r:id="rId6"/>
    <p:sldId id="491" r:id="rId7"/>
    <p:sldId id="492" r:id="rId8"/>
    <p:sldId id="493" r:id="rId9"/>
    <p:sldId id="494" r:id="rId10"/>
    <p:sldId id="495" r:id="rId11"/>
    <p:sldId id="496" r:id="rId12"/>
    <p:sldId id="497" r:id="rId13"/>
    <p:sldId id="498" r:id="rId14"/>
    <p:sldId id="499" r:id="rId15"/>
    <p:sldId id="500" r:id="rId16"/>
    <p:sldId id="501" r:id="rId17"/>
    <p:sldId id="502" r:id="rId18"/>
    <p:sldId id="503" r:id="rId19"/>
    <p:sldId id="505" r:id="rId20"/>
    <p:sldId id="506" r:id="rId21"/>
    <p:sldId id="507" r:id="rId22"/>
    <p:sldId id="508" r:id="rId23"/>
    <p:sldId id="509" r:id="rId24"/>
    <p:sldId id="510" r:id="rId25"/>
    <p:sldId id="315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4" clrMode="bw" frameSlides="1"/>
  <p:clrMru>
    <a:srgbClr val="185C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5865" autoAdjust="0"/>
  </p:normalViewPr>
  <p:slideViewPr>
    <p:cSldViewPr snapToGrid="0" snapToObjects="1">
      <p:cViewPr varScale="1">
        <p:scale>
          <a:sx n="117" d="100"/>
          <a:sy n="117" d="100"/>
        </p:scale>
        <p:origin x="1408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41" d="100"/>
        <a:sy n="141" d="100"/>
      </p:scale>
      <p:origin x="0" y="651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ustomXml" Target="../customXml/item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35" Type="http://schemas.openxmlformats.org/officeDocument/2006/relationships/customXml" Target="../customXml/item3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9F7FC8-EDF1-B745-B794-DEBC2B28F3A5}" type="datetimeFigureOut">
              <a:rPr lang="en-US" smtClean="0"/>
              <a:t>9/17/25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CC7BF8-8EEA-E746-B6B1-70A030903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1955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97C15C-9360-D846-82FF-FB09835C3991}" type="datetimeFigureOut">
              <a:rPr lang="en-US" smtClean="0"/>
              <a:t>9/17/25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7098D7-F03D-454D-A4F0-32B46C79E6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0193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 userDrawn="1"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fr-FR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E2307-1E40-4E12-8716-25BFDA8E7013}" type="datetime1">
              <a:rPr lang="en-US" smtClean="0"/>
              <a:pPr/>
              <a:t>9/17/25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D9D02-426E-46C9-9EE9-0DE1EF8B2838}" type="datetime1">
              <a:rPr lang="en-US" smtClean="0"/>
              <a:pPr/>
              <a:t>9/17/25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fr-FR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AEBBE-F8B2-42CF-9895-E86A608384EB}" type="datetime1">
              <a:rPr lang="en-US" smtClean="0"/>
              <a:pPr/>
              <a:t>9/17/25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AA6B6-10E5-4810-BC9F-DA72D8452E73}" type="datetime1">
              <a:rPr lang="en-US" smtClean="0"/>
              <a:pPr/>
              <a:t>9/17/25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D072-EF12-4AA2-BD71-ABC68B06D0E2}" type="datetime1">
              <a:rPr lang="en-US" smtClean="0"/>
              <a:pPr/>
              <a:t>9/17/25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BF60-6CC3-4B74-A60D-3486985E4346}" type="datetime1">
              <a:rPr lang="en-US" smtClean="0"/>
              <a:pPr/>
              <a:t>9/17/25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14818-984F-4759-BF72-A33BDC1963BD}" type="datetime1">
              <a:rPr lang="en-US" smtClean="0"/>
              <a:pPr/>
              <a:t>9/17/25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7E191-5F94-4FC1-B823-BD7CABF7FA06}" type="datetime1">
              <a:rPr lang="en-US" smtClean="0"/>
              <a:pPr/>
              <a:t>9/17/25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fr-FR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56D55-EFBE-4F9B-8A5F-09D42CA22A9B}" type="datetime1">
              <a:rPr lang="en-US" smtClean="0"/>
              <a:pPr/>
              <a:t>9/17/25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Drag picture to placeholder or click icon to add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FCF5A-EA79-452C-A52C-1A2668C2E7DF}" type="datetime1">
              <a:rPr lang="en-US" smtClean="0"/>
              <a:pPr/>
              <a:t>9/17/25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C4C28-BD4B-4892-9A2D-6E19BD753A9A}" type="datetime1">
              <a:rPr lang="en-US" smtClean="0"/>
              <a:pPr/>
              <a:t>9/17/25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638" y="457200"/>
            <a:ext cx="8145462" cy="838200"/>
          </a:xfrm>
        </p:spPr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55638" y="1781175"/>
            <a:ext cx="7940675" cy="3571875"/>
          </a:xfrm>
        </p:spPr>
        <p:txBody>
          <a:bodyPr/>
          <a:lstStyle/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631061329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9D1D110F-3F4E-48D9-B8AA-5D0E825AFDBA}" type="datetime1">
              <a:rPr lang="en-US" smtClean="0"/>
              <a:pPr/>
              <a:t>9/17/25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Finance for IT managers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International Masters </a:t>
            </a:r>
          </a:p>
          <a:p>
            <a:r>
              <a:rPr lang="en-US"/>
              <a:t>Fall </a:t>
            </a:r>
            <a:r>
              <a:rPr lang="en-US" dirty="0"/>
              <a:t>2025 program</a:t>
            </a:r>
          </a:p>
        </p:txBody>
      </p:sp>
      <p:pic>
        <p:nvPicPr>
          <p:cNvPr id="4" name="Image 3" descr="\\shares.ionis.epitech.net\EPITA_MASTER_INTERNATIONAUX\Logos\EPITA GRADUATE.jp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3" y="5798820"/>
            <a:ext cx="1869440" cy="1059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6481638" y="6338125"/>
            <a:ext cx="2433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rgbClr val="185CB9"/>
                </a:solidFill>
              </a:rPr>
              <a:t>©</a:t>
            </a:r>
            <a:r>
              <a:rPr lang="en-US" dirty="0"/>
              <a:t> </a:t>
            </a:r>
            <a:r>
              <a:rPr lang="en-US" b="1" dirty="0">
                <a:solidFill>
                  <a:srgbClr val="185CB9"/>
                </a:solidFill>
              </a:rPr>
              <a:t>Sylvie Appriou</a:t>
            </a:r>
          </a:p>
        </p:txBody>
      </p:sp>
    </p:spTree>
    <p:extLst>
      <p:ext uri="{BB962C8B-B14F-4D97-AF65-F5344CB8AC3E}">
        <p14:creationId xmlns:p14="http://schemas.microsoft.com/office/powerpoint/2010/main" val="861334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1610610"/>
            <a:ext cx="7772400" cy="2376950"/>
          </a:xfrm>
        </p:spPr>
        <p:txBody>
          <a:bodyPr/>
          <a:lstStyle/>
          <a:p>
            <a:r>
              <a:rPr lang="en-US" dirty="0"/>
              <a:t>Finance quiz</a:t>
            </a:r>
          </a:p>
        </p:txBody>
      </p:sp>
    </p:spTree>
    <p:extLst>
      <p:ext uri="{BB962C8B-B14F-4D97-AF65-F5344CB8AC3E}">
        <p14:creationId xmlns:p14="http://schemas.microsoft.com/office/powerpoint/2010/main" val="1830751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457200"/>
            <a:ext cx="8145462" cy="838200"/>
          </a:xfrm>
        </p:spPr>
        <p:txBody>
          <a:bodyPr/>
          <a:lstStyle/>
          <a:p>
            <a:pPr eaLnBrk="1" hangingPunct="1"/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Question 1</a:t>
            </a:r>
          </a:p>
        </p:txBody>
      </p:sp>
      <p:sp>
        <p:nvSpPr>
          <p:cNvPr id="7170" name="Rectangle 3"/>
          <p:cNvSpPr>
            <a:spLocks noChangeArrowheads="1"/>
          </p:cNvSpPr>
          <p:nvPr/>
        </p:nvSpPr>
        <p:spPr bwMode="auto">
          <a:xfrm>
            <a:off x="2016125" y="876300"/>
            <a:ext cx="81454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/>
          <a:lstStyle/>
          <a:p>
            <a:pPr algn="l" defTabSz="814388" eaLnBrk="1" hangingPunct="1">
              <a:spcBef>
                <a:spcPct val="50000"/>
              </a:spcBef>
              <a:buClr>
                <a:schemeClr val="tx2"/>
              </a:buClr>
              <a:buFont typeface="Wingdings" charset="0"/>
              <a:buChar char="§"/>
            </a:pPr>
            <a:endParaRPr lang="en-US" sz="2000" b="1"/>
          </a:p>
        </p:txBody>
      </p:sp>
      <p:sp>
        <p:nvSpPr>
          <p:cNvPr id="7171" name="Rectangle 4"/>
          <p:cNvSpPr>
            <a:spLocks noChangeArrowheads="1"/>
          </p:cNvSpPr>
          <p:nvPr/>
        </p:nvSpPr>
        <p:spPr bwMode="auto">
          <a:xfrm>
            <a:off x="503238" y="2400300"/>
            <a:ext cx="7883525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 dirty="0"/>
              <a:t>The </a:t>
            </a:r>
            <a:r>
              <a:rPr lang="fr-FR" b="1" dirty="0" err="1"/>
              <a:t>formal</a:t>
            </a:r>
            <a:r>
              <a:rPr lang="fr-FR" b="1" dirty="0"/>
              <a:t> </a:t>
            </a:r>
            <a:r>
              <a:rPr lang="fr-FR" b="1" dirty="0" err="1"/>
              <a:t>financial</a:t>
            </a:r>
            <a:r>
              <a:rPr lang="fr-FR" b="1" dirty="0"/>
              <a:t> </a:t>
            </a:r>
            <a:r>
              <a:rPr lang="fr-FR" b="1" dirty="0" err="1"/>
              <a:t>statements</a:t>
            </a:r>
            <a:r>
              <a:rPr lang="fr-FR" b="1" dirty="0"/>
              <a:t> are </a:t>
            </a:r>
            <a:r>
              <a:rPr lang="fr-FR" b="1" dirty="0" err="1"/>
              <a:t>prepared</a:t>
            </a:r>
            <a:r>
              <a:rPr lang="fr-FR" b="1" dirty="0"/>
              <a:t> by </a:t>
            </a:r>
            <a:r>
              <a:rPr lang="fr-FR" b="1" dirty="0" err="1"/>
              <a:t>using</a:t>
            </a:r>
            <a:r>
              <a:rPr lang="fr-FR" b="1" dirty="0"/>
              <a:t> a trial balance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 dirty="0"/>
          </a:p>
        </p:txBody>
      </p:sp>
      <p:sp>
        <p:nvSpPr>
          <p:cNvPr id="7172" name="Rectangle 4"/>
          <p:cNvSpPr>
            <a:spLocks noChangeArrowheads="1"/>
          </p:cNvSpPr>
          <p:nvPr/>
        </p:nvSpPr>
        <p:spPr bwMode="auto">
          <a:xfrm>
            <a:off x="687388" y="3181350"/>
            <a:ext cx="788352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/>
              <a:t>False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/>
          </a:p>
        </p:txBody>
      </p:sp>
      <p:sp>
        <p:nvSpPr>
          <p:cNvPr id="7173" name="Rectangle 5"/>
          <p:cNvSpPr>
            <a:spLocks noChangeArrowheads="1"/>
          </p:cNvSpPr>
          <p:nvPr/>
        </p:nvSpPr>
        <p:spPr bwMode="auto">
          <a:xfrm>
            <a:off x="687388" y="3733800"/>
            <a:ext cx="788352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/>
              <a:t>True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/>
          </a:p>
        </p:txBody>
      </p:sp>
    </p:spTree>
    <p:extLst>
      <p:ext uri="{BB962C8B-B14F-4D97-AF65-F5344CB8AC3E}">
        <p14:creationId xmlns:p14="http://schemas.microsoft.com/office/powerpoint/2010/main" val="2786913174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457200"/>
            <a:ext cx="8145462" cy="838200"/>
          </a:xfrm>
        </p:spPr>
        <p:txBody>
          <a:bodyPr/>
          <a:lstStyle/>
          <a:p>
            <a:pPr eaLnBrk="1" hangingPunct="1"/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Question 2</a:t>
            </a:r>
          </a:p>
        </p:txBody>
      </p:sp>
      <p:sp>
        <p:nvSpPr>
          <p:cNvPr id="8194" name="Rectangle 3"/>
          <p:cNvSpPr>
            <a:spLocks noChangeArrowheads="1"/>
          </p:cNvSpPr>
          <p:nvPr/>
        </p:nvSpPr>
        <p:spPr bwMode="auto">
          <a:xfrm>
            <a:off x="2016125" y="876300"/>
            <a:ext cx="81454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/>
          <a:lstStyle/>
          <a:p>
            <a:pPr algn="l" defTabSz="814388" eaLnBrk="1" hangingPunct="1">
              <a:spcBef>
                <a:spcPct val="50000"/>
              </a:spcBef>
              <a:buClr>
                <a:schemeClr val="tx2"/>
              </a:buClr>
              <a:buFont typeface="Wingdings" charset="0"/>
              <a:buChar char="§"/>
            </a:pPr>
            <a:endParaRPr lang="en-US" sz="2000" b="1"/>
          </a:p>
        </p:txBody>
      </p:sp>
      <p:sp>
        <p:nvSpPr>
          <p:cNvPr id="8195" name="Rectangle 4"/>
          <p:cNvSpPr>
            <a:spLocks noChangeArrowheads="1"/>
          </p:cNvSpPr>
          <p:nvPr/>
        </p:nvSpPr>
        <p:spPr bwMode="auto">
          <a:xfrm>
            <a:off x="433388" y="1943100"/>
            <a:ext cx="7883525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 dirty="0"/>
              <a:t>The </a:t>
            </a:r>
            <a:r>
              <a:rPr lang="fr-FR" b="1" dirty="0" err="1"/>
              <a:t>financial</a:t>
            </a:r>
            <a:r>
              <a:rPr lang="fr-FR" b="1" dirty="0"/>
              <a:t> </a:t>
            </a:r>
            <a:r>
              <a:rPr lang="fr-FR" b="1" dirty="0" err="1"/>
              <a:t>statement</a:t>
            </a:r>
            <a:r>
              <a:rPr lang="fr-FR" b="1" dirty="0"/>
              <a:t> </a:t>
            </a:r>
            <a:r>
              <a:rPr lang="fr-FR" b="1" dirty="0" err="1"/>
              <a:t>that</a:t>
            </a:r>
            <a:r>
              <a:rPr lang="fr-FR" b="1" dirty="0"/>
              <a:t> </a:t>
            </a:r>
            <a:r>
              <a:rPr lang="fr-FR" b="1" dirty="0" err="1"/>
              <a:t>summarizes</a:t>
            </a:r>
            <a:r>
              <a:rPr lang="fr-FR" b="1" dirty="0"/>
              <a:t> all the changes in </a:t>
            </a:r>
            <a:r>
              <a:rPr lang="fr-FR" b="1" dirty="0" err="1"/>
              <a:t>owner</a:t>
            </a:r>
            <a:r>
              <a:rPr lang="fr-FR" b="1" dirty="0"/>
              <a:t> ‘s </a:t>
            </a:r>
            <a:r>
              <a:rPr lang="fr-FR" b="1" dirty="0" err="1"/>
              <a:t>equity</a:t>
            </a:r>
            <a:r>
              <a:rPr lang="fr-FR" b="1" dirty="0"/>
              <a:t> </a:t>
            </a:r>
            <a:r>
              <a:rPr lang="fr-FR" b="1" dirty="0" err="1"/>
              <a:t>that</a:t>
            </a:r>
            <a:r>
              <a:rPr lang="fr-FR" b="1" dirty="0"/>
              <a:t> </a:t>
            </a:r>
            <a:r>
              <a:rPr lang="fr-FR" b="1" dirty="0" err="1"/>
              <a:t>occured</a:t>
            </a:r>
            <a:r>
              <a:rPr lang="fr-FR" b="1" dirty="0"/>
              <a:t> </a:t>
            </a:r>
            <a:r>
              <a:rPr lang="fr-FR" b="1" dirty="0" err="1"/>
              <a:t>during</a:t>
            </a:r>
            <a:r>
              <a:rPr lang="fr-FR" b="1" dirty="0"/>
              <a:t> a </a:t>
            </a:r>
            <a:r>
              <a:rPr lang="fr-FR" b="1" dirty="0" err="1"/>
              <a:t>period</a:t>
            </a:r>
            <a:r>
              <a:rPr lang="fr-FR" b="1" dirty="0"/>
              <a:t> </a:t>
            </a:r>
            <a:r>
              <a:rPr lang="fr-FR" b="1" dirty="0" err="1"/>
              <a:t>is</a:t>
            </a:r>
            <a:r>
              <a:rPr lang="fr-FR" b="1" dirty="0"/>
              <a:t> </a:t>
            </a:r>
            <a:r>
              <a:rPr lang="fr-FR" b="1" dirty="0" err="1"/>
              <a:t>called</a:t>
            </a:r>
            <a:r>
              <a:rPr lang="fr-FR" b="1" dirty="0"/>
              <a:t> the Capital </a:t>
            </a:r>
            <a:r>
              <a:rPr lang="fr-FR" b="1" dirty="0" err="1"/>
              <a:t>Statement</a:t>
            </a:r>
            <a:r>
              <a:rPr lang="fr-FR" b="1" dirty="0"/>
              <a:t> 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 dirty="0"/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687388" y="3181350"/>
            <a:ext cx="788352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/>
              <a:t>False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/>
          </a:p>
        </p:txBody>
      </p:sp>
      <p:sp>
        <p:nvSpPr>
          <p:cNvPr id="8197" name="Rectangle 5"/>
          <p:cNvSpPr>
            <a:spLocks noChangeArrowheads="1"/>
          </p:cNvSpPr>
          <p:nvPr/>
        </p:nvSpPr>
        <p:spPr bwMode="auto">
          <a:xfrm>
            <a:off x="687388" y="3733800"/>
            <a:ext cx="788352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/>
              <a:t>True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/>
          </a:p>
        </p:txBody>
      </p:sp>
    </p:spTree>
    <p:extLst>
      <p:ext uri="{BB962C8B-B14F-4D97-AF65-F5344CB8AC3E}">
        <p14:creationId xmlns:p14="http://schemas.microsoft.com/office/powerpoint/2010/main" val="266133482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457200"/>
            <a:ext cx="8145462" cy="838200"/>
          </a:xfrm>
        </p:spPr>
        <p:txBody>
          <a:bodyPr/>
          <a:lstStyle/>
          <a:p>
            <a:pPr eaLnBrk="1" hangingPunct="1"/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Question 3</a:t>
            </a:r>
          </a:p>
        </p:txBody>
      </p:sp>
      <p:sp>
        <p:nvSpPr>
          <p:cNvPr id="9218" name="Rectangle 3"/>
          <p:cNvSpPr>
            <a:spLocks noChangeArrowheads="1"/>
          </p:cNvSpPr>
          <p:nvPr/>
        </p:nvSpPr>
        <p:spPr bwMode="auto">
          <a:xfrm>
            <a:off x="2016125" y="876300"/>
            <a:ext cx="81454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/>
          <a:lstStyle/>
          <a:p>
            <a:pPr algn="l" defTabSz="814388" eaLnBrk="1" hangingPunct="1">
              <a:spcBef>
                <a:spcPct val="50000"/>
              </a:spcBef>
              <a:buClr>
                <a:schemeClr val="tx2"/>
              </a:buClr>
              <a:buFont typeface="Wingdings" charset="0"/>
              <a:buChar char="§"/>
            </a:pPr>
            <a:endParaRPr lang="en-US" sz="2000" b="1"/>
          </a:p>
        </p:txBody>
      </p:sp>
      <p:sp>
        <p:nvSpPr>
          <p:cNvPr id="9219" name="Rectangle 4"/>
          <p:cNvSpPr>
            <a:spLocks noChangeArrowheads="1"/>
          </p:cNvSpPr>
          <p:nvPr/>
        </p:nvSpPr>
        <p:spPr bwMode="auto">
          <a:xfrm>
            <a:off x="534988" y="2178050"/>
            <a:ext cx="7883525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 dirty="0"/>
              <a:t>All the Revenue, </a:t>
            </a:r>
            <a:r>
              <a:rPr lang="fr-FR" b="1" dirty="0" err="1"/>
              <a:t>Expense</a:t>
            </a:r>
            <a:r>
              <a:rPr lang="fr-FR" b="1" dirty="0"/>
              <a:t> and </a:t>
            </a:r>
            <a:r>
              <a:rPr lang="fr-FR" b="1" dirty="0" err="1"/>
              <a:t>Draw</a:t>
            </a:r>
            <a:r>
              <a:rPr lang="fr-FR" b="1" dirty="0"/>
              <a:t> </a:t>
            </a:r>
            <a:r>
              <a:rPr lang="fr-FR" b="1" dirty="0" err="1"/>
              <a:t>accounts</a:t>
            </a:r>
            <a:r>
              <a:rPr lang="fr-FR" b="1" dirty="0"/>
              <a:t> balance are reset to </a:t>
            </a:r>
            <a:r>
              <a:rPr lang="fr-FR" b="1" dirty="0" err="1"/>
              <a:t>zero</a:t>
            </a:r>
            <a:r>
              <a:rPr lang="fr-FR" b="1" dirty="0"/>
              <a:t> </a:t>
            </a:r>
            <a:r>
              <a:rPr lang="fr-FR" b="1" dirty="0" err="1"/>
              <a:t>at</a:t>
            </a:r>
            <a:r>
              <a:rPr lang="fr-FR" b="1" dirty="0"/>
              <a:t> the end of a business </a:t>
            </a:r>
            <a:r>
              <a:rPr lang="fr-FR" b="1" dirty="0" err="1"/>
              <a:t>accounting</a:t>
            </a:r>
            <a:r>
              <a:rPr lang="fr-FR" b="1" dirty="0"/>
              <a:t> </a:t>
            </a:r>
            <a:r>
              <a:rPr lang="fr-FR" b="1" dirty="0" err="1"/>
              <a:t>year</a:t>
            </a:r>
            <a:endParaRPr lang="fr-FR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 dirty="0"/>
          </a:p>
        </p:txBody>
      </p:sp>
      <p:sp>
        <p:nvSpPr>
          <p:cNvPr id="9220" name="Rectangle 4"/>
          <p:cNvSpPr>
            <a:spLocks noChangeArrowheads="1"/>
          </p:cNvSpPr>
          <p:nvPr/>
        </p:nvSpPr>
        <p:spPr bwMode="auto">
          <a:xfrm>
            <a:off x="687388" y="3181350"/>
            <a:ext cx="788352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/>
              <a:t>False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/>
          </a:p>
        </p:txBody>
      </p:sp>
      <p:sp>
        <p:nvSpPr>
          <p:cNvPr id="9221" name="Rectangle 5"/>
          <p:cNvSpPr>
            <a:spLocks noChangeArrowheads="1"/>
          </p:cNvSpPr>
          <p:nvPr/>
        </p:nvSpPr>
        <p:spPr bwMode="auto">
          <a:xfrm>
            <a:off x="687388" y="3733800"/>
            <a:ext cx="788352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/>
              <a:t>True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/>
          </a:p>
        </p:txBody>
      </p:sp>
    </p:spTree>
    <p:extLst>
      <p:ext uri="{BB962C8B-B14F-4D97-AF65-F5344CB8AC3E}">
        <p14:creationId xmlns:p14="http://schemas.microsoft.com/office/powerpoint/2010/main" val="1835529586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457200"/>
            <a:ext cx="8145462" cy="838200"/>
          </a:xfrm>
        </p:spPr>
        <p:txBody>
          <a:bodyPr/>
          <a:lstStyle/>
          <a:p>
            <a:pPr eaLnBrk="1" hangingPunct="1"/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Question 4</a:t>
            </a:r>
          </a:p>
        </p:txBody>
      </p:sp>
      <p:sp>
        <p:nvSpPr>
          <p:cNvPr id="10242" name="Rectangle 3"/>
          <p:cNvSpPr>
            <a:spLocks noChangeArrowheads="1"/>
          </p:cNvSpPr>
          <p:nvPr/>
        </p:nvSpPr>
        <p:spPr bwMode="auto">
          <a:xfrm>
            <a:off x="2016125" y="876300"/>
            <a:ext cx="81454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/>
          <a:lstStyle/>
          <a:p>
            <a:pPr algn="l" defTabSz="814388" eaLnBrk="1" hangingPunct="1">
              <a:spcBef>
                <a:spcPct val="50000"/>
              </a:spcBef>
              <a:buClr>
                <a:schemeClr val="tx2"/>
              </a:buClr>
              <a:buFont typeface="Wingdings" charset="0"/>
              <a:buChar char="§"/>
            </a:pPr>
            <a:endParaRPr lang="en-US" sz="2000" b="1"/>
          </a:p>
        </p:txBody>
      </p:sp>
      <p:sp>
        <p:nvSpPr>
          <p:cNvPr id="10243" name="Rectangle 4"/>
          <p:cNvSpPr>
            <a:spLocks noChangeArrowheads="1"/>
          </p:cNvSpPr>
          <p:nvPr/>
        </p:nvSpPr>
        <p:spPr bwMode="auto">
          <a:xfrm>
            <a:off x="534988" y="2432050"/>
            <a:ext cx="7883525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 dirty="0"/>
              <a:t>An </a:t>
            </a:r>
            <a:r>
              <a:rPr lang="fr-FR" b="1" dirty="0" err="1"/>
              <a:t>Income</a:t>
            </a:r>
            <a:r>
              <a:rPr lang="fr-FR" b="1" dirty="0"/>
              <a:t> </a:t>
            </a:r>
            <a:r>
              <a:rPr lang="fr-FR" b="1" dirty="0" err="1"/>
              <a:t>Statement</a:t>
            </a:r>
            <a:r>
              <a:rPr lang="fr-FR" b="1" dirty="0"/>
              <a:t> </a:t>
            </a:r>
            <a:r>
              <a:rPr lang="fr-FR" b="1" dirty="0" err="1"/>
              <a:t>is</a:t>
            </a:r>
            <a:r>
              <a:rPr lang="fr-FR" b="1" dirty="0"/>
              <a:t> </a:t>
            </a:r>
            <a:r>
              <a:rPr lang="fr-FR" b="1" dirty="0" err="1"/>
              <a:t>also</a:t>
            </a:r>
            <a:r>
              <a:rPr lang="fr-FR" b="1" dirty="0"/>
              <a:t> </a:t>
            </a:r>
            <a:r>
              <a:rPr lang="fr-FR" b="1" dirty="0" err="1"/>
              <a:t>often</a:t>
            </a:r>
            <a:r>
              <a:rPr lang="fr-FR" b="1" dirty="0"/>
              <a:t> </a:t>
            </a:r>
            <a:r>
              <a:rPr lang="fr-FR" b="1" dirty="0" err="1"/>
              <a:t>referred</a:t>
            </a:r>
            <a:r>
              <a:rPr lang="fr-FR" b="1" dirty="0"/>
              <a:t> to as a Profit and </a:t>
            </a:r>
            <a:r>
              <a:rPr lang="fr-FR" b="1" dirty="0" err="1"/>
              <a:t>Loss</a:t>
            </a:r>
            <a:r>
              <a:rPr lang="fr-FR" b="1" dirty="0"/>
              <a:t> </a:t>
            </a:r>
            <a:r>
              <a:rPr lang="fr-FR" b="1" dirty="0" err="1"/>
              <a:t>statement</a:t>
            </a:r>
            <a:endParaRPr lang="fr-FR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 dirty="0"/>
          </a:p>
        </p:txBody>
      </p:sp>
      <p:sp>
        <p:nvSpPr>
          <p:cNvPr id="10244" name="Rectangle 4"/>
          <p:cNvSpPr>
            <a:spLocks noChangeArrowheads="1"/>
          </p:cNvSpPr>
          <p:nvPr/>
        </p:nvSpPr>
        <p:spPr bwMode="auto">
          <a:xfrm>
            <a:off x="687388" y="3181350"/>
            <a:ext cx="788352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/>
              <a:t>False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/>
          </a:p>
        </p:txBody>
      </p:sp>
      <p:sp>
        <p:nvSpPr>
          <p:cNvPr id="10245" name="Rectangle 5"/>
          <p:cNvSpPr>
            <a:spLocks noChangeArrowheads="1"/>
          </p:cNvSpPr>
          <p:nvPr/>
        </p:nvSpPr>
        <p:spPr bwMode="auto">
          <a:xfrm>
            <a:off x="687388" y="3733800"/>
            <a:ext cx="788352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/>
              <a:t>True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/>
          </a:p>
        </p:txBody>
      </p:sp>
    </p:spTree>
    <p:extLst>
      <p:ext uri="{BB962C8B-B14F-4D97-AF65-F5344CB8AC3E}">
        <p14:creationId xmlns:p14="http://schemas.microsoft.com/office/powerpoint/2010/main" val="378249860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457200"/>
            <a:ext cx="8145462" cy="838200"/>
          </a:xfrm>
        </p:spPr>
        <p:txBody>
          <a:bodyPr/>
          <a:lstStyle/>
          <a:p>
            <a:pPr eaLnBrk="1" hangingPunct="1"/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Question 5</a:t>
            </a:r>
          </a:p>
        </p:txBody>
      </p:sp>
      <p:sp>
        <p:nvSpPr>
          <p:cNvPr id="11266" name="Rectangle 3"/>
          <p:cNvSpPr>
            <a:spLocks noChangeArrowheads="1"/>
          </p:cNvSpPr>
          <p:nvPr/>
        </p:nvSpPr>
        <p:spPr bwMode="auto">
          <a:xfrm>
            <a:off x="2016125" y="876300"/>
            <a:ext cx="81454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/>
          <a:lstStyle/>
          <a:p>
            <a:pPr algn="l" defTabSz="814388" eaLnBrk="1" hangingPunct="1">
              <a:spcBef>
                <a:spcPct val="50000"/>
              </a:spcBef>
              <a:buClr>
                <a:schemeClr val="tx2"/>
              </a:buClr>
              <a:buFont typeface="Wingdings" charset="0"/>
              <a:buChar char="§"/>
            </a:pPr>
            <a:endParaRPr lang="en-US" sz="2000" b="1"/>
          </a:p>
        </p:txBody>
      </p:sp>
      <p:sp>
        <p:nvSpPr>
          <p:cNvPr id="11267" name="Rectangle 4"/>
          <p:cNvSpPr>
            <a:spLocks noChangeArrowheads="1"/>
          </p:cNvSpPr>
          <p:nvPr/>
        </p:nvSpPr>
        <p:spPr bwMode="auto">
          <a:xfrm>
            <a:off x="534988" y="2343150"/>
            <a:ext cx="7883525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 dirty="0"/>
              <a:t>All Balance </a:t>
            </a:r>
            <a:r>
              <a:rPr lang="fr-FR" b="1" dirty="0" err="1"/>
              <a:t>Sheets</a:t>
            </a:r>
            <a:r>
              <a:rPr lang="fr-FR" b="1" dirty="0"/>
              <a:t> have the </a:t>
            </a:r>
            <a:r>
              <a:rPr lang="fr-FR" b="1" dirty="0" err="1"/>
              <a:t>same</a:t>
            </a:r>
            <a:r>
              <a:rPr lang="fr-FR" b="1" dirty="0"/>
              <a:t> basic </a:t>
            </a:r>
            <a:r>
              <a:rPr lang="fr-FR" b="1" dirty="0" err="1"/>
              <a:t>categories</a:t>
            </a:r>
            <a:r>
              <a:rPr lang="fr-FR" b="1" dirty="0"/>
              <a:t> of </a:t>
            </a:r>
            <a:r>
              <a:rPr lang="fr-FR" b="1" dirty="0" err="1"/>
              <a:t>income</a:t>
            </a:r>
            <a:r>
              <a:rPr lang="fr-FR" b="1" dirty="0"/>
              <a:t> and </a:t>
            </a:r>
            <a:r>
              <a:rPr lang="fr-FR" b="1" dirty="0" err="1"/>
              <a:t>expenses</a:t>
            </a:r>
            <a:endParaRPr lang="fr-FR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 dirty="0"/>
          </a:p>
        </p:txBody>
      </p:sp>
      <p:sp>
        <p:nvSpPr>
          <p:cNvPr id="11268" name="Rectangle 4"/>
          <p:cNvSpPr>
            <a:spLocks noChangeArrowheads="1"/>
          </p:cNvSpPr>
          <p:nvPr/>
        </p:nvSpPr>
        <p:spPr bwMode="auto">
          <a:xfrm>
            <a:off x="687388" y="3181350"/>
            <a:ext cx="788352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/>
              <a:t>False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/>
          </a:p>
        </p:txBody>
      </p:sp>
      <p:sp>
        <p:nvSpPr>
          <p:cNvPr id="11269" name="Rectangle 5"/>
          <p:cNvSpPr>
            <a:spLocks noChangeArrowheads="1"/>
          </p:cNvSpPr>
          <p:nvPr/>
        </p:nvSpPr>
        <p:spPr bwMode="auto">
          <a:xfrm>
            <a:off x="687388" y="3733800"/>
            <a:ext cx="788352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/>
              <a:t>True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/>
          </a:p>
        </p:txBody>
      </p:sp>
    </p:spTree>
    <p:extLst>
      <p:ext uri="{BB962C8B-B14F-4D97-AF65-F5344CB8AC3E}">
        <p14:creationId xmlns:p14="http://schemas.microsoft.com/office/powerpoint/2010/main" val="3430801416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666750"/>
            <a:ext cx="8145462" cy="838200"/>
          </a:xfrm>
        </p:spPr>
        <p:txBody>
          <a:bodyPr/>
          <a:lstStyle/>
          <a:p>
            <a:pPr eaLnBrk="1" hangingPunct="1"/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Question 6</a:t>
            </a:r>
            <a:br>
              <a:rPr lang="en-US">
                <a:latin typeface="Arial" charset="0"/>
                <a:ea typeface="ＭＳ Ｐゴシック" charset="0"/>
                <a:cs typeface="ＭＳ Ｐゴシック" charset="0"/>
              </a:rPr>
            </a:br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2290" name="Rectangle 3"/>
          <p:cNvSpPr>
            <a:spLocks noChangeArrowheads="1"/>
          </p:cNvSpPr>
          <p:nvPr/>
        </p:nvSpPr>
        <p:spPr bwMode="auto">
          <a:xfrm>
            <a:off x="2016125" y="876300"/>
            <a:ext cx="81454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/>
          <a:lstStyle/>
          <a:p>
            <a:pPr algn="l" defTabSz="814388" eaLnBrk="1" hangingPunct="1">
              <a:spcBef>
                <a:spcPct val="50000"/>
              </a:spcBef>
              <a:buClr>
                <a:schemeClr val="tx2"/>
              </a:buClr>
              <a:buFont typeface="Wingdings" charset="0"/>
              <a:buChar char="§"/>
            </a:pPr>
            <a:endParaRPr lang="en-US" sz="2000" b="1"/>
          </a:p>
        </p:txBody>
      </p:sp>
      <p:sp>
        <p:nvSpPr>
          <p:cNvPr id="12291" name="Rectangle 4"/>
          <p:cNvSpPr>
            <a:spLocks noChangeArrowheads="1"/>
          </p:cNvSpPr>
          <p:nvPr/>
        </p:nvSpPr>
        <p:spPr bwMode="auto">
          <a:xfrm>
            <a:off x="534988" y="2006600"/>
            <a:ext cx="7883525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 dirty="0"/>
              <a:t>The </a:t>
            </a:r>
            <a:r>
              <a:rPr lang="fr-FR" b="1" dirty="0" err="1"/>
              <a:t>financial</a:t>
            </a:r>
            <a:r>
              <a:rPr lang="fr-FR" b="1" dirty="0"/>
              <a:t> </a:t>
            </a:r>
            <a:r>
              <a:rPr lang="fr-FR" b="1" dirty="0" err="1"/>
              <a:t>statement</a:t>
            </a:r>
            <a:r>
              <a:rPr lang="fr-FR" b="1" dirty="0"/>
              <a:t> </a:t>
            </a:r>
            <a:r>
              <a:rPr lang="fr-FR" b="1" dirty="0" err="1"/>
              <a:t>that</a:t>
            </a:r>
            <a:r>
              <a:rPr lang="fr-FR" b="1" dirty="0"/>
              <a:t> </a:t>
            </a:r>
            <a:r>
              <a:rPr lang="fr-FR" b="1" dirty="0" err="1"/>
              <a:t>summarizes</a:t>
            </a:r>
            <a:r>
              <a:rPr lang="fr-FR" b="1" dirty="0"/>
              <a:t> revenues and </a:t>
            </a:r>
            <a:r>
              <a:rPr lang="fr-FR" b="1" dirty="0" err="1"/>
              <a:t>expenses</a:t>
            </a:r>
            <a:r>
              <a:rPr lang="fr-FR" b="1" dirty="0"/>
              <a:t> for a </a:t>
            </a:r>
            <a:r>
              <a:rPr lang="fr-FR" b="1" dirty="0" err="1"/>
              <a:t>specific</a:t>
            </a:r>
            <a:r>
              <a:rPr lang="fr-FR" b="1" dirty="0"/>
              <a:t> </a:t>
            </a:r>
            <a:r>
              <a:rPr lang="fr-FR" b="1" dirty="0" err="1"/>
              <a:t>period</a:t>
            </a:r>
            <a:r>
              <a:rPr lang="fr-FR" b="1" dirty="0"/>
              <a:t> of time </a:t>
            </a:r>
            <a:r>
              <a:rPr lang="fr-FR" b="1" dirty="0" err="1"/>
              <a:t>such</a:t>
            </a:r>
            <a:r>
              <a:rPr lang="fr-FR" b="1" dirty="0"/>
              <a:t> as a </a:t>
            </a:r>
            <a:r>
              <a:rPr lang="fr-FR" b="1" dirty="0" err="1"/>
              <a:t>year</a:t>
            </a:r>
            <a:r>
              <a:rPr lang="fr-FR" b="1" dirty="0"/>
              <a:t> </a:t>
            </a:r>
            <a:r>
              <a:rPr lang="fr-FR" b="1" dirty="0" err="1"/>
              <a:t>is</a:t>
            </a:r>
            <a:r>
              <a:rPr lang="fr-FR" b="1" dirty="0"/>
              <a:t> :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 dirty="0"/>
          </a:p>
        </p:txBody>
      </p:sp>
      <p:sp>
        <p:nvSpPr>
          <p:cNvPr id="12292" name="Rectangle 4"/>
          <p:cNvSpPr>
            <a:spLocks noChangeArrowheads="1"/>
          </p:cNvSpPr>
          <p:nvPr/>
        </p:nvSpPr>
        <p:spPr bwMode="auto">
          <a:xfrm>
            <a:off x="687388" y="3048000"/>
            <a:ext cx="788352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/>
              <a:t>Balance sheet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/>
          </a:p>
        </p:txBody>
      </p:sp>
      <p:sp>
        <p:nvSpPr>
          <p:cNvPr id="12293" name="Rectangle 5"/>
          <p:cNvSpPr>
            <a:spLocks noChangeArrowheads="1"/>
          </p:cNvSpPr>
          <p:nvPr/>
        </p:nvSpPr>
        <p:spPr bwMode="auto">
          <a:xfrm>
            <a:off x="687388" y="3543300"/>
            <a:ext cx="788352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/>
              <a:t>None of the listed answer is correct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/>
          </a:p>
        </p:txBody>
      </p:sp>
      <p:sp>
        <p:nvSpPr>
          <p:cNvPr id="12294" name="Rectangle 6"/>
          <p:cNvSpPr>
            <a:spLocks noChangeArrowheads="1"/>
          </p:cNvSpPr>
          <p:nvPr/>
        </p:nvSpPr>
        <p:spPr bwMode="auto">
          <a:xfrm>
            <a:off x="687388" y="4057650"/>
            <a:ext cx="788352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/>
              <a:t>Capital statement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/>
          </a:p>
        </p:txBody>
      </p:sp>
      <p:sp>
        <p:nvSpPr>
          <p:cNvPr id="12295" name="Rectangle 7"/>
          <p:cNvSpPr>
            <a:spLocks noChangeArrowheads="1"/>
          </p:cNvSpPr>
          <p:nvPr/>
        </p:nvSpPr>
        <p:spPr bwMode="auto">
          <a:xfrm>
            <a:off x="687388" y="4552950"/>
            <a:ext cx="788352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/>
              <a:t>Income statement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/>
          </a:p>
        </p:txBody>
      </p:sp>
    </p:spTree>
    <p:extLst>
      <p:ext uri="{BB962C8B-B14F-4D97-AF65-F5344CB8AC3E}">
        <p14:creationId xmlns:p14="http://schemas.microsoft.com/office/powerpoint/2010/main" val="94777678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666750"/>
            <a:ext cx="8145462" cy="838200"/>
          </a:xfrm>
        </p:spPr>
        <p:txBody>
          <a:bodyPr/>
          <a:lstStyle/>
          <a:p>
            <a:pPr eaLnBrk="1" hangingPunct="1"/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Question 7</a:t>
            </a:r>
            <a:br>
              <a:rPr lang="en-US">
                <a:latin typeface="Arial" charset="0"/>
                <a:ea typeface="ＭＳ Ｐゴシック" charset="0"/>
                <a:cs typeface="ＭＳ Ｐゴシック" charset="0"/>
              </a:rPr>
            </a:br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3314" name="Rectangle 3"/>
          <p:cNvSpPr>
            <a:spLocks noChangeArrowheads="1"/>
          </p:cNvSpPr>
          <p:nvPr/>
        </p:nvSpPr>
        <p:spPr bwMode="auto">
          <a:xfrm>
            <a:off x="2016125" y="876300"/>
            <a:ext cx="81454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/>
          <a:lstStyle/>
          <a:p>
            <a:pPr algn="l" defTabSz="814388" eaLnBrk="1" hangingPunct="1">
              <a:spcBef>
                <a:spcPct val="50000"/>
              </a:spcBef>
              <a:buClr>
                <a:schemeClr val="tx2"/>
              </a:buClr>
              <a:buFont typeface="Wingdings" charset="0"/>
              <a:buChar char="§"/>
            </a:pPr>
            <a:endParaRPr lang="en-US" sz="2000" b="1"/>
          </a:p>
        </p:txBody>
      </p:sp>
      <p:sp>
        <p:nvSpPr>
          <p:cNvPr id="13315" name="Rectangle 4"/>
          <p:cNvSpPr>
            <a:spLocks noChangeArrowheads="1"/>
          </p:cNvSpPr>
          <p:nvPr/>
        </p:nvSpPr>
        <p:spPr bwMode="auto">
          <a:xfrm>
            <a:off x="473076" y="2044700"/>
            <a:ext cx="7883525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 dirty="0" err="1"/>
              <a:t>Additional</a:t>
            </a:r>
            <a:r>
              <a:rPr lang="fr-FR" b="1" dirty="0"/>
              <a:t> information </a:t>
            </a:r>
            <a:r>
              <a:rPr lang="fr-FR" b="1" dirty="0" err="1"/>
              <a:t>provided</a:t>
            </a:r>
            <a:r>
              <a:rPr lang="fr-FR" b="1" dirty="0"/>
              <a:t> about a business </a:t>
            </a:r>
            <a:r>
              <a:rPr lang="fr-FR" b="1" dirty="0" err="1"/>
              <a:t>financial</a:t>
            </a:r>
            <a:r>
              <a:rPr lang="fr-FR" b="1" dirty="0"/>
              <a:t> condition and </a:t>
            </a:r>
            <a:r>
              <a:rPr lang="fr-FR" b="1" dirty="0" err="1"/>
              <a:t>methods</a:t>
            </a:r>
            <a:r>
              <a:rPr lang="fr-FR" b="1" dirty="0"/>
              <a:t> </a:t>
            </a:r>
            <a:r>
              <a:rPr lang="fr-FR" b="1" dirty="0" err="1"/>
              <a:t>used</a:t>
            </a:r>
            <a:r>
              <a:rPr lang="fr-FR" b="1" dirty="0"/>
              <a:t> in </a:t>
            </a:r>
            <a:r>
              <a:rPr lang="fr-FR" b="1" dirty="0" err="1"/>
              <a:t>preparing</a:t>
            </a:r>
            <a:r>
              <a:rPr lang="fr-FR" b="1" dirty="0"/>
              <a:t> Financial </a:t>
            </a:r>
            <a:r>
              <a:rPr lang="fr-FR" b="1" dirty="0" err="1"/>
              <a:t>statements</a:t>
            </a:r>
            <a:r>
              <a:rPr lang="fr-FR" b="1" dirty="0"/>
              <a:t> are </a:t>
            </a:r>
            <a:r>
              <a:rPr lang="fr-FR" b="1" dirty="0" err="1"/>
              <a:t>called</a:t>
            </a:r>
            <a:r>
              <a:rPr lang="fr-FR" b="1" dirty="0"/>
              <a:t> :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 dirty="0"/>
          </a:p>
        </p:txBody>
      </p:sp>
      <p:sp>
        <p:nvSpPr>
          <p:cNvPr id="13316" name="Rectangle 4"/>
          <p:cNvSpPr>
            <a:spLocks noChangeArrowheads="1"/>
          </p:cNvSpPr>
          <p:nvPr/>
        </p:nvSpPr>
        <p:spPr bwMode="auto">
          <a:xfrm>
            <a:off x="687388" y="3048000"/>
            <a:ext cx="788352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/>
              <a:t>Management summary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/>
          </a:p>
        </p:txBody>
      </p:sp>
      <p:sp>
        <p:nvSpPr>
          <p:cNvPr id="13317" name="Rectangle 5"/>
          <p:cNvSpPr>
            <a:spLocks noChangeArrowheads="1"/>
          </p:cNvSpPr>
          <p:nvPr/>
        </p:nvSpPr>
        <p:spPr bwMode="auto">
          <a:xfrm>
            <a:off x="687388" y="3543300"/>
            <a:ext cx="788352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/>
              <a:t>Owner’s supplemental information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/>
          </a:p>
        </p:txBody>
      </p:sp>
      <p:sp>
        <p:nvSpPr>
          <p:cNvPr id="13318" name="Rectangle 6"/>
          <p:cNvSpPr>
            <a:spLocks noChangeArrowheads="1"/>
          </p:cNvSpPr>
          <p:nvPr/>
        </p:nvSpPr>
        <p:spPr bwMode="auto">
          <a:xfrm>
            <a:off x="687388" y="4057650"/>
            <a:ext cx="788352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/>
              <a:t>Notes to the Financial statements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/>
          </a:p>
        </p:txBody>
      </p:sp>
      <p:sp>
        <p:nvSpPr>
          <p:cNvPr id="13319" name="Rectangle 7"/>
          <p:cNvSpPr>
            <a:spLocks noChangeArrowheads="1"/>
          </p:cNvSpPr>
          <p:nvPr/>
        </p:nvSpPr>
        <p:spPr bwMode="auto">
          <a:xfrm>
            <a:off x="687388" y="4552950"/>
            <a:ext cx="788352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/>
              <a:t>Creditor’s notes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/>
          </a:p>
        </p:txBody>
      </p:sp>
    </p:spTree>
    <p:extLst>
      <p:ext uri="{BB962C8B-B14F-4D97-AF65-F5344CB8AC3E}">
        <p14:creationId xmlns:p14="http://schemas.microsoft.com/office/powerpoint/2010/main" val="3702361793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666750"/>
            <a:ext cx="8145462" cy="838200"/>
          </a:xfrm>
        </p:spPr>
        <p:txBody>
          <a:bodyPr/>
          <a:lstStyle/>
          <a:p>
            <a:pPr eaLnBrk="1" hangingPunct="1"/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Question 8</a:t>
            </a:r>
            <a:br>
              <a:rPr lang="en-US">
                <a:latin typeface="Arial" charset="0"/>
                <a:ea typeface="ＭＳ Ｐゴシック" charset="0"/>
                <a:cs typeface="ＭＳ Ｐゴシック" charset="0"/>
              </a:rPr>
            </a:br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4338" name="Rectangle 3"/>
          <p:cNvSpPr>
            <a:spLocks noChangeArrowheads="1"/>
          </p:cNvSpPr>
          <p:nvPr/>
        </p:nvSpPr>
        <p:spPr bwMode="auto">
          <a:xfrm>
            <a:off x="2016125" y="876300"/>
            <a:ext cx="81454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/>
          <a:lstStyle/>
          <a:p>
            <a:pPr algn="l" defTabSz="814388" eaLnBrk="1" hangingPunct="1">
              <a:spcBef>
                <a:spcPct val="50000"/>
              </a:spcBef>
              <a:buClr>
                <a:schemeClr val="tx2"/>
              </a:buClr>
              <a:buFont typeface="Wingdings" charset="0"/>
              <a:buChar char="§"/>
            </a:pPr>
            <a:endParaRPr lang="en-US" sz="2000" b="1"/>
          </a:p>
        </p:txBody>
      </p:sp>
      <p:sp>
        <p:nvSpPr>
          <p:cNvPr id="14339" name="Rectangle 4"/>
          <p:cNvSpPr>
            <a:spLocks noChangeArrowheads="1"/>
          </p:cNvSpPr>
          <p:nvPr/>
        </p:nvSpPr>
        <p:spPr bwMode="auto">
          <a:xfrm>
            <a:off x="407988" y="1892300"/>
            <a:ext cx="7883525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 dirty="0"/>
              <a:t>The Financial </a:t>
            </a:r>
            <a:r>
              <a:rPr lang="fr-FR" b="1" dirty="0" err="1"/>
              <a:t>statement</a:t>
            </a:r>
            <a:r>
              <a:rPr lang="fr-FR" b="1" dirty="0"/>
              <a:t> </a:t>
            </a:r>
            <a:r>
              <a:rPr lang="fr-FR" b="1" dirty="0" err="1"/>
              <a:t>that</a:t>
            </a:r>
            <a:r>
              <a:rPr lang="fr-FR" b="1" dirty="0"/>
              <a:t> </a:t>
            </a:r>
            <a:r>
              <a:rPr lang="fr-FR" b="1" dirty="0" err="1"/>
              <a:t>makes</a:t>
            </a:r>
            <a:r>
              <a:rPr lang="fr-FR" b="1" dirty="0"/>
              <a:t> up a business </a:t>
            </a:r>
            <a:r>
              <a:rPr lang="fr-FR" b="1" dirty="0" err="1"/>
              <a:t>assets</a:t>
            </a:r>
            <a:r>
              <a:rPr lang="fr-FR" b="1" dirty="0"/>
              <a:t>, </a:t>
            </a:r>
            <a:r>
              <a:rPr lang="fr-FR" b="1" dirty="0" err="1"/>
              <a:t>liabilities</a:t>
            </a:r>
            <a:r>
              <a:rPr lang="fr-FR" b="1" dirty="0"/>
              <a:t> and </a:t>
            </a:r>
            <a:r>
              <a:rPr lang="fr-FR" b="1" dirty="0" err="1"/>
              <a:t>equity</a:t>
            </a:r>
            <a:r>
              <a:rPr lang="fr-FR" b="1" dirty="0"/>
              <a:t> </a:t>
            </a:r>
            <a:r>
              <a:rPr lang="fr-FR" b="1" dirty="0" err="1"/>
              <a:t>at</a:t>
            </a:r>
            <a:r>
              <a:rPr lang="fr-FR" b="1" dirty="0"/>
              <a:t> a </a:t>
            </a:r>
            <a:r>
              <a:rPr lang="fr-FR" b="1" dirty="0" err="1"/>
              <a:t>specific</a:t>
            </a:r>
            <a:r>
              <a:rPr lang="fr-FR" b="1" dirty="0"/>
              <a:t> point in time </a:t>
            </a:r>
            <a:r>
              <a:rPr lang="fr-FR" b="1" dirty="0" err="1"/>
              <a:t>is</a:t>
            </a:r>
            <a:r>
              <a:rPr lang="fr-FR" b="1" dirty="0"/>
              <a:t> :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 dirty="0"/>
          </a:p>
        </p:txBody>
      </p:sp>
      <p:sp>
        <p:nvSpPr>
          <p:cNvPr id="14340" name="Rectangle 4"/>
          <p:cNvSpPr>
            <a:spLocks noChangeArrowheads="1"/>
          </p:cNvSpPr>
          <p:nvPr/>
        </p:nvSpPr>
        <p:spPr bwMode="auto">
          <a:xfrm>
            <a:off x="687388" y="3048000"/>
            <a:ext cx="788352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/>
              <a:t>Income statement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/>
          </a:p>
        </p:txBody>
      </p:sp>
      <p:sp>
        <p:nvSpPr>
          <p:cNvPr id="14341" name="Rectangle 5"/>
          <p:cNvSpPr>
            <a:spLocks noChangeArrowheads="1"/>
          </p:cNvSpPr>
          <p:nvPr/>
        </p:nvSpPr>
        <p:spPr bwMode="auto">
          <a:xfrm>
            <a:off x="687388" y="3543300"/>
            <a:ext cx="788352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/>
              <a:t>Capital statement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/>
          </a:p>
        </p:txBody>
      </p:sp>
      <p:sp>
        <p:nvSpPr>
          <p:cNvPr id="14342" name="Rectangle 6"/>
          <p:cNvSpPr>
            <a:spLocks noChangeArrowheads="1"/>
          </p:cNvSpPr>
          <p:nvPr/>
        </p:nvSpPr>
        <p:spPr bwMode="auto">
          <a:xfrm>
            <a:off x="687388" y="4057650"/>
            <a:ext cx="788352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/>
              <a:t>Statement of cash Flow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/>
          </a:p>
        </p:txBody>
      </p:sp>
      <p:sp>
        <p:nvSpPr>
          <p:cNvPr id="14343" name="Rectangle 7"/>
          <p:cNvSpPr>
            <a:spLocks noChangeArrowheads="1"/>
          </p:cNvSpPr>
          <p:nvPr/>
        </p:nvSpPr>
        <p:spPr bwMode="auto">
          <a:xfrm>
            <a:off x="687388" y="4552950"/>
            <a:ext cx="788352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/>
              <a:t>Balance Sheet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/>
          </a:p>
        </p:txBody>
      </p:sp>
    </p:spTree>
    <p:extLst>
      <p:ext uri="{BB962C8B-B14F-4D97-AF65-F5344CB8AC3E}">
        <p14:creationId xmlns:p14="http://schemas.microsoft.com/office/powerpoint/2010/main" val="1425565366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457200"/>
            <a:ext cx="8145462" cy="838200"/>
          </a:xfrm>
        </p:spPr>
        <p:txBody>
          <a:bodyPr/>
          <a:lstStyle/>
          <a:p>
            <a:pPr eaLnBrk="1" hangingPunct="1"/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Question 9</a:t>
            </a:r>
          </a:p>
        </p:txBody>
      </p:sp>
      <p:sp>
        <p:nvSpPr>
          <p:cNvPr id="15362" name="Rectangle 3"/>
          <p:cNvSpPr>
            <a:spLocks noChangeArrowheads="1"/>
          </p:cNvSpPr>
          <p:nvPr/>
        </p:nvSpPr>
        <p:spPr bwMode="auto">
          <a:xfrm>
            <a:off x="2016125" y="876300"/>
            <a:ext cx="81454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/>
          <a:lstStyle/>
          <a:p>
            <a:pPr algn="l" defTabSz="814388" eaLnBrk="1" hangingPunct="1">
              <a:spcBef>
                <a:spcPct val="50000"/>
              </a:spcBef>
              <a:buClr>
                <a:schemeClr val="tx2"/>
              </a:buClr>
              <a:buFont typeface="Wingdings" charset="0"/>
              <a:buChar char="§"/>
            </a:pPr>
            <a:endParaRPr lang="en-US" sz="2000" b="1"/>
          </a:p>
        </p:txBody>
      </p:sp>
      <p:sp>
        <p:nvSpPr>
          <p:cNvPr id="15363" name="Rectangle 4"/>
          <p:cNvSpPr>
            <a:spLocks noChangeArrowheads="1"/>
          </p:cNvSpPr>
          <p:nvPr/>
        </p:nvSpPr>
        <p:spPr bwMode="auto">
          <a:xfrm>
            <a:off x="433388" y="2343150"/>
            <a:ext cx="7883525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 dirty="0"/>
              <a:t>A </a:t>
            </a:r>
            <a:r>
              <a:rPr lang="fr-FR" b="1" dirty="0" err="1"/>
              <a:t>calendar</a:t>
            </a:r>
            <a:r>
              <a:rPr lang="fr-FR" b="1" dirty="0"/>
              <a:t> </a:t>
            </a:r>
            <a:r>
              <a:rPr lang="fr-FR" b="1" dirty="0" err="1"/>
              <a:t>year</a:t>
            </a:r>
            <a:r>
              <a:rPr lang="fr-FR" b="1" dirty="0"/>
              <a:t> </a:t>
            </a:r>
            <a:r>
              <a:rPr lang="fr-FR" b="1" dirty="0" err="1"/>
              <a:t>is</a:t>
            </a:r>
            <a:r>
              <a:rPr lang="fr-FR" b="1" dirty="0"/>
              <a:t> a </a:t>
            </a:r>
            <a:r>
              <a:rPr lang="fr-FR" b="1" dirty="0" err="1"/>
              <a:t>year</a:t>
            </a:r>
            <a:r>
              <a:rPr lang="fr-FR" b="1" dirty="0"/>
              <a:t> </a:t>
            </a:r>
            <a:r>
              <a:rPr lang="fr-FR" b="1" dirty="0" err="1"/>
              <a:t>that</a:t>
            </a:r>
            <a:r>
              <a:rPr lang="fr-FR" b="1" dirty="0"/>
              <a:t> </a:t>
            </a:r>
            <a:r>
              <a:rPr lang="fr-FR" b="1" dirty="0" err="1"/>
              <a:t>begins</a:t>
            </a:r>
            <a:r>
              <a:rPr lang="fr-FR" b="1" dirty="0"/>
              <a:t> in </a:t>
            </a:r>
            <a:r>
              <a:rPr lang="fr-FR" b="1" dirty="0" err="1"/>
              <a:t>June</a:t>
            </a:r>
            <a:r>
              <a:rPr lang="fr-FR" b="1" dirty="0"/>
              <a:t> and ends in May :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 dirty="0"/>
          </a:p>
        </p:txBody>
      </p:sp>
      <p:sp>
        <p:nvSpPr>
          <p:cNvPr id="15364" name="Rectangle 4"/>
          <p:cNvSpPr>
            <a:spLocks noChangeArrowheads="1"/>
          </p:cNvSpPr>
          <p:nvPr/>
        </p:nvSpPr>
        <p:spPr bwMode="auto">
          <a:xfrm>
            <a:off x="687388" y="3181350"/>
            <a:ext cx="788352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/>
              <a:t>False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/>
          </a:p>
        </p:txBody>
      </p:sp>
      <p:sp>
        <p:nvSpPr>
          <p:cNvPr id="15365" name="Rectangle 5"/>
          <p:cNvSpPr>
            <a:spLocks noChangeArrowheads="1"/>
          </p:cNvSpPr>
          <p:nvPr/>
        </p:nvSpPr>
        <p:spPr bwMode="auto">
          <a:xfrm>
            <a:off x="687388" y="3733800"/>
            <a:ext cx="788352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/>
              <a:t>True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/>
          </a:p>
        </p:txBody>
      </p:sp>
    </p:spTree>
    <p:extLst>
      <p:ext uri="{BB962C8B-B14F-4D97-AF65-F5344CB8AC3E}">
        <p14:creationId xmlns:p14="http://schemas.microsoft.com/office/powerpoint/2010/main" val="1967841226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457200"/>
            <a:ext cx="8145462" cy="838200"/>
          </a:xfrm>
        </p:spPr>
        <p:txBody>
          <a:bodyPr/>
          <a:lstStyle/>
          <a:p>
            <a:pPr eaLnBrk="1" hangingPunct="1"/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Question 10</a:t>
            </a:r>
          </a:p>
        </p:txBody>
      </p:sp>
      <p:sp>
        <p:nvSpPr>
          <p:cNvPr id="16386" name="Rectangle 3"/>
          <p:cNvSpPr>
            <a:spLocks noChangeArrowheads="1"/>
          </p:cNvSpPr>
          <p:nvPr/>
        </p:nvSpPr>
        <p:spPr bwMode="auto">
          <a:xfrm>
            <a:off x="2016125" y="876300"/>
            <a:ext cx="81454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/>
          <a:lstStyle/>
          <a:p>
            <a:pPr algn="l" defTabSz="814388" eaLnBrk="1" hangingPunct="1">
              <a:spcBef>
                <a:spcPct val="50000"/>
              </a:spcBef>
              <a:buClr>
                <a:schemeClr val="tx2"/>
              </a:buClr>
              <a:buFont typeface="Wingdings" charset="0"/>
              <a:buChar char="§"/>
            </a:pPr>
            <a:endParaRPr lang="en-US" sz="2000" b="1"/>
          </a:p>
        </p:txBody>
      </p:sp>
      <p:sp>
        <p:nvSpPr>
          <p:cNvPr id="16387" name="Rectangle 4"/>
          <p:cNvSpPr>
            <a:spLocks noChangeArrowheads="1"/>
          </p:cNvSpPr>
          <p:nvPr/>
        </p:nvSpPr>
        <p:spPr bwMode="auto">
          <a:xfrm>
            <a:off x="534988" y="1962150"/>
            <a:ext cx="7883525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 dirty="0"/>
              <a:t>The </a:t>
            </a:r>
            <a:r>
              <a:rPr lang="fr-FR" b="1" dirty="0" err="1"/>
              <a:t>Statement</a:t>
            </a:r>
            <a:r>
              <a:rPr lang="fr-FR" b="1" dirty="0"/>
              <a:t> of Changes in Financial position reports the sources and uses of cash or </a:t>
            </a:r>
            <a:r>
              <a:rPr lang="fr-FR" b="1" dirty="0" err="1"/>
              <a:t>working</a:t>
            </a:r>
            <a:r>
              <a:rPr lang="fr-FR" b="1" dirty="0"/>
              <a:t> capital for a </a:t>
            </a:r>
            <a:r>
              <a:rPr lang="fr-FR" b="1" dirty="0" err="1"/>
              <a:t>specific</a:t>
            </a:r>
            <a:r>
              <a:rPr lang="fr-FR" b="1" dirty="0"/>
              <a:t> </a:t>
            </a:r>
            <a:r>
              <a:rPr lang="fr-FR" b="1" dirty="0" err="1"/>
              <a:t>period</a:t>
            </a:r>
            <a:r>
              <a:rPr lang="fr-FR" b="1" dirty="0"/>
              <a:t> of time :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r>
              <a:rPr lang="fr-FR" b="1" dirty="0"/>
              <a:t> </a:t>
            </a:r>
          </a:p>
        </p:txBody>
      </p:sp>
      <p:sp>
        <p:nvSpPr>
          <p:cNvPr id="16388" name="Rectangle 4"/>
          <p:cNvSpPr>
            <a:spLocks noChangeArrowheads="1"/>
          </p:cNvSpPr>
          <p:nvPr/>
        </p:nvSpPr>
        <p:spPr bwMode="auto">
          <a:xfrm>
            <a:off x="687388" y="3181350"/>
            <a:ext cx="788352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/>
              <a:t>True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/>
          </a:p>
        </p:txBody>
      </p:sp>
      <p:sp>
        <p:nvSpPr>
          <p:cNvPr id="16389" name="Rectangle 5"/>
          <p:cNvSpPr>
            <a:spLocks noChangeArrowheads="1"/>
          </p:cNvSpPr>
          <p:nvPr/>
        </p:nvSpPr>
        <p:spPr bwMode="auto">
          <a:xfrm>
            <a:off x="687388" y="3733800"/>
            <a:ext cx="788352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/>
              <a:t>False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/>
          </a:p>
        </p:txBody>
      </p:sp>
    </p:spTree>
    <p:extLst>
      <p:ext uri="{BB962C8B-B14F-4D97-AF65-F5344CB8AC3E}">
        <p14:creationId xmlns:p14="http://schemas.microsoft.com/office/powerpoint/2010/main" val="431588805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457200"/>
            <a:ext cx="8145462" cy="838200"/>
          </a:xfrm>
        </p:spPr>
        <p:txBody>
          <a:bodyPr/>
          <a:lstStyle/>
          <a:p>
            <a:pPr eaLnBrk="1" hangingPunct="1"/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Question 11</a:t>
            </a:r>
          </a:p>
        </p:txBody>
      </p:sp>
      <p:sp>
        <p:nvSpPr>
          <p:cNvPr id="17410" name="Rectangle 3"/>
          <p:cNvSpPr>
            <a:spLocks noChangeArrowheads="1"/>
          </p:cNvSpPr>
          <p:nvPr/>
        </p:nvSpPr>
        <p:spPr bwMode="auto">
          <a:xfrm>
            <a:off x="2016125" y="876300"/>
            <a:ext cx="81454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/>
          <a:lstStyle/>
          <a:p>
            <a:pPr algn="l" defTabSz="814388" eaLnBrk="1" hangingPunct="1">
              <a:spcBef>
                <a:spcPct val="50000"/>
              </a:spcBef>
              <a:buClr>
                <a:schemeClr val="tx2"/>
              </a:buClr>
              <a:buFont typeface="Wingdings" charset="0"/>
              <a:buChar char="§"/>
            </a:pPr>
            <a:endParaRPr lang="en-US" sz="2000" b="1"/>
          </a:p>
        </p:txBody>
      </p:sp>
      <p:sp>
        <p:nvSpPr>
          <p:cNvPr id="17411" name="Rectangle 4"/>
          <p:cNvSpPr>
            <a:spLocks noChangeArrowheads="1"/>
          </p:cNvSpPr>
          <p:nvPr/>
        </p:nvSpPr>
        <p:spPr bwMode="auto">
          <a:xfrm>
            <a:off x="534988" y="2089150"/>
            <a:ext cx="7883525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 dirty="0"/>
              <a:t>Businesses </a:t>
            </a:r>
            <a:r>
              <a:rPr lang="fr-FR" b="1" dirty="0" err="1"/>
              <a:t>that</a:t>
            </a:r>
            <a:r>
              <a:rPr lang="fr-FR" b="1" dirty="0"/>
              <a:t> </a:t>
            </a:r>
            <a:r>
              <a:rPr lang="fr-FR" b="1" dirty="0" err="1"/>
              <a:t>sell</a:t>
            </a:r>
            <a:r>
              <a:rPr lang="fr-FR" b="1" dirty="0"/>
              <a:t> </a:t>
            </a:r>
            <a:r>
              <a:rPr lang="fr-FR" b="1" dirty="0" err="1"/>
              <a:t>products</a:t>
            </a:r>
            <a:r>
              <a:rPr lang="fr-FR" b="1" dirty="0"/>
              <a:t> have a </a:t>
            </a:r>
            <a:r>
              <a:rPr lang="fr-FR" b="1" dirty="0" err="1"/>
              <a:t>specific</a:t>
            </a:r>
            <a:r>
              <a:rPr lang="fr-FR" b="1" dirty="0"/>
              <a:t> section in </a:t>
            </a:r>
            <a:r>
              <a:rPr lang="fr-FR" b="1" dirty="0" err="1"/>
              <a:t>their</a:t>
            </a:r>
            <a:r>
              <a:rPr lang="fr-FR" b="1" dirty="0"/>
              <a:t> </a:t>
            </a:r>
            <a:r>
              <a:rPr lang="fr-FR" b="1" dirty="0" err="1"/>
              <a:t>Income</a:t>
            </a:r>
            <a:r>
              <a:rPr lang="fr-FR" b="1" dirty="0"/>
              <a:t> </a:t>
            </a:r>
            <a:r>
              <a:rPr lang="fr-FR" b="1" dirty="0" err="1"/>
              <a:t>Statement</a:t>
            </a:r>
            <a:r>
              <a:rPr lang="fr-FR" b="1" dirty="0"/>
              <a:t> </a:t>
            </a:r>
            <a:r>
              <a:rPr lang="fr-FR" b="1" dirty="0" err="1"/>
              <a:t>called</a:t>
            </a:r>
            <a:r>
              <a:rPr lang="fr-FR" b="1" dirty="0"/>
              <a:t> </a:t>
            </a:r>
            <a:r>
              <a:rPr lang="fr-FR" b="1" dirty="0" err="1"/>
              <a:t>Cost</a:t>
            </a:r>
            <a:r>
              <a:rPr lang="fr-FR" b="1" dirty="0"/>
              <a:t> of </a:t>
            </a:r>
            <a:r>
              <a:rPr lang="fr-FR" b="1" dirty="0" err="1"/>
              <a:t>Goods</a:t>
            </a:r>
            <a:r>
              <a:rPr lang="fr-FR" b="1" dirty="0"/>
              <a:t> </a:t>
            </a:r>
            <a:r>
              <a:rPr lang="fr-FR" b="1" dirty="0" err="1"/>
              <a:t>Sold</a:t>
            </a:r>
            <a:r>
              <a:rPr lang="fr-FR" b="1" dirty="0"/>
              <a:t> :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r>
              <a:rPr lang="fr-FR" b="1" dirty="0"/>
              <a:t> </a:t>
            </a:r>
          </a:p>
        </p:txBody>
      </p:sp>
      <p:sp>
        <p:nvSpPr>
          <p:cNvPr id="17412" name="Rectangle 4"/>
          <p:cNvSpPr>
            <a:spLocks noChangeArrowheads="1"/>
          </p:cNvSpPr>
          <p:nvPr/>
        </p:nvSpPr>
        <p:spPr bwMode="auto">
          <a:xfrm>
            <a:off x="687388" y="3181350"/>
            <a:ext cx="788352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/>
              <a:t>True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/>
          </a:p>
        </p:txBody>
      </p:sp>
      <p:sp>
        <p:nvSpPr>
          <p:cNvPr id="17413" name="Rectangle 5"/>
          <p:cNvSpPr>
            <a:spLocks noChangeArrowheads="1"/>
          </p:cNvSpPr>
          <p:nvPr/>
        </p:nvSpPr>
        <p:spPr bwMode="auto">
          <a:xfrm>
            <a:off x="687388" y="3733800"/>
            <a:ext cx="788352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/>
              <a:t>False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/>
          </a:p>
        </p:txBody>
      </p:sp>
    </p:spTree>
    <p:extLst>
      <p:ext uri="{BB962C8B-B14F-4D97-AF65-F5344CB8AC3E}">
        <p14:creationId xmlns:p14="http://schemas.microsoft.com/office/powerpoint/2010/main" val="1742674847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457200"/>
            <a:ext cx="8145462" cy="838200"/>
          </a:xfrm>
        </p:spPr>
        <p:txBody>
          <a:bodyPr/>
          <a:lstStyle/>
          <a:p>
            <a:pPr eaLnBrk="1" hangingPunct="1"/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Question 12</a:t>
            </a:r>
          </a:p>
        </p:txBody>
      </p:sp>
      <p:sp>
        <p:nvSpPr>
          <p:cNvPr id="18434" name="Rectangle 3"/>
          <p:cNvSpPr>
            <a:spLocks noChangeArrowheads="1"/>
          </p:cNvSpPr>
          <p:nvPr/>
        </p:nvSpPr>
        <p:spPr bwMode="auto">
          <a:xfrm>
            <a:off x="2016125" y="876300"/>
            <a:ext cx="81454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/>
          <a:lstStyle/>
          <a:p>
            <a:pPr algn="l" defTabSz="814388" eaLnBrk="1" hangingPunct="1">
              <a:spcBef>
                <a:spcPct val="50000"/>
              </a:spcBef>
              <a:buClr>
                <a:schemeClr val="tx2"/>
              </a:buClr>
              <a:buFont typeface="Wingdings" charset="0"/>
              <a:buChar char="§"/>
            </a:pPr>
            <a:endParaRPr lang="en-US" sz="2000" b="1"/>
          </a:p>
        </p:txBody>
      </p:sp>
      <p:sp>
        <p:nvSpPr>
          <p:cNvPr id="18435" name="Rectangle 4"/>
          <p:cNvSpPr>
            <a:spLocks noChangeArrowheads="1"/>
          </p:cNvSpPr>
          <p:nvPr/>
        </p:nvSpPr>
        <p:spPr bwMode="auto">
          <a:xfrm>
            <a:off x="534988" y="2114550"/>
            <a:ext cx="7883525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 dirty="0" err="1"/>
              <a:t>Liabilities</a:t>
            </a:r>
            <a:r>
              <a:rPr lang="fr-FR" b="1" dirty="0"/>
              <a:t> are the </a:t>
            </a:r>
            <a:r>
              <a:rPr lang="fr-FR" b="1" dirty="0" err="1"/>
              <a:t>properties</a:t>
            </a:r>
            <a:r>
              <a:rPr lang="fr-FR" b="1" dirty="0"/>
              <a:t> </a:t>
            </a:r>
            <a:r>
              <a:rPr lang="fr-FR" b="1" dirty="0" err="1"/>
              <a:t>used</a:t>
            </a:r>
            <a:r>
              <a:rPr lang="fr-FR" b="1" dirty="0"/>
              <a:t> in the </a:t>
            </a:r>
            <a:r>
              <a:rPr lang="fr-FR" b="1" dirty="0" err="1"/>
              <a:t>operation</a:t>
            </a:r>
            <a:r>
              <a:rPr lang="fr-FR" b="1" dirty="0"/>
              <a:t> or </a:t>
            </a:r>
            <a:r>
              <a:rPr lang="fr-FR" b="1" dirty="0" err="1"/>
              <a:t>investment</a:t>
            </a:r>
            <a:r>
              <a:rPr lang="fr-FR" b="1" dirty="0"/>
              <a:t> </a:t>
            </a:r>
            <a:r>
              <a:rPr lang="fr-FR" b="1" dirty="0" err="1"/>
              <a:t>activities</a:t>
            </a:r>
            <a:r>
              <a:rPr lang="fr-FR" b="1" dirty="0"/>
              <a:t> of a business :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r>
              <a:rPr lang="fr-FR" b="1" dirty="0"/>
              <a:t> </a:t>
            </a:r>
          </a:p>
        </p:txBody>
      </p:sp>
      <p:sp>
        <p:nvSpPr>
          <p:cNvPr id="18436" name="Rectangle 4"/>
          <p:cNvSpPr>
            <a:spLocks noChangeArrowheads="1"/>
          </p:cNvSpPr>
          <p:nvPr/>
        </p:nvSpPr>
        <p:spPr bwMode="auto">
          <a:xfrm>
            <a:off x="687388" y="3181350"/>
            <a:ext cx="788352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/>
              <a:t>True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/>
          </a:p>
        </p:txBody>
      </p:sp>
      <p:sp>
        <p:nvSpPr>
          <p:cNvPr id="18437" name="Rectangle 5"/>
          <p:cNvSpPr>
            <a:spLocks noChangeArrowheads="1"/>
          </p:cNvSpPr>
          <p:nvPr/>
        </p:nvSpPr>
        <p:spPr bwMode="auto">
          <a:xfrm>
            <a:off x="687388" y="3733800"/>
            <a:ext cx="788352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/>
              <a:t>False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/>
          </a:p>
        </p:txBody>
      </p:sp>
    </p:spTree>
    <p:extLst>
      <p:ext uri="{BB962C8B-B14F-4D97-AF65-F5344CB8AC3E}">
        <p14:creationId xmlns:p14="http://schemas.microsoft.com/office/powerpoint/2010/main" val="3856907031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457200"/>
            <a:ext cx="8145462" cy="838200"/>
          </a:xfrm>
        </p:spPr>
        <p:txBody>
          <a:bodyPr/>
          <a:lstStyle/>
          <a:p>
            <a:pPr eaLnBrk="1" hangingPunct="1"/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Question 13</a:t>
            </a:r>
          </a:p>
        </p:txBody>
      </p:sp>
      <p:sp>
        <p:nvSpPr>
          <p:cNvPr id="19458" name="Rectangle 3"/>
          <p:cNvSpPr>
            <a:spLocks noChangeArrowheads="1"/>
          </p:cNvSpPr>
          <p:nvPr/>
        </p:nvSpPr>
        <p:spPr bwMode="auto">
          <a:xfrm>
            <a:off x="2016125" y="876300"/>
            <a:ext cx="81454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/>
          <a:lstStyle/>
          <a:p>
            <a:pPr algn="l" defTabSz="814388" eaLnBrk="1" hangingPunct="1">
              <a:spcBef>
                <a:spcPct val="50000"/>
              </a:spcBef>
              <a:buClr>
                <a:schemeClr val="tx2"/>
              </a:buClr>
              <a:buFont typeface="Wingdings" charset="0"/>
              <a:buChar char="§"/>
            </a:pPr>
            <a:endParaRPr lang="en-US" sz="2000" b="1"/>
          </a:p>
        </p:txBody>
      </p:sp>
      <p:sp>
        <p:nvSpPr>
          <p:cNvPr id="19459" name="Rectangle 4"/>
          <p:cNvSpPr>
            <a:spLocks noChangeArrowheads="1"/>
          </p:cNvSpPr>
          <p:nvPr/>
        </p:nvSpPr>
        <p:spPr bwMode="auto">
          <a:xfrm>
            <a:off x="534988" y="2152650"/>
            <a:ext cx="7883525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 dirty="0"/>
              <a:t>Net </a:t>
            </a:r>
            <a:r>
              <a:rPr lang="fr-FR" b="1" dirty="0" err="1"/>
              <a:t>Income</a:t>
            </a:r>
            <a:r>
              <a:rPr lang="fr-FR" b="1" dirty="0"/>
              <a:t> </a:t>
            </a:r>
            <a:r>
              <a:rPr lang="fr-FR" b="1" dirty="0" err="1"/>
              <a:t>results</a:t>
            </a:r>
            <a:r>
              <a:rPr lang="fr-FR" b="1" dirty="0"/>
              <a:t> </a:t>
            </a:r>
            <a:r>
              <a:rPr lang="fr-FR" b="1" dirty="0" err="1"/>
              <a:t>when</a:t>
            </a:r>
            <a:r>
              <a:rPr lang="fr-FR" b="1" dirty="0"/>
              <a:t> </a:t>
            </a:r>
            <a:r>
              <a:rPr lang="fr-FR" b="1" dirty="0" err="1"/>
              <a:t>expenses</a:t>
            </a:r>
            <a:r>
              <a:rPr lang="fr-FR" b="1" dirty="0"/>
              <a:t> </a:t>
            </a:r>
            <a:r>
              <a:rPr lang="fr-FR" b="1" dirty="0" err="1"/>
              <a:t>exceed</a:t>
            </a:r>
            <a:r>
              <a:rPr lang="fr-FR" b="1" dirty="0"/>
              <a:t> revenues for the </a:t>
            </a:r>
            <a:r>
              <a:rPr lang="fr-FR" b="1" dirty="0" err="1"/>
              <a:t>period</a:t>
            </a:r>
            <a:r>
              <a:rPr lang="fr-FR" b="1" dirty="0"/>
              <a:t> :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r>
              <a:rPr lang="fr-FR" b="1" dirty="0"/>
              <a:t> </a:t>
            </a:r>
          </a:p>
        </p:txBody>
      </p:sp>
      <p:sp>
        <p:nvSpPr>
          <p:cNvPr id="19460" name="Rectangle 4"/>
          <p:cNvSpPr>
            <a:spLocks noChangeArrowheads="1"/>
          </p:cNvSpPr>
          <p:nvPr/>
        </p:nvSpPr>
        <p:spPr bwMode="auto">
          <a:xfrm>
            <a:off x="687388" y="3181350"/>
            <a:ext cx="788352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/>
              <a:t>True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/>
          </a:p>
        </p:txBody>
      </p:sp>
      <p:sp>
        <p:nvSpPr>
          <p:cNvPr id="19461" name="Rectangle 5"/>
          <p:cNvSpPr>
            <a:spLocks noChangeArrowheads="1"/>
          </p:cNvSpPr>
          <p:nvPr/>
        </p:nvSpPr>
        <p:spPr bwMode="auto">
          <a:xfrm>
            <a:off x="687388" y="3733800"/>
            <a:ext cx="788352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/>
              <a:t>False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/>
          </a:p>
        </p:txBody>
      </p:sp>
    </p:spTree>
    <p:extLst>
      <p:ext uri="{BB962C8B-B14F-4D97-AF65-F5344CB8AC3E}">
        <p14:creationId xmlns:p14="http://schemas.microsoft.com/office/powerpoint/2010/main" val="1264501507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457200"/>
            <a:ext cx="8145462" cy="838200"/>
          </a:xfrm>
        </p:spPr>
        <p:txBody>
          <a:bodyPr/>
          <a:lstStyle/>
          <a:p>
            <a:pPr eaLnBrk="1" hangingPunct="1"/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Question 14</a:t>
            </a:r>
          </a:p>
        </p:txBody>
      </p:sp>
      <p:sp>
        <p:nvSpPr>
          <p:cNvPr id="20482" name="Rectangle 3"/>
          <p:cNvSpPr>
            <a:spLocks noChangeArrowheads="1"/>
          </p:cNvSpPr>
          <p:nvPr/>
        </p:nvSpPr>
        <p:spPr bwMode="auto">
          <a:xfrm>
            <a:off x="2016125" y="876300"/>
            <a:ext cx="81454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/>
          <a:lstStyle/>
          <a:p>
            <a:pPr algn="l" defTabSz="814388" eaLnBrk="1" hangingPunct="1">
              <a:spcBef>
                <a:spcPct val="50000"/>
              </a:spcBef>
              <a:buClr>
                <a:schemeClr val="tx2"/>
              </a:buClr>
              <a:buFont typeface="Wingdings" charset="0"/>
              <a:buChar char="§"/>
            </a:pPr>
            <a:endParaRPr lang="en-US" sz="2000" b="1"/>
          </a:p>
        </p:txBody>
      </p:sp>
      <p:sp>
        <p:nvSpPr>
          <p:cNvPr id="20483" name="Rectangle 4"/>
          <p:cNvSpPr>
            <a:spLocks noChangeArrowheads="1"/>
          </p:cNvSpPr>
          <p:nvPr/>
        </p:nvSpPr>
        <p:spPr bwMode="auto">
          <a:xfrm>
            <a:off x="534988" y="1727200"/>
            <a:ext cx="8145462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b="1" dirty="0"/>
              <a:t>Financial Statements are reports on the financial performance of organizations. They provide data on: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en-US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b="1" dirty="0"/>
              <a:t>A) Projections for the upcoming fiscal year 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b="1" dirty="0"/>
              <a:t>B) Where money comes from, what money is spent on and how much money is available for use 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b="1" dirty="0"/>
              <a:t>C) Comparative company data to companies in similar industries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b="1" dirty="0"/>
              <a:t>D) All of the above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b="1" dirty="0"/>
              <a:t>E) None of the above	</a:t>
            </a:r>
            <a:r>
              <a:rPr lang="fr-FR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68953600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457200"/>
            <a:ext cx="8145462" cy="838200"/>
          </a:xfrm>
        </p:spPr>
        <p:txBody>
          <a:bodyPr/>
          <a:lstStyle/>
          <a:p>
            <a:pPr eaLnBrk="1" hangingPunct="1"/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Question 15</a:t>
            </a:r>
          </a:p>
        </p:txBody>
      </p:sp>
      <p:sp>
        <p:nvSpPr>
          <p:cNvPr id="21506" name="Rectangle 3"/>
          <p:cNvSpPr>
            <a:spLocks noChangeArrowheads="1"/>
          </p:cNvSpPr>
          <p:nvPr/>
        </p:nvSpPr>
        <p:spPr bwMode="auto">
          <a:xfrm>
            <a:off x="2016125" y="876300"/>
            <a:ext cx="81454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/>
          <a:lstStyle/>
          <a:p>
            <a:pPr algn="l" defTabSz="814388" eaLnBrk="1" hangingPunct="1">
              <a:spcBef>
                <a:spcPct val="50000"/>
              </a:spcBef>
              <a:buClr>
                <a:schemeClr val="tx2"/>
              </a:buClr>
              <a:buFont typeface="Wingdings" charset="0"/>
              <a:buChar char="§"/>
            </a:pPr>
            <a:endParaRPr lang="en-US" sz="2000" b="1"/>
          </a:p>
        </p:txBody>
      </p:sp>
      <p:sp>
        <p:nvSpPr>
          <p:cNvPr id="21507" name="Rectangle 4"/>
          <p:cNvSpPr>
            <a:spLocks noChangeArrowheads="1"/>
          </p:cNvSpPr>
          <p:nvPr/>
        </p:nvSpPr>
        <p:spPr bwMode="auto">
          <a:xfrm>
            <a:off x="300038" y="1854200"/>
            <a:ext cx="8380412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The primary function of the Income Statement is to: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en-US" sz="2000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A) Show the company's value as of a given point in time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B) Determine if the company will have enough cash to operate properly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C) Determine taxes owed or not owed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D) Compare the company's assets against the company's liabilities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E) Measure the company's financial performance over a period of time</a:t>
            </a:r>
            <a:r>
              <a:rPr lang="en-US" b="1" dirty="0"/>
              <a:t>	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r>
              <a:rPr lang="fr-FR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55268422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457200"/>
            <a:ext cx="8145462" cy="838200"/>
          </a:xfrm>
        </p:spPr>
        <p:txBody>
          <a:bodyPr/>
          <a:lstStyle/>
          <a:p>
            <a:pPr eaLnBrk="1" hangingPunct="1"/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Question 16</a:t>
            </a:r>
          </a:p>
        </p:txBody>
      </p:sp>
      <p:sp>
        <p:nvSpPr>
          <p:cNvPr id="22530" name="Rectangle 3"/>
          <p:cNvSpPr>
            <a:spLocks noChangeArrowheads="1"/>
          </p:cNvSpPr>
          <p:nvPr/>
        </p:nvSpPr>
        <p:spPr bwMode="auto">
          <a:xfrm>
            <a:off x="2016125" y="876300"/>
            <a:ext cx="81454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/>
          <a:lstStyle/>
          <a:p>
            <a:pPr algn="l" defTabSz="814388" eaLnBrk="1" hangingPunct="1">
              <a:spcBef>
                <a:spcPct val="50000"/>
              </a:spcBef>
              <a:buClr>
                <a:schemeClr val="tx2"/>
              </a:buClr>
              <a:buFont typeface="Wingdings" charset="0"/>
              <a:buChar char="§"/>
            </a:pPr>
            <a:endParaRPr lang="en-US" sz="2000" b="1"/>
          </a:p>
        </p:txBody>
      </p:sp>
      <p:sp>
        <p:nvSpPr>
          <p:cNvPr id="22531" name="Rectangle 4"/>
          <p:cNvSpPr>
            <a:spLocks noChangeArrowheads="1"/>
          </p:cNvSpPr>
          <p:nvPr/>
        </p:nvSpPr>
        <p:spPr bwMode="auto">
          <a:xfrm>
            <a:off x="460376" y="2095500"/>
            <a:ext cx="8380412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The primary function of the Balance Sheet is to: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en-US" sz="2000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A) Measure the company's performance over a period of time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B) Make sure that the company's assets and the company's liabilities "balance</a:t>
            </a:r>
            <a:r>
              <a:rPr lang="ja-JP" altLang="en-US" sz="2000" b="1" dirty="0"/>
              <a:t>”</a:t>
            </a:r>
            <a:endParaRPr lang="en-US" altLang="ja-JP" sz="2000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C) Determine taxes owed or not owed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D) Show the company's value as of a given point in time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E) Determine if the company will have enough cash to operate properly	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sz="2000" b="1" dirty="0"/>
          </a:p>
        </p:txBody>
      </p:sp>
    </p:spTree>
    <p:extLst>
      <p:ext uri="{BB962C8B-B14F-4D97-AF65-F5344CB8AC3E}">
        <p14:creationId xmlns:p14="http://schemas.microsoft.com/office/powerpoint/2010/main" val="2610693747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457200"/>
            <a:ext cx="8145462" cy="838200"/>
          </a:xfrm>
        </p:spPr>
        <p:txBody>
          <a:bodyPr/>
          <a:lstStyle/>
          <a:p>
            <a:pPr eaLnBrk="1" hangingPunct="1"/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Question 17</a:t>
            </a:r>
          </a:p>
        </p:txBody>
      </p:sp>
      <p:sp>
        <p:nvSpPr>
          <p:cNvPr id="24578" name="Rectangle 3"/>
          <p:cNvSpPr>
            <a:spLocks noChangeArrowheads="1"/>
          </p:cNvSpPr>
          <p:nvPr/>
        </p:nvSpPr>
        <p:spPr bwMode="auto">
          <a:xfrm>
            <a:off x="2016125" y="876300"/>
            <a:ext cx="81454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/>
          <a:lstStyle/>
          <a:p>
            <a:pPr algn="l" defTabSz="814388" eaLnBrk="1" hangingPunct="1">
              <a:spcBef>
                <a:spcPct val="50000"/>
              </a:spcBef>
              <a:buClr>
                <a:schemeClr val="tx2"/>
              </a:buClr>
              <a:buFont typeface="Wingdings" charset="0"/>
              <a:buChar char="§"/>
            </a:pPr>
            <a:endParaRPr lang="en-US" sz="2000" b="1"/>
          </a:p>
        </p:txBody>
      </p:sp>
      <p:sp>
        <p:nvSpPr>
          <p:cNvPr id="24579" name="Rectangle 4"/>
          <p:cNvSpPr>
            <a:spLocks noChangeArrowheads="1"/>
          </p:cNvSpPr>
          <p:nvPr/>
        </p:nvSpPr>
        <p:spPr bwMode="auto">
          <a:xfrm>
            <a:off x="300038" y="1993900"/>
            <a:ext cx="8380412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Which of the following lists are all Assets found in the Balance Sheet: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en-US" sz="2000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A) Cash, accounts receivable, marketable securities, inventory, prepaid expenses and common stock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B) Cash, accounts receivable, marketable securities, inventory and prepaid expenses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C) Cash, accounts receivable, inventory and Operating Margin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D) Cash, accounts receivable, inventory, prepaid expenses and revenue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E) Cash, accounts receivable, inventory, marketable securities and revenue</a:t>
            </a:r>
            <a:r>
              <a:rPr lang="en-US" sz="2000" dirty="0"/>
              <a:t>	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933292753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457200"/>
            <a:ext cx="8145462" cy="838200"/>
          </a:xfrm>
        </p:spPr>
        <p:txBody>
          <a:bodyPr/>
          <a:lstStyle/>
          <a:p>
            <a:pPr eaLnBrk="1" hangingPunct="1"/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Question 18</a:t>
            </a:r>
          </a:p>
        </p:txBody>
      </p:sp>
      <p:sp>
        <p:nvSpPr>
          <p:cNvPr id="25602" name="Rectangle 3"/>
          <p:cNvSpPr>
            <a:spLocks noChangeArrowheads="1"/>
          </p:cNvSpPr>
          <p:nvPr/>
        </p:nvSpPr>
        <p:spPr bwMode="auto">
          <a:xfrm>
            <a:off x="2016125" y="876300"/>
            <a:ext cx="81454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/>
          <a:lstStyle/>
          <a:p>
            <a:pPr algn="l" defTabSz="814388" eaLnBrk="1" hangingPunct="1">
              <a:spcBef>
                <a:spcPct val="50000"/>
              </a:spcBef>
              <a:buClr>
                <a:schemeClr val="tx2"/>
              </a:buClr>
              <a:buFont typeface="Wingdings" charset="0"/>
              <a:buChar char="§"/>
            </a:pPr>
            <a:endParaRPr lang="en-US" sz="2000" b="1"/>
          </a:p>
        </p:txBody>
      </p:sp>
      <p:sp>
        <p:nvSpPr>
          <p:cNvPr id="25603" name="Rectangle 4"/>
          <p:cNvSpPr>
            <a:spLocks noChangeArrowheads="1"/>
          </p:cNvSpPr>
          <p:nvPr/>
        </p:nvSpPr>
        <p:spPr bwMode="auto">
          <a:xfrm>
            <a:off x="534988" y="1524000"/>
            <a:ext cx="8380412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The Balance Sheet equation is: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en-US" sz="2000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en-US" sz="2000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A) Assets divided by Equity = Liabilities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B) Assets plus Liabilities = Equity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C) Assets = Liabilities plus Equity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D) Equity = Profit minus </a:t>
            </a:r>
            <a:r>
              <a:rPr lang="en-US" sz="2000" b="1" dirty="0" err="1"/>
              <a:t>TaxesLiabilities</a:t>
            </a:r>
            <a:r>
              <a:rPr lang="en-US" sz="2000" b="1" dirty="0"/>
              <a:t> = Assets plus Equity	</a:t>
            </a:r>
          </a:p>
        </p:txBody>
      </p:sp>
    </p:spTree>
    <p:extLst>
      <p:ext uri="{BB962C8B-B14F-4D97-AF65-F5344CB8AC3E}">
        <p14:creationId xmlns:p14="http://schemas.microsoft.com/office/powerpoint/2010/main" val="3536066712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457200"/>
            <a:ext cx="8145462" cy="838200"/>
          </a:xfrm>
        </p:spPr>
        <p:txBody>
          <a:bodyPr/>
          <a:lstStyle/>
          <a:p>
            <a:pPr eaLnBrk="1" hangingPunct="1"/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Question 19</a:t>
            </a:r>
          </a:p>
        </p:txBody>
      </p:sp>
      <p:sp>
        <p:nvSpPr>
          <p:cNvPr id="26626" name="Rectangle 3"/>
          <p:cNvSpPr>
            <a:spLocks noChangeArrowheads="1"/>
          </p:cNvSpPr>
          <p:nvPr/>
        </p:nvSpPr>
        <p:spPr bwMode="auto">
          <a:xfrm>
            <a:off x="2016125" y="876300"/>
            <a:ext cx="81454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/>
          <a:lstStyle/>
          <a:p>
            <a:pPr algn="l" defTabSz="814388" eaLnBrk="1" hangingPunct="1">
              <a:spcBef>
                <a:spcPct val="50000"/>
              </a:spcBef>
              <a:buClr>
                <a:schemeClr val="tx2"/>
              </a:buClr>
              <a:buFont typeface="Wingdings" charset="0"/>
              <a:buChar char="§"/>
            </a:pPr>
            <a:endParaRPr lang="en-US" sz="2000" b="1"/>
          </a:p>
        </p:txBody>
      </p:sp>
      <p:sp>
        <p:nvSpPr>
          <p:cNvPr id="26627" name="Rectangle 4"/>
          <p:cNvSpPr>
            <a:spLocks noChangeArrowheads="1"/>
          </p:cNvSpPr>
          <p:nvPr/>
        </p:nvSpPr>
        <p:spPr bwMode="auto">
          <a:xfrm>
            <a:off x="446088" y="1701800"/>
            <a:ext cx="8380412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Which one of the following lists are the Current Liabilities of a company: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en-US" sz="2000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A) Accounts Payable, Notes Payable, Accrued Expenses AND Income Taxes Payable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B) Accounts Payable, Notes Payable, Accrued Expenses AND Prepaid Expenses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C) Accounts Payable, Notes Payable, Accrued Expenses BUT NOT Income Taxes Payable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D) Accounts Payable, Notes Payable, Income Taxes Payable BUT NOT Accrued Expenses 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E) Accounts Payable, Notes Payable AND Prepaid Expenses	</a:t>
            </a:r>
          </a:p>
        </p:txBody>
      </p:sp>
    </p:spTree>
    <p:extLst>
      <p:ext uri="{BB962C8B-B14F-4D97-AF65-F5344CB8AC3E}">
        <p14:creationId xmlns:p14="http://schemas.microsoft.com/office/powerpoint/2010/main" val="196730169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457200"/>
            <a:ext cx="8145462" cy="838200"/>
          </a:xfrm>
        </p:spPr>
        <p:txBody>
          <a:bodyPr/>
          <a:lstStyle/>
          <a:p>
            <a:pPr eaLnBrk="1" hangingPunct="1"/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Question 20</a:t>
            </a:r>
          </a:p>
        </p:txBody>
      </p:sp>
      <p:sp>
        <p:nvSpPr>
          <p:cNvPr id="27650" name="Rectangle 3"/>
          <p:cNvSpPr>
            <a:spLocks noChangeArrowheads="1"/>
          </p:cNvSpPr>
          <p:nvPr/>
        </p:nvSpPr>
        <p:spPr bwMode="auto">
          <a:xfrm>
            <a:off x="2016125" y="876300"/>
            <a:ext cx="81454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/>
          <a:lstStyle/>
          <a:p>
            <a:pPr algn="l" defTabSz="814388" eaLnBrk="1" hangingPunct="1">
              <a:spcBef>
                <a:spcPct val="50000"/>
              </a:spcBef>
              <a:buClr>
                <a:schemeClr val="tx2"/>
              </a:buClr>
              <a:buFont typeface="Wingdings" charset="0"/>
              <a:buChar char="§"/>
            </a:pPr>
            <a:endParaRPr lang="en-US" sz="2000" b="1"/>
          </a:p>
        </p:txBody>
      </p:sp>
      <p:sp>
        <p:nvSpPr>
          <p:cNvPr id="27651" name="Rectangle 4"/>
          <p:cNvSpPr>
            <a:spLocks noChangeArrowheads="1"/>
          </p:cNvSpPr>
          <p:nvPr/>
        </p:nvSpPr>
        <p:spPr bwMode="auto">
          <a:xfrm>
            <a:off x="534988" y="1765300"/>
            <a:ext cx="8380412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dirty="0"/>
              <a:t>Which is correct about Preferred Stock: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en-US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dirty="0"/>
              <a:t> A) It is reserved only for preferred customers or investors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dirty="0"/>
              <a:t>B) It is always worth more than common stock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dirty="0"/>
              <a:t>C) It always costs more than common stock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dirty="0"/>
              <a:t>D) It has priority over common stock in the event of the dissolution of the company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dirty="0"/>
              <a:t>E) It cannot be owned by full time employees of the company	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en-US" sz="2000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r>
              <a:rPr lang="en-US" sz="2000" b="1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4156903351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457200"/>
            <a:ext cx="8145462" cy="838200"/>
          </a:xfrm>
        </p:spPr>
        <p:txBody>
          <a:bodyPr/>
          <a:lstStyle/>
          <a:p>
            <a:pPr eaLnBrk="1" hangingPunct="1"/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Question 21</a:t>
            </a:r>
          </a:p>
        </p:txBody>
      </p:sp>
      <p:sp>
        <p:nvSpPr>
          <p:cNvPr id="28674" name="Rectangle 3"/>
          <p:cNvSpPr>
            <a:spLocks noChangeArrowheads="1"/>
          </p:cNvSpPr>
          <p:nvPr/>
        </p:nvSpPr>
        <p:spPr bwMode="auto">
          <a:xfrm>
            <a:off x="2016125" y="876300"/>
            <a:ext cx="81454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/>
          <a:lstStyle/>
          <a:p>
            <a:pPr algn="l" defTabSz="814388" eaLnBrk="1" hangingPunct="1">
              <a:spcBef>
                <a:spcPct val="50000"/>
              </a:spcBef>
              <a:buClr>
                <a:schemeClr val="tx2"/>
              </a:buClr>
              <a:buFont typeface="Wingdings" charset="0"/>
              <a:buChar char="§"/>
            </a:pPr>
            <a:endParaRPr lang="en-US" sz="2000" b="1"/>
          </a:p>
        </p:txBody>
      </p:sp>
      <p:sp>
        <p:nvSpPr>
          <p:cNvPr id="28675" name="Rectangle 4"/>
          <p:cNvSpPr>
            <a:spLocks noChangeArrowheads="1"/>
          </p:cNvSpPr>
          <p:nvPr/>
        </p:nvSpPr>
        <p:spPr bwMode="auto">
          <a:xfrm>
            <a:off x="300038" y="1943100"/>
            <a:ext cx="8380412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dirty="0"/>
              <a:t>Which one of the below is the MAJOR responsibility of a businessperson: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en-US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dirty="0"/>
              <a:t>A) Making as little income as possible that is taxable in order to minimize the government's cut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dirty="0"/>
              <a:t>B) Making as much money as possible for the employees to share in salary, bonus and benefits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dirty="0"/>
              <a:t>C) Making sure the company is legally compliant with all reporting and other regulatory requirements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dirty="0"/>
              <a:t>D) Making as much money as possible to distribute in dividends to stockholders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dirty="0"/>
              <a:t>E) Making the value of the company increase by generating increasing revenues and profits	</a:t>
            </a:r>
          </a:p>
        </p:txBody>
      </p:sp>
    </p:spTree>
    <p:extLst>
      <p:ext uri="{BB962C8B-B14F-4D97-AF65-F5344CB8AC3E}">
        <p14:creationId xmlns:p14="http://schemas.microsoft.com/office/powerpoint/2010/main" val="3303909414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457200"/>
            <a:ext cx="8145462" cy="838200"/>
          </a:xfrm>
        </p:spPr>
        <p:txBody>
          <a:bodyPr/>
          <a:lstStyle/>
          <a:p>
            <a:pPr eaLnBrk="1" hangingPunct="1"/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Question 22</a:t>
            </a:r>
          </a:p>
        </p:txBody>
      </p:sp>
      <p:sp>
        <p:nvSpPr>
          <p:cNvPr id="29698" name="Rectangle 3"/>
          <p:cNvSpPr>
            <a:spLocks noChangeArrowheads="1"/>
          </p:cNvSpPr>
          <p:nvPr/>
        </p:nvSpPr>
        <p:spPr bwMode="auto">
          <a:xfrm>
            <a:off x="2016125" y="876300"/>
            <a:ext cx="81454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/>
          <a:lstStyle/>
          <a:p>
            <a:pPr algn="l" defTabSz="814388" eaLnBrk="1" hangingPunct="1">
              <a:spcBef>
                <a:spcPct val="50000"/>
              </a:spcBef>
              <a:buClr>
                <a:schemeClr val="tx2"/>
              </a:buClr>
              <a:buFont typeface="Wingdings" charset="0"/>
              <a:buChar char="§"/>
            </a:pPr>
            <a:endParaRPr lang="en-US" sz="2000" b="1"/>
          </a:p>
        </p:txBody>
      </p:sp>
      <p:sp>
        <p:nvSpPr>
          <p:cNvPr id="29699" name="Rectangle 4"/>
          <p:cNvSpPr>
            <a:spLocks noChangeArrowheads="1"/>
          </p:cNvSpPr>
          <p:nvPr/>
        </p:nvSpPr>
        <p:spPr bwMode="auto">
          <a:xfrm>
            <a:off x="534988" y="1625600"/>
            <a:ext cx="8380412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sz="2000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dirty="0"/>
              <a:t>Which is the most relevant statement to an employee regarding the understanding and use of financial statements: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en-US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dirty="0"/>
              <a:t>A) They are only really needed by a company's Chief Financial Officer or Controller or Accounting Staff who are paid to understand and use these things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dirty="0"/>
              <a:t>B) They have little to do with the "real life" day to day operations of most departments or sections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dirty="0"/>
              <a:t>C) They can help any employee understand her or his impact on the financial health of the company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dirty="0"/>
              <a:t>D) They are only really used to determine taxes owed or not owed. 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dirty="0"/>
              <a:t>E) They are only really needed by senior executives, board members and shareholder	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r>
              <a:rPr lang="en-US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712163899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10436" y="2381144"/>
            <a:ext cx="4249899" cy="17543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tx2"/>
                </a:solidFill>
              </a:rPr>
              <a:t>Thank you!</a:t>
            </a:r>
          </a:p>
          <a:p>
            <a:pPr algn="ctr"/>
            <a:endParaRPr lang="en-US" sz="3600" b="1" dirty="0">
              <a:solidFill>
                <a:schemeClr val="tx2"/>
              </a:solidFill>
            </a:endParaRPr>
          </a:p>
          <a:p>
            <a:pPr algn="ctr"/>
            <a:r>
              <a:rPr lang="en-US" sz="3600" b="1" dirty="0">
                <a:solidFill>
                  <a:schemeClr val="tx2"/>
                </a:solidFill>
              </a:rPr>
              <a:t>See you next time</a:t>
            </a:r>
          </a:p>
        </p:txBody>
      </p:sp>
    </p:spTree>
    <p:extLst>
      <p:ext uri="{BB962C8B-B14F-4D97-AF65-F5344CB8AC3E}">
        <p14:creationId xmlns:p14="http://schemas.microsoft.com/office/powerpoint/2010/main" val="149357950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aveform">
  <a:themeElements>
    <a:clrScheme name="Waveform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Waveform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aveform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D8531485B0C104F9C58C50E30CD7832" ma:contentTypeVersion="1" ma:contentTypeDescription="Create a new document." ma:contentTypeScope="" ma:versionID="58a86c6f1029ee17be9ef6c312030f40">
  <xsd:schema xmlns:xsd="http://www.w3.org/2001/XMLSchema" xmlns:xs="http://www.w3.org/2001/XMLSchema" xmlns:p="http://schemas.microsoft.com/office/2006/metadata/properties" xmlns:ns2="0ea48c8c-38ab-43fa-892b-dc8a284a5f0d" targetNamespace="http://schemas.microsoft.com/office/2006/metadata/properties" ma:root="true" ma:fieldsID="9673b1d4392e19ee1d50cb9b2057660e" ns2:_="">
    <xsd:import namespace="0ea48c8c-38ab-43fa-892b-dc8a284a5f0d"/>
    <xsd:element name="properties">
      <xsd:complexType>
        <xsd:sequence>
          <xsd:element name="documentManagement">
            <xsd:complexType>
              <xsd:all>
                <xsd:element ref="ns2:Reference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a48c8c-38ab-43fa-892b-dc8a284a5f0d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0ea48c8c-38ab-43fa-892b-dc8a284a5f0d" xsi:nil="true"/>
  </documentManagement>
</p:properties>
</file>

<file path=customXml/itemProps1.xml><?xml version="1.0" encoding="utf-8"?>
<ds:datastoreItem xmlns:ds="http://schemas.openxmlformats.org/officeDocument/2006/customXml" ds:itemID="{6C524373-5117-42EE-B0CD-BDC60295FDF7}"/>
</file>

<file path=customXml/itemProps2.xml><?xml version="1.0" encoding="utf-8"?>
<ds:datastoreItem xmlns:ds="http://schemas.openxmlformats.org/officeDocument/2006/customXml" ds:itemID="{CDC7BCBD-30BE-4396-9DAF-C34B276DE8EF}"/>
</file>

<file path=customXml/itemProps3.xml><?xml version="1.0" encoding="utf-8"?>
<ds:datastoreItem xmlns:ds="http://schemas.openxmlformats.org/officeDocument/2006/customXml" ds:itemID="{EFC70BCA-C510-4D7C-8D32-F113A00AAEF7}"/>
</file>

<file path=docProps/app.xml><?xml version="1.0" encoding="utf-8"?>
<Properties xmlns="http://schemas.openxmlformats.org/officeDocument/2006/extended-properties" xmlns:vt="http://schemas.openxmlformats.org/officeDocument/2006/docPropsVTypes">
  <Template>Waveform.thmx</Template>
  <TotalTime>3152</TotalTime>
  <Words>1046</Words>
  <Application>Microsoft Macintosh PowerPoint</Application>
  <PresentationFormat>On-screen Show (4:3)</PresentationFormat>
  <Paragraphs>255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Calibri</vt:lpstr>
      <vt:lpstr>Candara</vt:lpstr>
      <vt:lpstr>Symbol</vt:lpstr>
      <vt:lpstr>Wingdings</vt:lpstr>
      <vt:lpstr>Waveform</vt:lpstr>
      <vt:lpstr>Finance for IT managers</vt:lpstr>
      <vt:lpstr>Finance quiz</vt:lpstr>
      <vt:lpstr>Question 1</vt:lpstr>
      <vt:lpstr>Question 2</vt:lpstr>
      <vt:lpstr>Question 3</vt:lpstr>
      <vt:lpstr>Question 4</vt:lpstr>
      <vt:lpstr>Question 5</vt:lpstr>
      <vt:lpstr>Question 6 </vt:lpstr>
      <vt:lpstr>Question 7 </vt:lpstr>
      <vt:lpstr>Question 8 </vt:lpstr>
      <vt:lpstr>Question 9</vt:lpstr>
      <vt:lpstr>Question 10</vt:lpstr>
      <vt:lpstr>Question 11</vt:lpstr>
      <vt:lpstr>Question 12</vt:lpstr>
      <vt:lpstr>Question 13</vt:lpstr>
      <vt:lpstr>Question 14</vt:lpstr>
      <vt:lpstr>Question 15</vt:lpstr>
      <vt:lpstr>Question 16</vt:lpstr>
      <vt:lpstr>Question 17</vt:lpstr>
      <vt:lpstr>Question 18</vt:lpstr>
      <vt:lpstr>Question 19</vt:lpstr>
      <vt:lpstr>Question 20</vt:lpstr>
      <vt:lpstr>Question 21</vt:lpstr>
      <vt:lpstr>Question 22</vt:lpstr>
      <vt:lpstr>PowerPoint Presentation</vt:lpstr>
    </vt:vector>
  </TitlesOfParts>
  <Manager/>
  <Company>Hervé Gallot for EPITA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International Masters</dc:title>
  <dc:subject>Finance for IT Managers</dc:subject>
  <dc:creator>Hervé Gallot</dc:creator>
  <cp:keywords/>
  <dc:description/>
  <cp:lastModifiedBy>appriou sylvie</cp:lastModifiedBy>
  <cp:revision>572</cp:revision>
  <cp:lastPrinted>2013-03-07T08:20:19Z</cp:lastPrinted>
  <dcterms:created xsi:type="dcterms:W3CDTF">2013-02-25T11:18:49Z</dcterms:created>
  <dcterms:modified xsi:type="dcterms:W3CDTF">2025-09-17T09:31:37Z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0x010100FD8531485B0C104F9C58C50E30CD7832</vt:lpwstr>
  </property>
</Properties>
</file>