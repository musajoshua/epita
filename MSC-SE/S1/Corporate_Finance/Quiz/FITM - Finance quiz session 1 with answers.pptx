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3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49"/>
  </p:notesMasterIdLst>
  <p:handoutMasterIdLst>
    <p:handoutMasterId r:id="rId50"/>
  </p:handoutMasterIdLst>
  <p:sldIdLst>
    <p:sldId id="256" r:id="rId2"/>
    <p:sldId id="463" r:id="rId3"/>
    <p:sldId id="464" r:id="rId4"/>
    <p:sldId id="465" r:id="rId5"/>
    <p:sldId id="466" r:id="rId6"/>
    <p:sldId id="467" r:id="rId7"/>
    <p:sldId id="468" r:id="rId8"/>
    <p:sldId id="469" r:id="rId9"/>
    <p:sldId id="470" r:id="rId10"/>
    <p:sldId id="471" r:id="rId11"/>
    <p:sldId id="472" r:id="rId12"/>
    <p:sldId id="473" r:id="rId13"/>
    <p:sldId id="474" r:id="rId14"/>
    <p:sldId id="475" r:id="rId15"/>
    <p:sldId id="476" r:id="rId16"/>
    <p:sldId id="477" r:id="rId17"/>
    <p:sldId id="478" r:id="rId18"/>
    <p:sldId id="479" r:id="rId19"/>
    <p:sldId id="480" r:id="rId20"/>
    <p:sldId id="481" r:id="rId21"/>
    <p:sldId id="482" r:id="rId22"/>
    <p:sldId id="483" r:id="rId23"/>
    <p:sldId id="484" r:id="rId24"/>
    <p:sldId id="485" r:id="rId25"/>
    <p:sldId id="486" r:id="rId26"/>
    <p:sldId id="487" r:id="rId27"/>
    <p:sldId id="488" r:id="rId28"/>
    <p:sldId id="489" r:id="rId29"/>
    <p:sldId id="490" r:id="rId30"/>
    <p:sldId id="491" r:id="rId31"/>
    <p:sldId id="492" r:id="rId32"/>
    <p:sldId id="493" r:id="rId33"/>
    <p:sldId id="494" r:id="rId34"/>
    <p:sldId id="495" r:id="rId35"/>
    <p:sldId id="498" r:id="rId36"/>
    <p:sldId id="499" r:id="rId37"/>
    <p:sldId id="500" r:id="rId38"/>
    <p:sldId id="501" r:id="rId39"/>
    <p:sldId id="502" r:id="rId40"/>
    <p:sldId id="503" r:id="rId41"/>
    <p:sldId id="504" r:id="rId42"/>
    <p:sldId id="505" r:id="rId43"/>
    <p:sldId id="506" r:id="rId44"/>
    <p:sldId id="507" r:id="rId45"/>
    <p:sldId id="508" r:id="rId46"/>
    <p:sldId id="509" r:id="rId47"/>
    <p:sldId id="315" r:id="rId4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clrMode="bw" frameSlides="1"/>
  <p:clrMru>
    <a:srgbClr val="185C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872" autoAdjust="0"/>
  </p:normalViewPr>
  <p:slideViewPr>
    <p:cSldViewPr snapToGrid="0" snapToObjects="1">
      <p:cViewPr varScale="1">
        <p:scale>
          <a:sx n="117" d="100"/>
          <a:sy n="117" d="100"/>
        </p:scale>
        <p:origin x="140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1" d="100"/>
        <a:sy n="141" d="100"/>
      </p:scale>
      <p:origin x="0" y="65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ustomXml" Target="../customXml/item2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57" Type="http://schemas.openxmlformats.org/officeDocument/2006/relationships/customXml" Target="../customXml/item3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9F7FC8-EDF1-B745-B794-DEBC2B28F3A5}" type="datetimeFigureOut">
              <a:rPr lang="en-US" smtClean="0"/>
              <a:t>9/17/25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CC7BF8-8EEA-E746-B6B1-70A030903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1955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7C15C-9360-D846-82FF-FB09835C3991}" type="datetimeFigureOut">
              <a:rPr lang="en-US" smtClean="0"/>
              <a:t>9/17/25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7098D7-F03D-454D-A4F0-32B46C79E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19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 userDrawn="1"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fr-FR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E2307-1E40-4E12-8716-25BFDA8E7013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D9D02-426E-46C9-9EE9-0DE1EF8B2838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fr-F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EBBE-F8B2-42CF-9895-E86A608384EB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AA6B6-10E5-4810-BC9F-DA72D8452E73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D072-EF12-4AA2-BD71-ABC68B06D0E2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BF60-6CC3-4B74-A60D-3486985E4346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4818-984F-4759-BF72-A33BDC1963BD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7E191-5F94-4FC1-B823-BD7CABF7FA06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fr-F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6D55-EFBE-4F9B-8A5F-09D42CA22A9B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Drag picture to placeholder or click icon to add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FCF5A-EA79-452C-A52C-1A2668C2E7DF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C4C28-BD4B-4892-9A2D-6E19BD753A9A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38" y="457200"/>
            <a:ext cx="8145462" cy="838200"/>
          </a:xfrm>
        </p:spPr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55638" y="1781175"/>
            <a:ext cx="7940675" cy="3571875"/>
          </a:xfrm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8747082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9D1D110F-3F4E-48D9-B8AA-5D0E825AFDBA}" type="datetime1">
              <a:rPr lang="en-US" smtClean="0"/>
              <a:pPr/>
              <a:t>9/17/25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Finance for IT managers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International Masters </a:t>
            </a:r>
          </a:p>
          <a:p>
            <a:r>
              <a:rPr lang="en-US"/>
              <a:t>Fall </a:t>
            </a:r>
            <a:r>
              <a:rPr lang="en-US" dirty="0"/>
              <a:t>2025 program</a:t>
            </a:r>
          </a:p>
        </p:txBody>
      </p:sp>
      <p:pic>
        <p:nvPicPr>
          <p:cNvPr id="4" name="Image 3" descr="\\shares.ionis.epitech.net\EPITA_MASTER_INTERNATIONAUX\Logos\EPITA GRADUATE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3" y="5798820"/>
            <a:ext cx="1869440" cy="1059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6481638" y="6338125"/>
            <a:ext cx="2433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185CB9"/>
                </a:solidFill>
              </a:rPr>
              <a:t>©</a:t>
            </a:r>
            <a:r>
              <a:rPr lang="en-US" dirty="0"/>
              <a:t> </a:t>
            </a:r>
            <a:r>
              <a:rPr lang="en-US" b="1" dirty="0">
                <a:solidFill>
                  <a:srgbClr val="185CB9"/>
                </a:solidFill>
              </a:rPr>
              <a:t>Sylvie Appriou</a:t>
            </a:r>
          </a:p>
        </p:txBody>
      </p:sp>
    </p:spTree>
    <p:extLst>
      <p:ext uri="{BB962C8B-B14F-4D97-AF65-F5344CB8AC3E}">
        <p14:creationId xmlns:p14="http://schemas.microsoft.com/office/powerpoint/2010/main" val="861334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1610610"/>
            <a:ext cx="7772400" cy="2376950"/>
          </a:xfrm>
        </p:spPr>
        <p:txBody>
          <a:bodyPr/>
          <a:lstStyle/>
          <a:p>
            <a:r>
              <a:rPr lang="en-US" dirty="0"/>
              <a:t>Finance quiz</a:t>
            </a:r>
          </a:p>
        </p:txBody>
      </p:sp>
    </p:spTree>
    <p:extLst>
      <p:ext uri="{BB962C8B-B14F-4D97-AF65-F5344CB8AC3E}">
        <p14:creationId xmlns:p14="http://schemas.microsoft.com/office/powerpoint/2010/main" val="183075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1</a:t>
            </a:r>
          </a:p>
        </p:txBody>
      </p:sp>
      <p:sp>
        <p:nvSpPr>
          <p:cNvPr id="7170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7171" name="Rectangle 4"/>
          <p:cNvSpPr>
            <a:spLocks noChangeArrowheads="1"/>
          </p:cNvSpPr>
          <p:nvPr/>
        </p:nvSpPr>
        <p:spPr bwMode="auto">
          <a:xfrm>
            <a:off x="534988" y="2133600"/>
            <a:ext cx="7883525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/>
              <a:t>The </a:t>
            </a:r>
            <a:r>
              <a:rPr lang="fr-FR" b="1" dirty="0" err="1"/>
              <a:t>formal</a:t>
            </a:r>
            <a:r>
              <a:rPr lang="fr-FR" b="1" dirty="0"/>
              <a:t> </a:t>
            </a:r>
            <a:r>
              <a:rPr lang="fr-FR" b="1" dirty="0" err="1"/>
              <a:t>financial</a:t>
            </a:r>
            <a:r>
              <a:rPr lang="fr-FR" b="1" dirty="0"/>
              <a:t> </a:t>
            </a:r>
            <a:r>
              <a:rPr lang="fr-FR" b="1" dirty="0" err="1"/>
              <a:t>statements</a:t>
            </a:r>
            <a:r>
              <a:rPr lang="fr-FR" b="1" dirty="0"/>
              <a:t> are </a:t>
            </a:r>
            <a:r>
              <a:rPr lang="fr-FR" b="1" dirty="0" err="1"/>
              <a:t>prepared</a:t>
            </a:r>
            <a:r>
              <a:rPr lang="fr-FR" b="1" dirty="0"/>
              <a:t> by </a:t>
            </a:r>
            <a:r>
              <a:rPr lang="fr-FR" b="1" dirty="0" err="1"/>
              <a:t>using</a:t>
            </a:r>
            <a:r>
              <a:rPr lang="fr-FR" b="1" dirty="0"/>
              <a:t> a trial balance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687388" y="31813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False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687388" y="37338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True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17843305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1</a:t>
            </a:r>
          </a:p>
        </p:txBody>
      </p:sp>
      <p:sp>
        <p:nvSpPr>
          <p:cNvPr id="8194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8195" name="Rectangle 4"/>
          <p:cNvSpPr>
            <a:spLocks noChangeArrowheads="1"/>
          </p:cNvSpPr>
          <p:nvPr/>
        </p:nvSpPr>
        <p:spPr bwMode="auto">
          <a:xfrm>
            <a:off x="534988" y="2209800"/>
            <a:ext cx="7883525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/>
              <a:t>The </a:t>
            </a:r>
            <a:r>
              <a:rPr lang="fr-FR" b="1" dirty="0" err="1"/>
              <a:t>formal</a:t>
            </a:r>
            <a:r>
              <a:rPr lang="fr-FR" b="1" dirty="0"/>
              <a:t> </a:t>
            </a:r>
            <a:r>
              <a:rPr lang="fr-FR" b="1" dirty="0" err="1"/>
              <a:t>financial</a:t>
            </a:r>
            <a:r>
              <a:rPr lang="fr-FR" b="1" dirty="0"/>
              <a:t> </a:t>
            </a:r>
            <a:r>
              <a:rPr lang="fr-FR" b="1" dirty="0" err="1"/>
              <a:t>statements</a:t>
            </a:r>
            <a:r>
              <a:rPr lang="fr-FR" b="1" dirty="0"/>
              <a:t> are </a:t>
            </a:r>
            <a:r>
              <a:rPr lang="fr-FR" b="1" dirty="0" err="1"/>
              <a:t>prepared</a:t>
            </a:r>
            <a:r>
              <a:rPr lang="fr-FR" b="1" dirty="0"/>
              <a:t> by </a:t>
            </a:r>
            <a:r>
              <a:rPr lang="fr-FR" b="1" dirty="0" err="1"/>
              <a:t>using</a:t>
            </a:r>
            <a:r>
              <a:rPr lang="fr-FR" b="1" dirty="0"/>
              <a:t> a trial balance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687388" y="31813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687388" y="37338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True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339706557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2</a:t>
            </a:r>
          </a:p>
        </p:txBody>
      </p:sp>
      <p:sp>
        <p:nvSpPr>
          <p:cNvPr id="9218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9219" name="Rectangle 4"/>
          <p:cNvSpPr>
            <a:spLocks noChangeArrowheads="1"/>
          </p:cNvSpPr>
          <p:nvPr/>
        </p:nvSpPr>
        <p:spPr bwMode="auto">
          <a:xfrm>
            <a:off x="534988" y="2095500"/>
            <a:ext cx="7883525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/>
              <a:t>The </a:t>
            </a:r>
            <a:r>
              <a:rPr lang="fr-FR" b="1" dirty="0" err="1"/>
              <a:t>financial</a:t>
            </a:r>
            <a:r>
              <a:rPr lang="fr-FR" b="1" dirty="0"/>
              <a:t> </a:t>
            </a:r>
            <a:r>
              <a:rPr lang="fr-FR" b="1" dirty="0" err="1"/>
              <a:t>statement</a:t>
            </a:r>
            <a:r>
              <a:rPr lang="fr-FR" b="1" dirty="0"/>
              <a:t> </a:t>
            </a:r>
            <a:r>
              <a:rPr lang="fr-FR" b="1" dirty="0" err="1"/>
              <a:t>that</a:t>
            </a:r>
            <a:r>
              <a:rPr lang="fr-FR" b="1" dirty="0"/>
              <a:t> </a:t>
            </a:r>
            <a:r>
              <a:rPr lang="fr-FR" b="1" dirty="0" err="1"/>
              <a:t>summarizes</a:t>
            </a:r>
            <a:r>
              <a:rPr lang="fr-FR" b="1" dirty="0"/>
              <a:t> all the changes in </a:t>
            </a:r>
            <a:r>
              <a:rPr lang="fr-FR" b="1" dirty="0" err="1"/>
              <a:t>owner</a:t>
            </a:r>
            <a:r>
              <a:rPr lang="fr-FR" b="1" dirty="0"/>
              <a:t> ‘s </a:t>
            </a:r>
            <a:r>
              <a:rPr lang="fr-FR" b="1" dirty="0" err="1"/>
              <a:t>equity</a:t>
            </a:r>
            <a:r>
              <a:rPr lang="fr-FR" b="1" dirty="0"/>
              <a:t> </a:t>
            </a:r>
            <a:r>
              <a:rPr lang="fr-FR" b="1" dirty="0" err="1"/>
              <a:t>that</a:t>
            </a:r>
            <a:r>
              <a:rPr lang="fr-FR" b="1" dirty="0"/>
              <a:t> </a:t>
            </a:r>
            <a:r>
              <a:rPr lang="fr-FR" b="1" dirty="0" err="1"/>
              <a:t>occured</a:t>
            </a:r>
            <a:r>
              <a:rPr lang="fr-FR" b="1" dirty="0"/>
              <a:t> </a:t>
            </a:r>
            <a:r>
              <a:rPr lang="fr-FR" b="1" dirty="0" err="1"/>
              <a:t>during</a:t>
            </a:r>
            <a:r>
              <a:rPr lang="fr-FR" b="1" dirty="0"/>
              <a:t> a </a:t>
            </a:r>
            <a:r>
              <a:rPr lang="fr-FR" b="1" dirty="0" err="1"/>
              <a:t>period</a:t>
            </a:r>
            <a:r>
              <a:rPr lang="fr-FR" b="1" dirty="0"/>
              <a:t> </a:t>
            </a:r>
            <a:r>
              <a:rPr lang="fr-FR" b="1" dirty="0" err="1"/>
              <a:t>is</a:t>
            </a:r>
            <a:r>
              <a:rPr lang="fr-FR" b="1" dirty="0"/>
              <a:t> </a:t>
            </a:r>
            <a:r>
              <a:rPr lang="fr-FR" b="1" dirty="0" err="1"/>
              <a:t>called</a:t>
            </a:r>
            <a:r>
              <a:rPr lang="fr-FR" b="1" dirty="0"/>
              <a:t> the Capital </a:t>
            </a:r>
            <a:r>
              <a:rPr lang="fr-FR" b="1" dirty="0" err="1"/>
              <a:t>Statement</a:t>
            </a:r>
            <a:r>
              <a:rPr lang="fr-FR" b="1" dirty="0"/>
              <a:t> 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687388" y="31813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False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687388" y="37338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True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249823027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2</a:t>
            </a:r>
          </a:p>
        </p:txBody>
      </p:sp>
      <p:sp>
        <p:nvSpPr>
          <p:cNvPr id="10242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10243" name="Rectangle 4"/>
          <p:cNvSpPr>
            <a:spLocks noChangeArrowheads="1"/>
          </p:cNvSpPr>
          <p:nvPr/>
        </p:nvSpPr>
        <p:spPr bwMode="auto">
          <a:xfrm>
            <a:off x="534988" y="1981200"/>
            <a:ext cx="7883525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/>
              <a:t>The </a:t>
            </a:r>
            <a:r>
              <a:rPr lang="fr-FR" b="1" dirty="0" err="1"/>
              <a:t>financial</a:t>
            </a:r>
            <a:r>
              <a:rPr lang="fr-FR" b="1" dirty="0"/>
              <a:t> </a:t>
            </a:r>
            <a:r>
              <a:rPr lang="fr-FR" b="1" dirty="0" err="1"/>
              <a:t>statement</a:t>
            </a:r>
            <a:r>
              <a:rPr lang="fr-FR" b="1" dirty="0"/>
              <a:t> </a:t>
            </a:r>
            <a:r>
              <a:rPr lang="fr-FR" b="1" dirty="0" err="1"/>
              <a:t>that</a:t>
            </a:r>
            <a:r>
              <a:rPr lang="fr-FR" b="1" dirty="0"/>
              <a:t> </a:t>
            </a:r>
            <a:r>
              <a:rPr lang="fr-FR" b="1" dirty="0" err="1"/>
              <a:t>summarizes</a:t>
            </a:r>
            <a:r>
              <a:rPr lang="fr-FR" b="1" dirty="0"/>
              <a:t> all the changes in </a:t>
            </a:r>
            <a:r>
              <a:rPr lang="fr-FR" b="1" dirty="0" err="1"/>
              <a:t>owner</a:t>
            </a:r>
            <a:r>
              <a:rPr lang="fr-FR" b="1" dirty="0"/>
              <a:t> ‘s </a:t>
            </a:r>
            <a:r>
              <a:rPr lang="fr-FR" b="1" dirty="0" err="1"/>
              <a:t>equity</a:t>
            </a:r>
            <a:r>
              <a:rPr lang="fr-FR" b="1" dirty="0"/>
              <a:t> </a:t>
            </a:r>
            <a:r>
              <a:rPr lang="fr-FR" b="1" dirty="0" err="1"/>
              <a:t>that</a:t>
            </a:r>
            <a:r>
              <a:rPr lang="fr-FR" b="1" dirty="0"/>
              <a:t> </a:t>
            </a:r>
            <a:r>
              <a:rPr lang="fr-FR" b="1" dirty="0" err="1"/>
              <a:t>occured</a:t>
            </a:r>
            <a:r>
              <a:rPr lang="fr-FR" b="1" dirty="0"/>
              <a:t> </a:t>
            </a:r>
            <a:r>
              <a:rPr lang="fr-FR" b="1" dirty="0" err="1"/>
              <a:t>during</a:t>
            </a:r>
            <a:r>
              <a:rPr lang="fr-FR" b="1" dirty="0"/>
              <a:t> a </a:t>
            </a:r>
            <a:r>
              <a:rPr lang="fr-FR" b="1" dirty="0" err="1"/>
              <a:t>period</a:t>
            </a:r>
            <a:r>
              <a:rPr lang="fr-FR" b="1" dirty="0"/>
              <a:t> </a:t>
            </a:r>
            <a:r>
              <a:rPr lang="fr-FR" b="1" dirty="0" err="1"/>
              <a:t>is</a:t>
            </a:r>
            <a:r>
              <a:rPr lang="fr-FR" b="1" dirty="0"/>
              <a:t> </a:t>
            </a:r>
            <a:r>
              <a:rPr lang="fr-FR" b="1" dirty="0" err="1"/>
              <a:t>called</a:t>
            </a:r>
            <a:r>
              <a:rPr lang="fr-FR" b="1" dirty="0"/>
              <a:t> the Capital </a:t>
            </a:r>
            <a:r>
              <a:rPr lang="fr-FR" b="1" dirty="0" err="1"/>
              <a:t>Statement</a:t>
            </a:r>
            <a:r>
              <a:rPr lang="fr-FR" b="1" dirty="0"/>
              <a:t> 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687388" y="31813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687388" y="37338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True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61947682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3</a:t>
            </a:r>
          </a:p>
        </p:txBody>
      </p:sp>
      <p:sp>
        <p:nvSpPr>
          <p:cNvPr id="11266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11267" name="Rectangle 4"/>
          <p:cNvSpPr>
            <a:spLocks noChangeArrowheads="1"/>
          </p:cNvSpPr>
          <p:nvPr/>
        </p:nvSpPr>
        <p:spPr bwMode="auto">
          <a:xfrm>
            <a:off x="534988" y="2076450"/>
            <a:ext cx="7883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/>
              <a:t>All the Revenue, </a:t>
            </a:r>
            <a:r>
              <a:rPr lang="fr-FR" b="1" dirty="0" err="1"/>
              <a:t>Expense</a:t>
            </a:r>
            <a:r>
              <a:rPr lang="fr-FR" b="1" dirty="0"/>
              <a:t> and </a:t>
            </a:r>
            <a:r>
              <a:rPr lang="fr-FR" b="1" dirty="0" err="1"/>
              <a:t>Draw</a:t>
            </a:r>
            <a:r>
              <a:rPr lang="fr-FR" b="1" dirty="0"/>
              <a:t> </a:t>
            </a:r>
            <a:r>
              <a:rPr lang="fr-FR" b="1" dirty="0" err="1"/>
              <a:t>accounts</a:t>
            </a:r>
            <a:r>
              <a:rPr lang="fr-FR" b="1" dirty="0"/>
              <a:t> balance are reset to </a:t>
            </a:r>
            <a:r>
              <a:rPr lang="fr-FR" b="1" dirty="0" err="1"/>
              <a:t>zero</a:t>
            </a:r>
            <a:r>
              <a:rPr lang="fr-FR" b="1" dirty="0"/>
              <a:t> </a:t>
            </a:r>
            <a:r>
              <a:rPr lang="fr-FR" b="1" dirty="0" err="1"/>
              <a:t>at</a:t>
            </a:r>
            <a:r>
              <a:rPr lang="fr-FR" b="1" dirty="0"/>
              <a:t> the end of a business </a:t>
            </a:r>
            <a:r>
              <a:rPr lang="fr-FR" b="1" dirty="0" err="1"/>
              <a:t>accounting</a:t>
            </a:r>
            <a:r>
              <a:rPr lang="fr-FR" b="1" dirty="0"/>
              <a:t> </a:t>
            </a:r>
            <a:r>
              <a:rPr lang="fr-FR" b="1" dirty="0" err="1"/>
              <a:t>year</a:t>
            </a: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687388" y="31813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False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687388" y="37338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True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382936179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3</a:t>
            </a:r>
          </a:p>
        </p:txBody>
      </p:sp>
      <p:sp>
        <p:nvSpPr>
          <p:cNvPr id="12290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12291" name="Rectangle 4"/>
          <p:cNvSpPr>
            <a:spLocks noChangeArrowheads="1"/>
          </p:cNvSpPr>
          <p:nvPr/>
        </p:nvSpPr>
        <p:spPr bwMode="auto">
          <a:xfrm>
            <a:off x="534988" y="2343150"/>
            <a:ext cx="7883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/>
              <a:t>All the Revenue, </a:t>
            </a:r>
            <a:r>
              <a:rPr lang="fr-FR" b="1" dirty="0" err="1"/>
              <a:t>Expense</a:t>
            </a:r>
            <a:r>
              <a:rPr lang="fr-FR" b="1" dirty="0"/>
              <a:t> and </a:t>
            </a:r>
            <a:r>
              <a:rPr lang="fr-FR" b="1" dirty="0" err="1"/>
              <a:t>Draw</a:t>
            </a:r>
            <a:r>
              <a:rPr lang="fr-FR" b="1" dirty="0"/>
              <a:t> </a:t>
            </a:r>
            <a:r>
              <a:rPr lang="fr-FR" b="1" dirty="0" err="1"/>
              <a:t>accounts</a:t>
            </a:r>
            <a:r>
              <a:rPr lang="fr-FR" b="1" dirty="0"/>
              <a:t> balance are reset to </a:t>
            </a:r>
            <a:r>
              <a:rPr lang="fr-FR" b="1" dirty="0" err="1"/>
              <a:t>zero</a:t>
            </a:r>
            <a:r>
              <a:rPr lang="fr-FR" b="1" dirty="0"/>
              <a:t> </a:t>
            </a:r>
            <a:r>
              <a:rPr lang="fr-FR" b="1" dirty="0" err="1"/>
              <a:t>at</a:t>
            </a:r>
            <a:r>
              <a:rPr lang="fr-FR" b="1" dirty="0"/>
              <a:t> the end of a business </a:t>
            </a:r>
            <a:r>
              <a:rPr lang="fr-FR" b="1" dirty="0" err="1"/>
              <a:t>accounting</a:t>
            </a:r>
            <a:r>
              <a:rPr lang="fr-FR" b="1" dirty="0"/>
              <a:t> </a:t>
            </a:r>
            <a:r>
              <a:rPr lang="fr-FR" b="1" dirty="0" err="1"/>
              <a:t>year</a:t>
            </a: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687388" y="31813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687388" y="37338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True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127210672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4</a:t>
            </a:r>
          </a:p>
        </p:txBody>
      </p:sp>
      <p:sp>
        <p:nvSpPr>
          <p:cNvPr id="13314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13315" name="Rectangle 4"/>
          <p:cNvSpPr>
            <a:spLocks noChangeArrowheads="1"/>
          </p:cNvSpPr>
          <p:nvPr/>
        </p:nvSpPr>
        <p:spPr bwMode="auto">
          <a:xfrm>
            <a:off x="534988" y="2343150"/>
            <a:ext cx="7883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/>
              <a:t>An </a:t>
            </a:r>
            <a:r>
              <a:rPr lang="fr-FR" b="1" dirty="0" err="1"/>
              <a:t>Income</a:t>
            </a:r>
            <a:r>
              <a:rPr lang="fr-FR" b="1" dirty="0"/>
              <a:t> </a:t>
            </a:r>
            <a:r>
              <a:rPr lang="fr-FR" b="1" dirty="0" err="1"/>
              <a:t>Statement</a:t>
            </a:r>
            <a:r>
              <a:rPr lang="fr-FR" b="1" dirty="0"/>
              <a:t> </a:t>
            </a:r>
            <a:r>
              <a:rPr lang="fr-FR" b="1" dirty="0" err="1"/>
              <a:t>is</a:t>
            </a:r>
            <a:r>
              <a:rPr lang="fr-FR" b="1" dirty="0"/>
              <a:t> </a:t>
            </a:r>
            <a:r>
              <a:rPr lang="fr-FR" b="1" dirty="0" err="1"/>
              <a:t>also</a:t>
            </a:r>
            <a:r>
              <a:rPr lang="fr-FR" b="1" dirty="0"/>
              <a:t> </a:t>
            </a:r>
            <a:r>
              <a:rPr lang="fr-FR" b="1" dirty="0" err="1"/>
              <a:t>often</a:t>
            </a:r>
            <a:r>
              <a:rPr lang="fr-FR" b="1" dirty="0"/>
              <a:t> </a:t>
            </a:r>
            <a:r>
              <a:rPr lang="fr-FR" b="1" dirty="0" err="1"/>
              <a:t>referred</a:t>
            </a:r>
            <a:r>
              <a:rPr lang="fr-FR" b="1" dirty="0"/>
              <a:t> to as a Profit and </a:t>
            </a:r>
            <a:r>
              <a:rPr lang="fr-FR" b="1" dirty="0" err="1"/>
              <a:t>Loss</a:t>
            </a:r>
            <a:r>
              <a:rPr lang="fr-FR" b="1" dirty="0"/>
              <a:t> </a:t>
            </a:r>
            <a:r>
              <a:rPr lang="fr-FR" b="1" dirty="0" err="1"/>
              <a:t>statement</a:t>
            </a: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687388" y="31813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False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687388" y="37338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True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380439324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4</a:t>
            </a:r>
          </a:p>
        </p:txBody>
      </p:sp>
      <p:sp>
        <p:nvSpPr>
          <p:cNvPr id="14338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14339" name="Rectangle 4"/>
          <p:cNvSpPr>
            <a:spLocks noChangeArrowheads="1"/>
          </p:cNvSpPr>
          <p:nvPr/>
        </p:nvSpPr>
        <p:spPr bwMode="auto">
          <a:xfrm>
            <a:off x="534988" y="2432050"/>
            <a:ext cx="7883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/>
              <a:t>An </a:t>
            </a:r>
            <a:r>
              <a:rPr lang="fr-FR" b="1" dirty="0" err="1"/>
              <a:t>Income</a:t>
            </a:r>
            <a:r>
              <a:rPr lang="fr-FR" b="1" dirty="0"/>
              <a:t> </a:t>
            </a:r>
            <a:r>
              <a:rPr lang="fr-FR" b="1" dirty="0" err="1"/>
              <a:t>Statement</a:t>
            </a:r>
            <a:r>
              <a:rPr lang="fr-FR" b="1" dirty="0"/>
              <a:t> </a:t>
            </a:r>
            <a:r>
              <a:rPr lang="fr-FR" b="1" dirty="0" err="1"/>
              <a:t>is</a:t>
            </a:r>
            <a:r>
              <a:rPr lang="fr-FR" b="1" dirty="0"/>
              <a:t> </a:t>
            </a:r>
            <a:r>
              <a:rPr lang="fr-FR" b="1" dirty="0" err="1"/>
              <a:t>also</a:t>
            </a:r>
            <a:r>
              <a:rPr lang="fr-FR" b="1" dirty="0"/>
              <a:t> </a:t>
            </a:r>
            <a:r>
              <a:rPr lang="fr-FR" b="1" dirty="0" err="1"/>
              <a:t>often</a:t>
            </a:r>
            <a:r>
              <a:rPr lang="fr-FR" b="1" dirty="0"/>
              <a:t> </a:t>
            </a:r>
            <a:r>
              <a:rPr lang="fr-FR" b="1" dirty="0" err="1"/>
              <a:t>referred</a:t>
            </a:r>
            <a:r>
              <a:rPr lang="fr-FR" b="1" dirty="0"/>
              <a:t> to as a Profit and </a:t>
            </a:r>
            <a:r>
              <a:rPr lang="fr-FR" b="1" dirty="0" err="1"/>
              <a:t>Loss</a:t>
            </a:r>
            <a:r>
              <a:rPr lang="fr-FR" b="1" dirty="0"/>
              <a:t> </a:t>
            </a:r>
            <a:r>
              <a:rPr lang="fr-FR" b="1" dirty="0" err="1"/>
              <a:t>statement</a:t>
            </a: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687388" y="31813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687388" y="37338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True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63698941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5</a:t>
            </a:r>
          </a:p>
        </p:txBody>
      </p:sp>
      <p:sp>
        <p:nvSpPr>
          <p:cNvPr id="15362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15363" name="Rectangle 4"/>
          <p:cNvSpPr>
            <a:spLocks noChangeArrowheads="1"/>
          </p:cNvSpPr>
          <p:nvPr/>
        </p:nvSpPr>
        <p:spPr bwMode="auto">
          <a:xfrm>
            <a:off x="534988" y="2343150"/>
            <a:ext cx="7883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/>
              <a:t>All Balance </a:t>
            </a:r>
            <a:r>
              <a:rPr lang="fr-FR" b="1" dirty="0" err="1"/>
              <a:t>Sheets</a:t>
            </a:r>
            <a:r>
              <a:rPr lang="fr-FR" b="1" dirty="0"/>
              <a:t> have the </a:t>
            </a:r>
            <a:r>
              <a:rPr lang="fr-FR" b="1" dirty="0" err="1"/>
              <a:t>same</a:t>
            </a:r>
            <a:r>
              <a:rPr lang="fr-FR" b="1" dirty="0"/>
              <a:t> basic </a:t>
            </a:r>
            <a:r>
              <a:rPr lang="fr-FR" b="1" dirty="0" err="1"/>
              <a:t>categories</a:t>
            </a:r>
            <a:r>
              <a:rPr lang="fr-FR" b="1" dirty="0"/>
              <a:t> of </a:t>
            </a:r>
            <a:r>
              <a:rPr lang="fr-FR" b="1" dirty="0" err="1"/>
              <a:t>income</a:t>
            </a:r>
            <a:r>
              <a:rPr lang="fr-FR" b="1" dirty="0"/>
              <a:t> and </a:t>
            </a:r>
            <a:r>
              <a:rPr lang="fr-FR" b="1" dirty="0" err="1"/>
              <a:t>expenses</a:t>
            </a: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687388" y="31813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False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687388" y="37338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True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255507270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5</a:t>
            </a:r>
          </a:p>
        </p:txBody>
      </p:sp>
      <p:sp>
        <p:nvSpPr>
          <p:cNvPr id="16386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16387" name="Rectangle 4"/>
          <p:cNvSpPr>
            <a:spLocks noChangeArrowheads="1"/>
          </p:cNvSpPr>
          <p:nvPr/>
        </p:nvSpPr>
        <p:spPr bwMode="auto">
          <a:xfrm>
            <a:off x="534988" y="2343150"/>
            <a:ext cx="7883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/>
              <a:t>All Balance </a:t>
            </a:r>
            <a:r>
              <a:rPr lang="fr-FR" b="1" dirty="0" err="1"/>
              <a:t>Sheets</a:t>
            </a:r>
            <a:r>
              <a:rPr lang="fr-FR" b="1" dirty="0"/>
              <a:t> have the </a:t>
            </a:r>
            <a:r>
              <a:rPr lang="fr-FR" b="1" dirty="0" err="1"/>
              <a:t>same</a:t>
            </a:r>
            <a:r>
              <a:rPr lang="fr-FR" b="1" dirty="0"/>
              <a:t> basic </a:t>
            </a:r>
            <a:r>
              <a:rPr lang="fr-FR" b="1" dirty="0" err="1"/>
              <a:t>categories</a:t>
            </a:r>
            <a:r>
              <a:rPr lang="fr-FR" b="1" dirty="0"/>
              <a:t> of </a:t>
            </a:r>
            <a:r>
              <a:rPr lang="fr-FR" b="1" dirty="0" err="1"/>
              <a:t>income</a:t>
            </a:r>
            <a:r>
              <a:rPr lang="fr-FR" b="1" dirty="0"/>
              <a:t> and </a:t>
            </a:r>
            <a:r>
              <a:rPr lang="fr-FR" b="1" dirty="0" err="1"/>
              <a:t>expenses</a:t>
            </a: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687388" y="31813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False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687388" y="37338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4274074821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666750"/>
            <a:ext cx="8145462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6</a:t>
            </a:r>
            <a:br>
              <a:rPr lang="en-US">
                <a:latin typeface="Arial" charset="0"/>
                <a:ea typeface="ＭＳ Ｐゴシック" charset="0"/>
                <a:cs typeface="ＭＳ Ｐゴシック" charset="0"/>
              </a:rPr>
            </a:br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0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17411" name="Rectangle 4"/>
          <p:cNvSpPr>
            <a:spLocks noChangeArrowheads="1"/>
          </p:cNvSpPr>
          <p:nvPr/>
        </p:nvSpPr>
        <p:spPr bwMode="auto">
          <a:xfrm>
            <a:off x="534988" y="1866900"/>
            <a:ext cx="7883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/>
              <a:t>The </a:t>
            </a:r>
            <a:r>
              <a:rPr lang="fr-FR" b="1" dirty="0" err="1"/>
              <a:t>financial</a:t>
            </a:r>
            <a:r>
              <a:rPr lang="fr-FR" b="1" dirty="0"/>
              <a:t> </a:t>
            </a:r>
            <a:r>
              <a:rPr lang="fr-FR" b="1" dirty="0" err="1"/>
              <a:t>statement</a:t>
            </a:r>
            <a:r>
              <a:rPr lang="fr-FR" b="1" dirty="0"/>
              <a:t> </a:t>
            </a:r>
            <a:r>
              <a:rPr lang="fr-FR" b="1" dirty="0" err="1"/>
              <a:t>that</a:t>
            </a:r>
            <a:r>
              <a:rPr lang="fr-FR" b="1" dirty="0"/>
              <a:t> </a:t>
            </a:r>
            <a:r>
              <a:rPr lang="fr-FR" b="1" dirty="0" err="1"/>
              <a:t>summarizes</a:t>
            </a:r>
            <a:r>
              <a:rPr lang="fr-FR" b="1" dirty="0"/>
              <a:t> revenues and </a:t>
            </a:r>
            <a:r>
              <a:rPr lang="fr-FR" b="1" dirty="0" err="1"/>
              <a:t>expenses</a:t>
            </a:r>
            <a:r>
              <a:rPr lang="fr-FR" b="1" dirty="0"/>
              <a:t> for a </a:t>
            </a:r>
            <a:r>
              <a:rPr lang="fr-FR" b="1" dirty="0" err="1"/>
              <a:t>specific</a:t>
            </a:r>
            <a:r>
              <a:rPr lang="fr-FR" b="1" dirty="0"/>
              <a:t> </a:t>
            </a:r>
            <a:r>
              <a:rPr lang="fr-FR" b="1" dirty="0" err="1"/>
              <a:t>period</a:t>
            </a:r>
            <a:r>
              <a:rPr lang="fr-FR" b="1" dirty="0"/>
              <a:t> of time </a:t>
            </a:r>
            <a:r>
              <a:rPr lang="fr-FR" b="1" dirty="0" err="1"/>
              <a:t>such</a:t>
            </a:r>
            <a:r>
              <a:rPr lang="fr-FR" b="1" dirty="0"/>
              <a:t> as a </a:t>
            </a:r>
            <a:r>
              <a:rPr lang="fr-FR" b="1" dirty="0" err="1"/>
              <a:t>year</a:t>
            </a:r>
            <a:r>
              <a:rPr lang="fr-FR" b="1" dirty="0"/>
              <a:t> </a:t>
            </a:r>
            <a:r>
              <a:rPr lang="fr-FR" b="1" dirty="0" err="1"/>
              <a:t>is</a:t>
            </a:r>
            <a:r>
              <a:rPr lang="fr-FR" b="1" dirty="0"/>
              <a:t> 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687388" y="30480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Balance sheet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687388" y="35433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None of the listed answer is correct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687388" y="40576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Capital statement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7415" name="Rectangle 7"/>
          <p:cNvSpPr>
            <a:spLocks noChangeArrowheads="1"/>
          </p:cNvSpPr>
          <p:nvPr/>
        </p:nvSpPr>
        <p:spPr bwMode="auto">
          <a:xfrm>
            <a:off x="687388" y="45529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Income statement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190202678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666750"/>
            <a:ext cx="8145462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6</a:t>
            </a:r>
            <a:br>
              <a:rPr lang="en-US">
                <a:latin typeface="Arial" charset="0"/>
                <a:ea typeface="ＭＳ Ｐゴシック" charset="0"/>
                <a:cs typeface="ＭＳ Ｐゴシック" charset="0"/>
              </a:rPr>
            </a:br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18435" name="Rectangle 4"/>
          <p:cNvSpPr>
            <a:spLocks noChangeArrowheads="1"/>
          </p:cNvSpPr>
          <p:nvPr/>
        </p:nvSpPr>
        <p:spPr bwMode="auto">
          <a:xfrm>
            <a:off x="534988" y="2184400"/>
            <a:ext cx="7883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/>
              <a:t>The </a:t>
            </a:r>
            <a:r>
              <a:rPr lang="fr-FR" b="1" dirty="0" err="1"/>
              <a:t>financial</a:t>
            </a:r>
            <a:r>
              <a:rPr lang="fr-FR" b="1" dirty="0"/>
              <a:t> </a:t>
            </a:r>
            <a:r>
              <a:rPr lang="fr-FR" b="1" dirty="0" err="1"/>
              <a:t>statement</a:t>
            </a:r>
            <a:r>
              <a:rPr lang="fr-FR" b="1" dirty="0"/>
              <a:t> </a:t>
            </a:r>
            <a:r>
              <a:rPr lang="fr-FR" b="1" dirty="0" err="1"/>
              <a:t>that</a:t>
            </a:r>
            <a:r>
              <a:rPr lang="fr-FR" b="1" dirty="0"/>
              <a:t> </a:t>
            </a:r>
            <a:r>
              <a:rPr lang="fr-FR" b="1" dirty="0" err="1"/>
              <a:t>summarizes</a:t>
            </a:r>
            <a:r>
              <a:rPr lang="fr-FR" b="1" dirty="0"/>
              <a:t> revenues and </a:t>
            </a:r>
            <a:r>
              <a:rPr lang="fr-FR" b="1" dirty="0" err="1"/>
              <a:t>expenses</a:t>
            </a:r>
            <a:r>
              <a:rPr lang="fr-FR" b="1" dirty="0"/>
              <a:t> for a </a:t>
            </a:r>
            <a:r>
              <a:rPr lang="fr-FR" b="1" dirty="0" err="1"/>
              <a:t>specific</a:t>
            </a:r>
            <a:r>
              <a:rPr lang="fr-FR" b="1" dirty="0"/>
              <a:t> </a:t>
            </a:r>
            <a:r>
              <a:rPr lang="fr-FR" b="1" dirty="0" err="1"/>
              <a:t>period</a:t>
            </a:r>
            <a:r>
              <a:rPr lang="fr-FR" b="1" dirty="0"/>
              <a:t> of time </a:t>
            </a:r>
            <a:r>
              <a:rPr lang="fr-FR" b="1" dirty="0" err="1"/>
              <a:t>such</a:t>
            </a:r>
            <a:r>
              <a:rPr lang="fr-FR" b="1" dirty="0"/>
              <a:t> as a </a:t>
            </a:r>
            <a:r>
              <a:rPr lang="fr-FR" b="1" dirty="0" err="1"/>
              <a:t>year</a:t>
            </a:r>
            <a:r>
              <a:rPr lang="fr-FR" b="1" dirty="0"/>
              <a:t> </a:t>
            </a:r>
            <a:r>
              <a:rPr lang="fr-FR" b="1" dirty="0" err="1"/>
              <a:t>is</a:t>
            </a:r>
            <a:r>
              <a:rPr lang="fr-FR" b="1" dirty="0"/>
              <a:t> 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</p:txBody>
      </p:sp>
      <p:sp>
        <p:nvSpPr>
          <p:cNvPr id="18436" name="Rectangle 6"/>
          <p:cNvSpPr>
            <a:spLocks noChangeArrowheads="1"/>
          </p:cNvSpPr>
          <p:nvPr/>
        </p:nvSpPr>
        <p:spPr bwMode="auto">
          <a:xfrm>
            <a:off x="687388" y="40576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8437" name="Rectangle 7"/>
          <p:cNvSpPr>
            <a:spLocks noChangeArrowheads="1"/>
          </p:cNvSpPr>
          <p:nvPr/>
        </p:nvSpPr>
        <p:spPr bwMode="auto">
          <a:xfrm>
            <a:off x="687388" y="45529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Income statement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2532965275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666750"/>
            <a:ext cx="8145462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7</a:t>
            </a:r>
            <a:br>
              <a:rPr lang="en-US">
                <a:latin typeface="Arial" charset="0"/>
                <a:ea typeface="ＭＳ Ｐゴシック" charset="0"/>
                <a:cs typeface="ＭＳ Ｐゴシック" charset="0"/>
              </a:rPr>
            </a:br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9458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19459" name="Rectangle 4"/>
          <p:cNvSpPr>
            <a:spLocks noChangeArrowheads="1"/>
          </p:cNvSpPr>
          <p:nvPr/>
        </p:nvSpPr>
        <p:spPr bwMode="auto">
          <a:xfrm>
            <a:off x="534988" y="2057400"/>
            <a:ext cx="7883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 err="1"/>
              <a:t>Additional</a:t>
            </a:r>
            <a:r>
              <a:rPr lang="fr-FR" b="1" dirty="0"/>
              <a:t> information </a:t>
            </a:r>
            <a:r>
              <a:rPr lang="fr-FR" b="1" dirty="0" err="1"/>
              <a:t>provided</a:t>
            </a:r>
            <a:r>
              <a:rPr lang="fr-FR" b="1" dirty="0"/>
              <a:t> about a business </a:t>
            </a:r>
            <a:r>
              <a:rPr lang="fr-FR" b="1" dirty="0" err="1"/>
              <a:t>financial</a:t>
            </a:r>
            <a:r>
              <a:rPr lang="fr-FR" b="1" dirty="0"/>
              <a:t> condition and </a:t>
            </a:r>
            <a:r>
              <a:rPr lang="fr-FR" b="1" dirty="0" err="1"/>
              <a:t>methods</a:t>
            </a:r>
            <a:r>
              <a:rPr lang="fr-FR" b="1" dirty="0"/>
              <a:t> </a:t>
            </a:r>
            <a:r>
              <a:rPr lang="fr-FR" b="1" dirty="0" err="1"/>
              <a:t>used</a:t>
            </a:r>
            <a:r>
              <a:rPr lang="fr-FR" b="1" dirty="0"/>
              <a:t> in </a:t>
            </a:r>
            <a:r>
              <a:rPr lang="fr-FR" b="1" dirty="0" err="1"/>
              <a:t>preparing</a:t>
            </a:r>
            <a:r>
              <a:rPr lang="fr-FR" b="1" dirty="0"/>
              <a:t> Financial </a:t>
            </a:r>
            <a:r>
              <a:rPr lang="fr-FR" b="1" dirty="0" err="1"/>
              <a:t>statements</a:t>
            </a:r>
            <a:r>
              <a:rPr lang="fr-FR" b="1" dirty="0"/>
              <a:t> are </a:t>
            </a:r>
            <a:r>
              <a:rPr lang="fr-FR" b="1" dirty="0" err="1"/>
              <a:t>called</a:t>
            </a:r>
            <a:r>
              <a:rPr lang="fr-FR" b="1" dirty="0"/>
              <a:t> 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687388" y="30480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Management summary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687388" y="35433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Owner’s supplemental information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9462" name="Rectangle 6"/>
          <p:cNvSpPr>
            <a:spLocks noChangeArrowheads="1"/>
          </p:cNvSpPr>
          <p:nvPr/>
        </p:nvSpPr>
        <p:spPr bwMode="auto">
          <a:xfrm>
            <a:off x="687388" y="40576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Notes to the Financial statements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9463" name="Rectangle 7"/>
          <p:cNvSpPr>
            <a:spLocks noChangeArrowheads="1"/>
          </p:cNvSpPr>
          <p:nvPr/>
        </p:nvSpPr>
        <p:spPr bwMode="auto">
          <a:xfrm>
            <a:off x="687388" y="45529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Creditor’s notes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3376448564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666750"/>
            <a:ext cx="8145462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7</a:t>
            </a:r>
            <a:br>
              <a:rPr lang="en-US">
                <a:latin typeface="Arial" charset="0"/>
                <a:ea typeface="ＭＳ Ｐゴシック" charset="0"/>
                <a:cs typeface="ＭＳ Ｐゴシック" charset="0"/>
              </a:rPr>
            </a:br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0482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20483" name="Rectangle 4"/>
          <p:cNvSpPr>
            <a:spLocks noChangeArrowheads="1"/>
          </p:cNvSpPr>
          <p:nvPr/>
        </p:nvSpPr>
        <p:spPr bwMode="auto">
          <a:xfrm>
            <a:off x="534988" y="2171700"/>
            <a:ext cx="7883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 err="1"/>
              <a:t>Additional</a:t>
            </a:r>
            <a:r>
              <a:rPr lang="fr-FR" b="1" dirty="0"/>
              <a:t> information </a:t>
            </a:r>
            <a:r>
              <a:rPr lang="fr-FR" b="1" dirty="0" err="1"/>
              <a:t>provided</a:t>
            </a:r>
            <a:r>
              <a:rPr lang="fr-FR" b="1" dirty="0"/>
              <a:t> about a business </a:t>
            </a:r>
            <a:r>
              <a:rPr lang="fr-FR" b="1" dirty="0" err="1"/>
              <a:t>financial</a:t>
            </a:r>
            <a:r>
              <a:rPr lang="fr-FR" b="1" dirty="0"/>
              <a:t> condition and </a:t>
            </a:r>
            <a:r>
              <a:rPr lang="fr-FR" b="1" dirty="0" err="1"/>
              <a:t>methods</a:t>
            </a:r>
            <a:r>
              <a:rPr lang="fr-FR" b="1" dirty="0"/>
              <a:t> </a:t>
            </a:r>
            <a:r>
              <a:rPr lang="fr-FR" b="1" dirty="0" err="1"/>
              <a:t>used</a:t>
            </a:r>
            <a:r>
              <a:rPr lang="fr-FR" b="1" dirty="0"/>
              <a:t> in </a:t>
            </a:r>
            <a:r>
              <a:rPr lang="fr-FR" b="1" dirty="0" err="1"/>
              <a:t>preparing</a:t>
            </a:r>
            <a:r>
              <a:rPr lang="fr-FR" b="1" dirty="0"/>
              <a:t> Financial </a:t>
            </a:r>
            <a:r>
              <a:rPr lang="fr-FR" b="1" dirty="0" err="1"/>
              <a:t>statements</a:t>
            </a:r>
            <a:r>
              <a:rPr lang="fr-FR" b="1" dirty="0"/>
              <a:t> are </a:t>
            </a:r>
            <a:r>
              <a:rPr lang="fr-FR" b="1" dirty="0" err="1"/>
              <a:t>called</a:t>
            </a:r>
            <a:r>
              <a:rPr lang="fr-FR" b="1" dirty="0"/>
              <a:t> 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</p:txBody>
      </p:sp>
      <p:sp>
        <p:nvSpPr>
          <p:cNvPr id="20484" name="Rectangle 6"/>
          <p:cNvSpPr>
            <a:spLocks noChangeArrowheads="1"/>
          </p:cNvSpPr>
          <p:nvPr/>
        </p:nvSpPr>
        <p:spPr bwMode="auto">
          <a:xfrm>
            <a:off x="687388" y="40576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Notes to the Financial statements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3586612202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666750"/>
            <a:ext cx="8145462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8</a:t>
            </a:r>
            <a:br>
              <a:rPr lang="en-US">
                <a:latin typeface="Arial" charset="0"/>
                <a:ea typeface="ＭＳ Ｐゴシック" charset="0"/>
                <a:cs typeface="ＭＳ Ｐゴシック" charset="0"/>
              </a:rPr>
            </a:br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1506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21507" name="Rectangle 4"/>
          <p:cNvSpPr>
            <a:spLocks noChangeArrowheads="1"/>
          </p:cNvSpPr>
          <p:nvPr/>
        </p:nvSpPr>
        <p:spPr bwMode="auto">
          <a:xfrm>
            <a:off x="534988" y="2057400"/>
            <a:ext cx="7883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/>
              <a:t>The Financial </a:t>
            </a:r>
            <a:r>
              <a:rPr lang="fr-FR" b="1" dirty="0" err="1"/>
              <a:t>statement</a:t>
            </a:r>
            <a:r>
              <a:rPr lang="fr-FR" b="1" dirty="0"/>
              <a:t> </a:t>
            </a:r>
            <a:r>
              <a:rPr lang="fr-FR" b="1" dirty="0" err="1"/>
              <a:t>that</a:t>
            </a:r>
            <a:r>
              <a:rPr lang="fr-FR" b="1" dirty="0"/>
              <a:t> </a:t>
            </a:r>
            <a:r>
              <a:rPr lang="fr-FR" b="1" dirty="0" err="1"/>
              <a:t>makes</a:t>
            </a:r>
            <a:r>
              <a:rPr lang="fr-FR" b="1" dirty="0"/>
              <a:t> up a business </a:t>
            </a:r>
            <a:r>
              <a:rPr lang="fr-FR" b="1" dirty="0" err="1"/>
              <a:t>assets</a:t>
            </a:r>
            <a:r>
              <a:rPr lang="fr-FR" b="1" dirty="0"/>
              <a:t>, </a:t>
            </a:r>
            <a:r>
              <a:rPr lang="fr-FR" b="1" dirty="0" err="1"/>
              <a:t>liabilities</a:t>
            </a:r>
            <a:r>
              <a:rPr lang="fr-FR" b="1" dirty="0"/>
              <a:t> and </a:t>
            </a:r>
            <a:r>
              <a:rPr lang="fr-FR" b="1" dirty="0" err="1"/>
              <a:t>equity</a:t>
            </a:r>
            <a:r>
              <a:rPr lang="fr-FR" b="1" dirty="0"/>
              <a:t> </a:t>
            </a:r>
            <a:r>
              <a:rPr lang="fr-FR" b="1" dirty="0" err="1"/>
              <a:t>at</a:t>
            </a:r>
            <a:r>
              <a:rPr lang="fr-FR" b="1" dirty="0"/>
              <a:t> a </a:t>
            </a:r>
            <a:r>
              <a:rPr lang="fr-FR" b="1" dirty="0" err="1"/>
              <a:t>specific</a:t>
            </a:r>
            <a:r>
              <a:rPr lang="fr-FR" b="1" dirty="0"/>
              <a:t> point in time </a:t>
            </a:r>
            <a:r>
              <a:rPr lang="fr-FR" b="1" dirty="0" err="1"/>
              <a:t>is</a:t>
            </a:r>
            <a:r>
              <a:rPr lang="fr-FR" b="1" dirty="0"/>
              <a:t> 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687388" y="30480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Income statement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687388" y="35433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Capital statement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21510" name="Rectangle 6"/>
          <p:cNvSpPr>
            <a:spLocks noChangeArrowheads="1"/>
          </p:cNvSpPr>
          <p:nvPr/>
        </p:nvSpPr>
        <p:spPr bwMode="auto">
          <a:xfrm>
            <a:off x="687388" y="40576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Statement of cash Flow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687388" y="45529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Balance Sheet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413603781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666750"/>
            <a:ext cx="8145462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8</a:t>
            </a:r>
            <a:br>
              <a:rPr lang="en-US">
                <a:latin typeface="Arial" charset="0"/>
                <a:ea typeface="ＭＳ Ｐゴシック" charset="0"/>
                <a:cs typeface="ＭＳ Ｐゴシック" charset="0"/>
              </a:rPr>
            </a:br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2530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22531" name="Rectangle 4"/>
          <p:cNvSpPr>
            <a:spLocks noChangeArrowheads="1"/>
          </p:cNvSpPr>
          <p:nvPr/>
        </p:nvSpPr>
        <p:spPr bwMode="auto">
          <a:xfrm>
            <a:off x="534988" y="2362200"/>
            <a:ext cx="7883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/>
              <a:t>The Financial </a:t>
            </a:r>
            <a:r>
              <a:rPr lang="fr-FR" b="1" dirty="0" err="1"/>
              <a:t>statement</a:t>
            </a:r>
            <a:r>
              <a:rPr lang="fr-FR" b="1" dirty="0"/>
              <a:t> </a:t>
            </a:r>
            <a:r>
              <a:rPr lang="fr-FR" b="1" dirty="0" err="1"/>
              <a:t>that</a:t>
            </a:r>
            <a:r>
              <a:rPr lang="fr-FR" b="1" dirty="0"/>
              <a:t> </a:t>
            </a:r>
            <a:r>
              <a:rPr lang="fr-FR" b="1" dirty="0" err="1"/>
              <a:t>makes</a:t>
            </a:r>
            <a:r>
              <a:rPr lang="fr-FR" b="1" dirty="0"/>
              <a:t> up a business </a:t>
            </a:r>
            <a:r>
              <a:rPr lang="fr-FR" b="1" dirty="0" err="1"/>
              <a:t>assets</a:t>
            </a:r>
            <a:r>
              <a:rPr lang="fr-FR" b="1" dirty="0"/>
              <a:t>, </a:t>
            </a:r>
            <a:r>
              <a:rPr lang="fr-FR" b="1" dirty="0" err="1"/>
              <a:t>liabilities</a:t>
            </a:r>
            <a:r>
              <a:rPr lang="fr-FR" b="1" dirty="0"/>
              <a:t> and </a:t>
            </a:r>
            <a:r>
              <a:rPr lang="fr-FR" b="1" dirty="0" err="1"/>
              <a:t>equity</a:t>
            </a:r>
            <a:r>
              <a:rPr lang="fr-FR" b="1" dirty="0"/>
              <a:t> </a:t>
            </a:r>
            <a:r>
              <a:rPr lang="fr-FR" b="1" dirty="0" err="1"/>
              <a:t>at</a:t>
            </a:r>
            <a:r>
              <a:rPr lang="fr-FR" b="1" dirty="0"/>
              <a:t> a </a:t>
            </a:r>
            <a:r>
              <a:rPr lang="fr-FR" b="1" dirty="0" err="1"/>
              <a:t>specific</a:t>
            </a:r>
            <a:r>
              <a:rPr lang="fr-FR" b="1" dirty="0"/>
              <a:t> point in time </a:t>
            </a:r>
            <a:r>
              <a:rPr lang="fr-FR" b="1" dirty="0" err="1"/>
              <a:t>is</a:t>
            </a:r>
            <a:r>
              <a:rPr lang="fr-FR" b="1" dirty="0"/>
              <a:t> 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</p:txBody>
      </p:sp>
      <p:sp>
        <p:nvSpPr>
          <p:cNvPr id="22532" name="Rectangle 7"/>
          <p:cNvSpPr>
            <a:spLocks noChangeArrowheads="1"/>
          </p:cNvSpPr>
          <p:nvPr/>
        </p:nvSpPr>
        <p:spPr bwMode="auto">
          <a:xfrm>
            <a:off x="687388" y="45529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Balance Sheet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3682255463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9</a:t>
            </a:r>
          </a:p>
        </p:txBody>
      </p:sp>
      <p:sp>
        <p:nvSpPr>
          <p:cNvPr id="23554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23555" name="Rectangle 4"/>
          <p:cNvSpPr>
            <a:spLocks noChangeArrowheads="1"/>
          </p:cNvSpPr>
          <p:nvPr/>
        </p:nvSpPr>
        <p:spPr bwMode="auto">
          <a:xfrm>
            <a:off x="534988" y="2343150"/>
            <a:ext cx="7883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/>
              <a:t>A </a:t>
            </a:r>
            <a:r>
              <a:rPr lang="fr-FR" b="1" dirty="0" err="1"/>
              <a:t>calendar</a:t>
            </a:r>
            <a:r>
              <a:rPr lang="fr-FR" b="1" dirty="0"/>
              <a:t> </a:t>
            </a:r>
            <a:r>
              <a:rPr lang="fr-FR" b="1" dirty="0" err="1"/>
              <a:t>year</a:t>
            </a:r>
            <a:r>
              <a:rPr lang="fr-FR" b="1" dirty="0"/>
              <a:t> </a:t>
            </a:r>
            <a:r>
              <a:rPr lang="fr-FR" b="1" dirty="0" err="1"/>
              <a:t>is</a:t>
            </a:r>
            <a:r>
              <a:rPr lang="fr-FR" b="1" dirty="0"/>
              <a:t> a </a:t>
            </a:r>
            <a:r>
              <a:rPr lang="fr-FR" b="1" dirty="0" err="1"/>
              <a:t>year</a:t>
            </a:r>
            <a:r>
              <a:rPr lang="fr-FR" b="1" dirty="0"/>
              <a:t> </a:t>
            </a:r>
            <a:r>
              <a:rPr lang="fr-FR" b="1" dirty="0" err="1"/>
              <a:t>that</a:t>
            </a:r>
            <a:r>
              <a:rPr lang="fr-FR" b="1" dirty="0"/>
              <a:t> </a:t>
            </a:r>
            <a:r>
              <a:rPr lang="fr-FR" b="1" dirty="0" err="1"/>
              <a:t>begins</a:t>
            </a:r>
            <a:r>
              <a:rPr lang="fr-FR" b="1" dirty="0"/>
              <a:t> in </a:t>
            </a:r>
            <a:r>
              <a:rPr lang="fr-FR" b="1" dirty="0" err="1"/>
              <a:t>June</a:t>
            </a:r>
            <a:r>
              <a:rPr lang="fr-FR" b="1" dirty="0"/>
              <a:t> and ends in May 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687388" y="31813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False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687388" y="37338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True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1546668301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9</a:t>
            </a:r>
          </a:p>
        </p:txBody>
      </p:sp>
      <p:sp>
        <p:nvSpPr>
          <p:cNvPr id="24578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24579" name="Rectangle 4"/>
          <p:cNvSpPr>
            <a:spLocks noChangeArrowheads="1"/>
          </p:cNvSpPr>
          <p:nvPr/>
        </p:nvSpPr>
        <p:spPr bwMode="auto">
          <a:xfrm>
            <a:off x="534988" y="2127250"/>
            <a:ext cx="7883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/>
              <a:t>A </a:t>
            </a:r>
            <a:r>
              <a:rPr lang="fr-FR" b="1" dirty="0" err="1"/>
              <a:t>calendar</a:t>
            </a:r>
            <a:r>
              <a:rPr lang="fr-FR" b="1" dirty="0"/>
              <a:t> </a:t>
            </a:r>
            <a:r>
              <a:rPr lang="fr-FR" b="1" dirty="0" err="1"/>
              <a:t>year</a:t>
            </a:r>
            <a:r>
              <a:rPr lang="fr-FR" b="1" dirty="0"/>
              <a:t> </a:t>
            </a:r>
            <a:r>
              <a:rPr lang="fr-FR" b="1" dirty="0" err="1"/>
              <a:t>is</a:t>
            </a:r>
            <a:r>
              <a:rPr lang="fr-FR" b="1" dirty="0"/>
              <a:t> a </a:t>
            </a:r>
            <a:r>
              <a:rPr lang="fr-FR" b="1" dirty="0" err="1"/>
              <a:t>year</a:t>
            </a:r>
            <a:r>
              <a:rPr lang="fr-FR" b="1" dirty="0"/>
              <a:t> </a:t>
            </a:r>
            <a:r>
              <a:rPr lang="fr-FR" b="1" dirty="0" err="1"/>
              <a:t>that</a:t>
            </a:r>
            <a:r>
              <a:rPr lang="fr-FR" b="1" dirty="0"/>
              <a:t> </a:t>
            </a:r>
            <a:r>
              <a:rPr lang="fr-FR" b="1" dirty="0" err="1"/>
              <a:t>begins</a:t>
            </a:r>
            <a:r>
              <a:rPr lang="fr-FR" b="1" dirty="0"/>
              <a:t> in </a:t>
            </a:r>
            <a:r>
              <a:rPr lang="fr-FR" b="1" dirty="0" err="1"/>
              <a:t>June</a:t>
            </a:r>
            <a:r>
              <a:rPr lang="fr-FR" b="1" dirty="0"/>
              <a:t> and ends in May 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687388" y="31813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False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2021981488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10</a:t>
            </a:r>
          </a:p>
        </p:txBody>
      </p:sp>
      <p:sp>
        <p:nvSpPr>
          <p:cNvPr id="25602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534988" y="2057400"/>
            <a:ext cx="7883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/>
              <a:t>The </a:t>
            </a:r>
            <a:r>
              <a:rPr lang="fr-FR" b="1" dirty="0" err="1"/>
              <a:t>Statement</a:t>
            </a:r>
            <a:r>
              <a:rPr lang="fr-FR" b="1" dirty="0"/>
              <a:t> of Changes in Financial position reports the sources and uses of cash or </a:t>
            </a:r>
            <a:r>
              <a:rPr lang="fr-FR" b="1" dirty="0" err="1"/>
              <a:t>working</a:t>
            </a:r>
            <a:r>
              <a:rPr lang="fr-FR" b="1" dirty="0"/>
              <a:t> capital for a </a:t>
            </a:r>
            <a:r>
              <a:rPr lang="fr-FR" b="1" dirty="0" err="1"/>
              <a:t>specific</a:t>
            </a:r>
            <a:r>
              <a:rPr lang="fr-FR" b="1" dirty="0"/>
              <a:t> </a:t>
            </a:r>
            <a:r>
              <a:rPr lang="fr-FR" b="1" dirty="0" err="1"/>
              <a:t>period</a:t>
            </a:r>
            <a:r>
              <a:rPr lang="fr-FR" b="1" dirty="0"/>
              <a:t> of time 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r>
              <a:rPr lang="fr-FR" b="1" dirty="0"/>
              <a:t> </a:t>
            </a: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687388" y="31813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True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687388" y="37338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False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2269175759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10</a:t>
            </a:r>
          </a:p>
        </p:txBody>
      </p:sp>
      <p:sp>
        <p:nvSpPr>
          <p:cNvPr id="26626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26627" name="Rectangle 4"/>
          <p:cNvSpPr>
            <a:spLocks noChangeArrowheads="1"/>
          </p:cNvSpPr>
          <p:nvPr/>
        </p:nvSpPr>
        <p:spPr bwMode="auto">
          <a:xfrm>
            <a:off x="534988" y="2343150"/>
            <a:ext cx="7883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/>
              <a:t>The </a:t>
            </a:r>
            <a:r>
              <a:rPr lang="fr-FR" b="1" dirty="0" err="1"/>
              <a:t>Statement</a:t>
            </a:r>
            <a:r>
              <a:rPr lang="fr-FR" b="1" dirty="0"/>
              <a:t> of Changes in Financial position reports the sources and uses of cash or </a:t>
            </a:r>
            <a:r>
              <a:rPr lang="fr-FR" b="1" dirty="0" err="1"/>
              <a:t>working</a:t>
            </a:r>
            <a:r>
              <a:rPr lang="fr-FR" b="1" dirty="0"/>
              <a:t> capital for a </a:t>
            </a:r>
            <a:r>
              <a:rPr lang="fr-FR" b="1" dirty="0" err="1"/>
              <a:t>specific</a:t>
            </a:r>
            <a:r>
              <a:rPr lang="fr-FR" b="1" dirty="0"/>
              <a:t> </a:t>
            </a:r>
            <a:r>
              <a:rPr lang="fr-FR" b="1" dirty="0" err="1"/>
              <a:t>period</a:t>
            </a:r>
            <a:r>
              <a:rPr lang="fr-FR" b="1" dirty="0"/>
              <a:t> of time 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r>
              <a:rPr lang="fr-FR" b="1" dirty="0"/>
              <a:t> </a:t>
            </a:r>
          </a:p>
        </p:txBody>
      </p:sp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687388" y="31813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True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687388" y="37338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1342952168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11</a:t>
            </a:r>
          </a:p>
        </p:txBody>
      </p:sp>
      <p:sp>
        <p:nvSpPr>
          <p:cNvPr id="27650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27651" name="Rectangle 4"/>
          <p:cNvSpPr>
            <a:spLocks noChangeArrowheads="1"/>
          </p:cNvSpPr>
          <p:nvPr/>
        </p:nvSpPr>
        <p:spPr bwMode="auto">
          <a:xfrm>
            <a:off x="534988" y="2076450"/>
            <a:ext cx="7883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/>
              <a:t>Businesses </a:t>
            </a:r>
            <a:r>
              <a:rPr lang="fr-FR" b="1" dirty="0" err="1"/>
              <a:t>that</a:t>
            </a:r>
            <a:r>
              <a:rPr lang="fr-FR" b="1" dirty="0"/>
              <a:t> </a:t>
            </a:r>
            <a:r>
              <a:rPr lang="fr-FR" b="1" dirty="0" err="1"/>
              <a:t>sell</a:t>
            </a:r>
            <a:r>
              <a:rPr lang="fr-FR" b="1" dirty="0"/>
              <a:t> </a:t>
            </a:r>
            <a:r>
              <a:rPr lang="fr-FR" b="1" dirty="0" err="1"/>
              <a:t>products</a:t>
            </a:r>
            <a:r>
              <a:rPr lang="fr-FR" b="1" dirty="0"/>
              <a:t> have a </a:t>
            </a:r>
            <a:r>
              <a:rPr lang="fr-FR" b="1" dirty="0" err="1"/>
              <a:t>specific</a:t>
            </a:r>
            <a:r>
              <a:rPr lang="fr-FR" b="1" dirty="0"/>
              <a:t> section in </a:t>
            </a:r>
            <a:r>
              <a:rPr lang="fr-FR" b="1" dirty="0" err="1"/>
              <a:t>their</a:t>
            </a:r>
            <a:r>
              <a:rPr lang="fr-FR" b="1" dirty="0"/>
              <a:t> </a:t>
            </a:r>
            <a:r>
              <a:rPr lang="fr-FR" b="1" dirty="0" err="1"/>
              <a:t>Income</a:t>
            </a:r>
            <a:r>
              <a:rPr lang="fr-FR" b="1" dirty="0"/>
              <a:t> </a:t>
            </a:r>
            <a:r>
              <a:rPr lang="fr-FR" b="1" dirty="0" err="1"/>
              <a:t>Statement</a:t>
            </a:r>
            <a:r>
              <a:rPr lang="fr-FR" b="1" dirty="0"/>
              <a:t> </a:t>
            </a:r>
            <a:r>
              <a:rPr lang="fr-FR" b="1" dirty="0" err="1"/>
              <a:t>called</a:t>
            </a:r>
            <a:r>
              <a:rPr lang="fr-FR" b="1" dirty="0"/>
              <a:t> </a:t>
            </a:r>
            <a:r>
              <a:rPr lang="fr-FR" b="1" dirty="0" err="1"/>
              <a:t>Cost</a:t>
            </a:r>
            <a:r>
              <a:rPr lang="fr-FR" b="1" dirty="0"/>
              <a:t> of </a:t>
            </a:r>
            <a:r>
              <a:rPr lang="fr-FR" b="1" dirty="0" err="1"/>
              <a:t>Goods</a:t>
            </a:r>
            <a:r>
              <a:rPr lang="fr-FR" b="1" dirty="0"/>
              <a:t> </a:t>
            </a:r>
            <a:r>
              <a:rPr lang="fr-FR" b="1" dirty="0" err="1"/>
              <a:t>Sold</a:t>
            </a:r>
            <a:r>
              <a:rPr lang="fr-FR" b="1" dirty="0"/>
              <a:t> 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r>
              <a:rPr lang="fr-FR" b="1" dirty="0"/>
              <a:t> </a:t>
            </a:r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687388" y="31813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True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687388" y="37338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False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44333004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11</a:t>
            </a:r>
          </a:p>
        </p:txBody>
      </p:sp>
      <p:sp>
        <p:nvSpPr>
          <p:cNvPr id="28674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28675" name="Rectangle 4"/>
          <p:cNvSpPr>
            <a:spLocks noChangeArrowheads="1"/>
          </p:cNvSpPr>
          <p:nvPr/>
        </p:nvSpPr>
        <p:spPr bwMode="auto">
          <a:xfrm>
            <a:off x="534988" y="2076450"/>
            <a:ext cx="7883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/>
              <a:t>Businesses </a:t>
            </a:r>
            <a:r>
              <a:rPr lang="fr-FR" b="1" dirty="0" err="1"/>
              <a:t>that</a:t>
            </a:r>
            <a:r>
              <a:rPr lang="fr-FR" b="1" dirty="0"/>
              <a:t> </a:t>
            </a:r>
            <a:r>
              <a:rPr lang="fr-FR" b="1" dirty="0" err="1"/>
              <a:t>sell</a:t>
            </a:r>
            <a:r>
              <a:rPr lang="fr-FR" b="1" dirty="0"/>
              <a:t> </a:t>
            </a:r>
            <a:r>
              <a:rPr lang="fr-FR" b="1" dirty="0" err="1"/>
              <a:t>products</a:t>
            </a:r>
            <a:r>
              <a:rPr lang="fr-FR" b="1" dirty="0"/>
              <a:t> have a </a:t>
            </a:r>
            <a:r>
              <a:rPr lang="fr-FR" b="1" dirty="0" err="1"/>
              <a:t>specific</a:t>
            </a:r>
            <a:r>
              <a:rPr lang="fr-FR" b="1" dirty="0"/>
              <a:t> section in </a:t>
            </a:r>
            <a:r>
              <a:rPr lang="fr-FR" b="1" dirty="0" err="1"/>
              <a:t>their</a:t>
            </a:r>
            <a:r>
              <a:rPr lang="fr-FR" b="1" dirty="0"/>
              <a:t> </a:t>
            </a:r>
            <a:r>
              <a:rPr lang="fr-FR" b="1" dirty="0" err="1"/>
              <a:t>Income</a:t>
            </a:r>
            <a:r>
              <a:rPr lang="fr-FR" b="1" dirty="0"/>
              <a:t> </a:t>
            </a:r>
            <a:r>
              <a:rPr lang="fr-FR" b="1" dirty="0" err="1"/>
              <a:t>Statement</a:t>
            </a:r>
            <a:r>
              <a:rPr lang="fr-FR" b="1" dirty="0"/>
              <a:t> </a:t>
            </a:r>
            <a:r>
              <a:rPr lang="fr-FR" b="1" dirty="0" err="1"/>
              <a:t>called</a:t>
            </a:r>
            <a:r>
              <a:rPr lang="fr-FR" b="1" dirty="0"/>
              <a:t> </a:t>
            </a:r>
            <a:r>
              <a:rPr lang="fr-FR" b="1" dirty="0" err="1"/>
              <a:t>Cost</a:t>
            </a:r>
            <a:r>
              <a:rPr lang="fr-FR" b="1" dirty="0"/>
              <a:t> of </a:t>
            </a:r>
            <a:r>
              <a:rPr lang="fr-FR" b="1" dirty="0" err="1"/>
              <a:t>Goods</a:t>
            </a:r>
            <a:r>
              <a:rPr lang="fr-FR" b="1" dirty="0"/>
              <a:t> </a:t>
            </a:r>
            <a:r>
              <a:rPr lang="fr-FR" b="1" dirty="0" err="1"/>
              <a:t>Sold</a:t>
            </a:r>
            <a:r>
              <a:rPr lang="fr-FR" b="1" dirty="0"/>
              <a:t> 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r>
              <a:rPr lang="fr-FR" b="1" dirty="0"/>
              <a:t> </a:t>
            </a:r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687388" y="31813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True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687388" y="37338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1854657607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12</a:t>
            </a:r>
          </a:p>
        </p:txBody>
      </p:sp>
      <p:sp>
        <p:nvSpPr>
          <p:cNvPr id="29698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29699" name="Rectangle 4"/>
          <p:cNvSpPr>
            <a:spLocks noChangeArrowheads="1"/>
          </p:cNvSpPr>
          <p:nvPr/>
        </p:nvSpPr>
        <p:spPr bwMode="auto">
          <a:xfrm>
            <a:off x="534988" y="2343150"/>
            <a:ext cx="7883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 err="1"/>
              <a:t>Liabilities</a:t>
            </a:r>
            <a:r>
              <a:rPr lang="fr-FR" b="1" dirty="0"/>
              <a:t> are the </a:t>
            </a:r>
            <a:r>
              <a:rPr lang="fr-FR" b="1" dirty="0" err="1"/>
              <a:t>properties</a:t>
            </a:r>
            <a:r>
              <a:rPr lang="fr-FR" b="1" dirty="0"/>
              <a:t> </a:t>
            </a:r>
            <a:r>
              <a:rPr lang="fr-FR" b="1" dirty="0" err="1"/>
              <a:t>used</a:t>
            </a:r>
            <a:r>
              <a:rPr lang="fr-FR" b="1" dirty="0"/>
              <a:t> in the </a:t>
            </a:r>
            <a:r>
              <a:rPr lang="fr-FR" b="1" dirty="0" err="1"/>
              <a:t>operation</a:t>
            </a:r>
            <a:r>
              <a:rPr lang="fr-FR" b="1" dirty="0"/>
              <a:t> or </a:t>
            </a:r>
            <a:r>
              <a:rPr lang="fr-FR" b="1" dirty="0" err="1"/>
              <a:t>investment</a:t>
            </a:r>
            <a:r>
              <a:rPr lang="fr-FR" b="1" dirty="0"/>
              <a:t> </a:t>
            </a:r>
            <a:r>
              <a:rPr lang="fr-FR" b="1" dirty="0" err="1"/>
              <a:t>activities</a:t>
            </a:r>
            <a:r>
              <a:rPr lang="fr-FR" b="1" dirty="0"/>
              <a:t> of a business 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r>
              <a:rPr lang="fr-FR" b="1" dirty="0"/>
              <a:t> </a:t>
            </a: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687388" y="31813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True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29701" name="Rectangle 5"/>
          <p:cNvSpPr>
            <a:spLocks noChangeArrowheads="1"/>
          </p:cNvSpPr>
          <p:nvPr/>
        </p:nvSpPr>
        <p:spPr bwMode="auto">
          <a:xfrm>
            <a:off x="687388" y="37338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False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2695736779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12</a:t>
            </a:r>
          </a:p>
        </p:txBody>
      </p:sp>
      <p:sp>
        <p:nvSpPr>
          <p:cNvPr id="30722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30723" name="Rectangle 4"/>
          <p:cNvSpPr>
            <a:spLocks noChangeArrowheads="1"/>
          </p:cNvSpPr>
          <p:nvPr/>
        </p:nvSpPr>
        <p:spPr bwMode="auto">
          <a:xfrm>
            <a:off x="534988" y="2038350"/>
            <a:ext cx="7883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 err="1"/>
              <a:t>Liabilities</a:t>
            </a:r>
            <a:r>
              <a:rPr lang="fr-FR" b="1" dirty="0"/>
              <a:t> are the </a:t>
            </a:r>
            <a:r>
              <a:rPr lang="fr-FR" b="1" dirty="0" err="1"/>
              <a:t>properties</a:t>
            </a:r>
            <a:r>
              <a:rPr lang="fr-FR" b="1" dirty="0"/>
              <a:t> </a:t>
            </a:r>
            <a:r>
              <a:rPr lang="fr-FR" b="1" dirty="0" err="1"/>
              <a:t>used</a:t>
            </a:r>
            <a:r>
              <a:rPr lang="fr-FR" b="1" dirty="0"/>
              <a:t> in the </a:t>
            </a:r>
            <a:r>
              <a:rPr lang="fr-FR" b="1" dirty="0" err="1"/>
              <a:t>operation</a:t>
            </a:r>
            <a:r>
              <a:rPr lang="fr-FR" b="1" dirty="0"/>
              <a:t> or </a:t>
            </a:r>
            <a:r>
              <a:rPr lang="fr-FR" b="1" dirty="0" err="1"/>
              <a:t>investment</a:t>
            </a:r>
            <a:r>
              <a:rPr lang="fr-FR" b="1" dirty="0"/>
              <a:t> </a:t>
            </a:r>
            <a:r>
              <a:rPr lang="fr-FR" b="1" dirty="0" err="1"/>
              <a:t>activities</a:t>
            </a:r>
            <a:r>
              <a:rPr lang="fr-FR" b="1" dirty="0"/>
              <a:t> of a business 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r>
              <a:rPr lang="fr-FR" b="1" dirty="0"/>
              <a:t> </a:t>
            </a:r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687388" y="31813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</p:txBody>
      </p:sp>
      <p:sp>
        <p:nvSpPr>
          <p:cNvPr id="30725" name="Rectangle 5"/>
          <p:cNvSpPr>
            <a:spLocks noChangeArrowheads="1"/>
          </p:cNvSpPr>
          <p:nvPr/>
        </p:nvSpPr>
        <p:spPr bwMode="auto">
          <a:xfrm>
            <a:off x="687388" y="37338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False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2825818596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13</a:t>
            </a:r>
          </a:p>
        </p:txBody>
      </p:sp>
      <p:sp>
        <p:nvSpPr>
          <p:cNvPr id="31746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31747" name="Rectangle 4"/>
          <p:cNvSpPr>
            <a:spLocks noChangeArrowheads="1"/>
          </p:cNvSpPr>
          <p:nvPr/>
        </p:nvSpPr>
        <p:spPr bwMode="auto">
          <a:xfrm>
            <a:off x="534988" y="2343150"/>
            <a:ext cx="7883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/>
              <a:t>Net </a:t>
            </a:r>
            <a:r>
              <a:rPr lang="fr-FR" b="1" dirty="0" err="1"/>
              <a:t>Income</a:t>
            </a:r>
            <a:r>
              <a:rPr lang="fr-FR" b="1" dirty="0"/>
              <a:t> </a:t>
            </a:r>
            <a:r>
              <a:rPr lang="fr-FR" b="1" dirty="0" err="1"/>
              <a:t>results</a:t>
            </a:r>
            <a:r>
              <a:rPr lang="fr-FR" b="1" dirty="0"/>
              <a:t> </a:t>
            </a:r>
            <a:r>
              <a:rPr lang="fr-FR" b="1" dirty="0" err="1"/>
              <a:t>when</a:t>
            </a:r>
            <a:r>
              <a:rPr lang="fr-FR" b="1" dirty="0"/>
              <a:t> </a:t>
            </a:r>
            <a:r>
              <a:rPr lang="fr-FR" b="1" dirty="0" err="1"/>
              <a:t>expenses</a:t>
            </a:r>
            <a:r>
              <a:rPr lang="fr-FR" b="1" dirty="0"/>
              <a:t> </a:t>
            </a:r>
            <a:r>
              <a:rPr lang="fr-FR" b="1" dirty="0" err="1"/>
              <a:t>exceed</a:t>
            </a:r>
            <a:r>
              <a:rPr lang="fr-FR" b="1" dirty="0"/>
              <a:t> revenues for the </a:t>
            </a:r>
            <a:r>
              <a:rPr lang="fr-FR" b="1" dirty="0" err="1"/>
              <a:t>period</a:t>
            </a:r>
            <a:r>
              <a:rPr lang="fr-FR" b="1" dirty="0"/>
              <a:t> 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r>
              <a:rPr lang="fr-FR" b="1" dirty="0"/>
              <a:t> </a:t>
            </a:r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687388" y="31813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True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31749" name="Rectangle 5"/>
          <p:cNvSpPr>
            <a:spLocks noChangeArrowheads="1"/>
          </p:cNvSpPr>
          <p:nvPr/>
        </p:nvSpPr>
        <p:spPr bwMode="auto">
          <a:xfrm>
            <a:off x="687388" y="37338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False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1465343992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13</a:t>
            </a:r>
          </a:p>
        </p:txBody>
      </p:sp>
      <p:sp>
        <p:nvSpPr>
          <p:cNvPr id="32770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32771" name="Rectangle 4"/>
          <p:cNvSpPr>
            <a:spLocks noChangeArrowheads="1"/>
          </p:cNvSpPr>
          <p:nvPr/>
        </p:nvSpPr>
        <p:spPr bwMode="auto">
          <a:xfrm>
            <a:off x="534988" y="2057400"/>
            <a:ext cx="7883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/>
              <a:t>Net </a:t>
            </a:r>
            <a:r>
              <a:rPr lang="fr-FR" b="1" dirty="0" err="1"/>
              <a:t>Income</a:t>
            </a:r>
            <a:r>
              <a:rPr lang="fr-FR" b="1" dirty="0"/>
              <a:t> </a:t>
            </a:r>
            <a:r>
              <a:rPr lang="fr-FR" b="1" dirty="0" err="1"/>
              <a:t>results</a:t>
            </a:r>
            <a:r>
              <a:rPr lang="fr-FR" b="1" dirty="0"/>
              <a:t> </a:t>
            </a:r>
            <a:r>
              <a:rPr lang="fr-FR" b="1" dirty="0" err="1"/>
              <a:t>when</a:t>
            </a:r>
            <a:r>
              <a:rPr lang="fr-FR" b="1" dirty="0"/>
              <a:t> </a:t>
            </a:r>
            <a:r>
              <a:rPr lang="fr-FR" b="1" dirty="0" err="1"/>
              <a:t>expenses</a:t>
            </a:r>
            <a:r>
              <a:rPr lang="fr-FR" b="1" dirty="0"/>
              <a:t> </a:t>
            </a:r>
            <a:r>
              <a:rPr lang="fr-FR" b="1" dirty="0" err="1"/>
              <a:t>exceed</a:t>
            </a:r>
            <a:r>
              <a:rPr lang="fr-FR" b="1" dirty="0"/>
              <a:t> revenues for the </a:t>
            </a:r>
            <a:r>
              <a:rPr lang="fr-FR" b="1" dirty="0" err="1"/>
              <a:t>period</a:t>
            </a:r>
            <a:r>
              <a:rPr lang="fr-FR" b="1" dirty="0"/>
              <a:t> 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r>
              <a:rPr lang="fr-FR" b="1" dirty="0"/>
              <a:t> </a:t>
            </a:r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687388" y="31813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32773" name="Rectangle 5"/>
          <p:cNvSpPr>
            <a:spLocks noChangeArrowheads="1"/>
          </p:cNvSpPr>
          <p:nvPr/>
        </p:nvSpPr>
        <p:spPr bwMode="auto">
          <a:xfrm>
            <a:off x="687388" y="37338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False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3525447137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14</a:t>
            </a:r>
          </a:p>
        </p:txBody>
      </p:sp>
      <p:sp>
        <p:nvSpPr>
          <p:cNvPr id="33794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33795" name="Rectangle 4"/>
          <p:cNvSpPr>
            <a:spLocks noChangeArrowheads="1"/>
          </p:cNvSpPr>
          <p:nvPr/>
        </p:nvSpPr>
        <p:spPr bwMode="auto">
          <a:xfrm>
            <a:off x="534988" y="2032000"/>
            <a:ext cx="814546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b="1" dirty="0"/>
              <a:t>Financial Statements are reports on the financial performance of organizations. They provide data on: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b="1" dirty="0"/>
              <a:t>A) Projections for the upcoming fiscal year 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b="1" dirty="0"/>
              <a:t>B) Where money comes from, what money is spent on and how much money is available for use 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b="1" dirty="0"/>
              <a:t>C) Comparative company data to companies in similar industries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b="1" dirty="0"/>
              <a:t>D) All of the above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b="1" dirty="0"/>
              <a:t>E) None of the above	</a:t>
            </a:r>
            <a:r>
              <a:rPr lang="fr-FR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65146017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14</a:t>
            </a:r>
          </a:p>
        </p:txBody>
      </p:sp>
      <p:sp>
        <p:nvSpPr>
          <p:cNvPr id="34818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34819" name="Rectangle 4"/>
          <p:cNvSpPr>
            <a:spLocks noChangeArrowheads="1"/>
          </p:cNvSpPr>
          <p:nvPr/>
        </p:nvSpPr>
        <p:spPr bwMode="auto">
          <a:xfrm>
            <a:off x="534988" y="2006600"/>
            <a:ext cx="814546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b="1" dirty="0"/>
              <a:t>Financial Statements are reports on the financial performance of organizations. They provide data on: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b="1" dirty="0"/>
              <a:t>B) Where money comes from, what money is spent on and how much money is available for use 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r>
              <a:rPr lang="en-US" b="1" dirty="0"/>
              <a:t>	</a:t>
            </a:r>
            <a:r>
              <a:rPr lang="fr-FR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09270155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15</a:t>
            </a:r>
          </a:p>
        </p:txBody>
      </p:sp>
      <p:sp>
        <p:nvSpPr>
          <p:cNvPr id="35842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35843" name="Rectangle 4"/>
          <p:cNvSpPr>
            <a:spLocks noChangeArrowheads="1"/>
          </p:cNvSpPr>
          <p:nvPr/>
        </p:nvSpPr>
        <p:spPr bwMode="auto">
          <a:xfrm>
            <a:off x="300038" y="18288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The primary function of the Income Statement is to: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A) Show the company's value as of a given point in time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B) Determine if the company will have enough cash to operate properly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C) Determine taxes owed or not owed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D) Compare the company's assets against the company's liabilities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E) Measure the company's financial performance over a period of time</a:t>
            </a:r>
            <a:r>
              <a:rPr lang="en-US" b="1" dirty="0"/>
              <a:t>	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r>
              <a:rPr lang="fr-FR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35578044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15</a:t>
            </a:r>
          </a:p>
        </p:txBody>
      </p:sp>
      <p:sp>
        <p:nvSpPr>
          <p:cNvPr id="36866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36867" name="Rectangle 4"/>
          <p:cNvSpPr>
            <a:spLocks noChangeArrowheads="1"/>
          </p:cNvSpPr>
          <p:nvPr/>
        </p:nvSpPr>
        <p:spPr bwMode="auto">
          <a:xfrm>
            <a:off x="300038" y="19050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The primary function of the Income Statement is to: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E) Measure the company's financial performance over a period of time</a:t>
            </a:r>
            <a:r>
              <a:rPr lang="en-US" b="1" dirty="0"/>
              <a:t>	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r>
              <a:rPr lang="fr-FR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67606849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Question 16</a:t>
            </a:r>
          </a:p>
        </p:txBody>
      </p:sp>
      <p:sp>
        <p:nvSpPr>
          <p:cNvPr id="37890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37891" name="Rectangle 4"/>
          <p:cNvSpPr>
            <a:spLocks noChangeArrowheads="1"/>
          </p:cNvSpPr>
          <p:nvPr/>
        </p:nvSpPr>
        <p:spPr bwMode="auto">
          <a:xfrm>
            <a:off x="300038" y="18923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The primary function of the Balance Sheet is to: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A) Measure the company's performance over a period of time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B) Make sure that the company's assets and the company's liabilities "balance</a:t>
            </a:r>
            <a:r>
              <a:rPr lang="ja-JP" altLang="en-US" sz="2000" b="1" dirty="0"/>
              <a:t>”</a:t>
            </a:r>
            <a:endParaRPr lang="en-US" altLang="ja-JP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C) Determine taxes owed or not owed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D) Show the company's value as of a given point in time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E) Determine if the company will have enough cash to operate properly	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sz="2000" b="1" dirty="0"/>
          </a:p>
        </p:txBody>
      </p:sp>
    </p:spTree>
    <p:extLst>
      <p:ext uri="{BB962C8B-B14F-4D97-AF65-F5344CB8AC3E}">
        <p14:creationId xmlns:p14="http://schemas.microsoft.com/office/powerpoint/2010/main" val="3278614603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Question 16</a:t>
            </a:r>
          </a:p>
        </p:txBody>
      </p:sp>
      <p:sp>
        <p:nvSpPr>
          <p:cNvPr id="38914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38915" name="Rectangle 4"/>
          <p:cNvSpPr>
            <a:spLocks noChangeArrowheads="1"/>
          </p:cNvSpPr>
          <p:nvPr/>
        </p:nvSpPr>
        <p:spPr bwMode="auto">
          <a:xfrm>
            <a:off x="300038" y="21336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The primary function of the Balance Sheet is to: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D) Show the company's value as of a given point in time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671239385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17</a:t>
            </a:r>
          </a:p>
        </p:txBody>
      </p:sp>
      <p:sp>
        <p:nvSpPr>
          <p:cNvPr id="41986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41987" name="Rectangle 4"/>
          <p:cNvSpPr>
            <a:spLocks noChangeArrowheads="1"/>
          </p:cNvSpPr>
          <p:nvPr/>
        </p:nvSpPr>
        <p:spPr bwMode="auto">
          <a:xfrm>
            <a:off x="300038" y="16129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Which of the following lists are all Assets found in the Balance Sheet: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A) Cash, accounts receivable, marketable securities, inventory, prepaid expenses and common stock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B) Cash, accounts receivable, marketable securities, inventory and prepaid expenses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C) Cash, accounts receivable, inventory and Operating Margin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D) Cash, accounts receivable, inventory, prepaid expenses and revenue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E) Cash, accounts receivable, inventory, marketable securities and revenue</a:t>
            </a:r>
            <a:r>
              <a:rPr lang="en-US" sz="2000" dirty="0"/>
              <a:t>	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904014693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17</a:t>
            </a:r>
          </a:p>
        </p:txBody>
      </p:sp>
      <p:sp>
        <p:nvSpPr>
          <p:cNvPr id="43010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43011" name="Rectangle 4"/>
          <p:cNvSpPr>
            <a:spLocks noChangeArrowheads="1"/>
          </p:cNvSpPr>
          <p:nvPr/>
        </p:nvSpPr>
        <p:spPr bwMode="auto">
          <a:xfrm>
            <a:off x="300038" y="17145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Which of the following lists are all Assets found in the Balance Sheet: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B) Cash, accounts receivable, marketable securities, inventory and prepaid expenses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860280651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18</a:t>
            </a:r>
          </a:p>
        </p:txBody>
      </p:sp>
      <p:sp>
        <p:nvSpPr>
          <p:cNvPr id="44034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44035" name="Rectangle 4"/>
          <p:cNvSpPr>
            <a:spLocks noChangeArrowheads="1"/>
          </p:cNvSpPr>
          <p:nvPr/>
        </p:nvSpPr>
        <p:spPr bwMode="auto">
          <a:xfrm>
            <a:off x="534988" y="17145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The Balance Sheet equation is: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A) Assets divided by Equity = Liabilities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B) Assets plus Liabilities = Equity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C) Assets = Liabilities plus Equity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D) Equity = Profit minus </a:t>
            </a:r>
            <a:r>
              <a:rPr lang="en-US" sz="2000" b="1" dirty="0" err="1"/>
              <a:t>TaxesLiabilities</a:t>
            </a:r>
            <a:r>
              <a:rPr lang="en-US" sz="2000" b="1" dirty="0"/>
              <a:t> = Assets plus Equity	</a:t>
            </a:r>
          </a:p>
        </p:txBody>
      </p:sp>
    </p:spTree>
    <p:extLst>
      <p:ext uri="{BB962C8B-B14F-4D97-AF65-F5344CB8AC3E}">
        <p14:creationId xmlns:p14="http://schemas.microsoft.com/office/powerpoint/2010/main" val="3418616701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18</a:t>
            </a:r>
          </a:p>
        </p:txBody>
      </p:sp>
      <p:sp>
        <p:nvSpPr>
          <p:cNvPr id="45058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45059" name="Rectangle 4"/>
          <p:cNvSpPr>
            <a:spLocks noChangeArrowheads="1"/>
          </p:cNvSpPr>
          <p:nvPr/>
        </p:nvSpPr>
        <p:spPr bwMode="auto">
          <a:xfrm>
            <a:off x="534988" y="15494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The Balance Sheet equation is: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C) Assets = Liabilities plus Equity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r>
              <a:rPr lang="en-US" sz="2000" b="1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389536452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19</a:t>
            </a:r>
          </a:p>
        </p:txBody>
      </p:sp>
      <p:sp>
        <p:nvSpPr>
          <p:cNvPr id="46082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46083" name="Rectangle 4"/>
          <p:cNvSpPr>
            <a:spLocks noChangeArrowheads="1"/>
          </p:cNvSpPr>
          <p:nvPr/>
        </p:nvSpPr>
        <p:spPr bwMode="auto">
          <a:xfrm>
            <a:off x="534988" y="16129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Which one of the following lists are the Current Liabilities of a company: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A) Accounts Payable, Notes Payable, Accrued Expenses AND Income Taxes Payable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B) Accounts Payable, Notes Payable, Accrued Expenses AND Prepaid Expenses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C) Accounts Payable, Notes Payable, Accrued Expenses BUT NOT Income Taxes Payable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D) Accounts Payable, Notes Payable, Income Taxes Payable BUT NOT Accrued Expenses 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E) Accounts Payable, Notes Payable AND Prepaid Expenses	</a:t>
            </a:r>
          </a:p>
        </p:txBody>
      </p:sp>
    </p:spTree>
    <p:extLst>
      <p:ext uri="{BB962C8B-B14F-4D97-AF65-F5344CB8AC3E}">
        <p14:creationId xmlns:p14="http://schemas.microsoft.com/office/powerpoint/2010/main" val="3756503568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19</a:t>
            </a:r>
          </a:p>
        </p:txBody>
      </p:sp>
      <p:sp>
        <p:nvSpPr>
          <p:cNvPr id="47106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47107" name="Rectangle 4"/>
          <p:cNvSpPr>
            <a:spLocks noChangeArrowheads="1"/>
          </p:cNvSpPr>
          <p:nvPr/>
        </p:nvSpPr>
        <p:spPr bwMode="auto">
          <a:xfrm>
            <a:off x="534988" y="19685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Which one of the following lists are the Current Liabilities of a company: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A) Accounts Payable, Notes Payable, Accrued Expenses AND Income Taxes Payable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r>
              <a:rPr lang="en-US" sz="2000" b="1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802321964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20</a:t>
            </a:r>
          </a:p>
        </p:txBody>
      </p:sp>
      <p:sp>
        <p:nvSpPr>
          <p:cNvPr id="48130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48131" name="Rectangle 4"/>
          <p:cNvSpPr>
            <a:spLocks noChangeArrowheads="1"/>
          </p:cNvSpPr>
          <p:nvPr/>
        </p:nvSpPr>
        <p:spPr bwMode="auto">
          <a:xfrm>
            <a:off x="534988" y="19177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Which is correct about Preferred Stock: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 A) It is reserved only for preferred customers or investors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B) It is always worth more than common stock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C) It always costs more than common stock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D) It has priority over common stock in the event of the dissolution of the company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E) It cannot be owned by full time employees of the company	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r>
              <a:rPr lang="en-US" sz="2000" b="1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84844299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20</a:t>
            </a:r>
          </a:p>
        </p:txBody>
      </p:sp>
      <p:sp>
        <p:nvSpPr>
          <p:cNvPr id="49154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49155" name="Rectangle 4"/>
          <p:cNvSpPr>
            <a:spLocks noChangeArrowheads="1"/>
          </p:cNvSpPr>
          <p:nvPr/>
        </p:nvSpPr>
        <p:spPr bwMode="auto">
          <a:xfrm>
            <a:off x="534988" y="22098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Which is correct about Preferred Stock: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D) It has priority over common stock in the event of the dissolution of the company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r>
              <a:rPr lang="en-US" sz="2000" b="1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648565924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21</a:t>
            </a:r>
          </a:p>
        </p:txBody>
      </p:sp>
      <p:sp>
        <p:nvSpPr>
          <p:cNvPr id="50178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50179" name="Rectangle 4"/>
          <p:cNvSpPr>
            <a:spLocks noChangeArrowheads="1"/>
          </p:cNvSpPr>
          <p:nvPr/>
        </p:nvSpPr>
        <p:spPr bwMode="auto">
          <a:xfrm>
            <a:off x="534988" y="19304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sz="2000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Which one of the below is the MAJOR responsibility of a businessperson: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A) Making as little income as possible that is taxable in order to minimize the government's cut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B) Making as much money as possible for the employees to share in salary, bonus and benefits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C) Making sure the company is legally compliant with all reporting and other regulatory requirements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D) Making as much money as possible to distribute in dividends to stockholders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E) Making the value of the company increase by generating increasing revenues and profits	</a:t>
            </a:r>
          </a:p>
        </p:txBody>
      </p:sp>
    </p:spTree>
    <p:extLst>
      <p:ext uri="{BB962C8B-B14F-4D97-AF65-F5344CB8AC3E}">
        <p14:creationId xmlns:p14="http://schemas.microsoft.com/office/powerpoint/2010/main" val="885447335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21</a:t>
            </a:r>
          </a:p>
        </p:txBody>
      </p:sp>
      <p:sp>
        <p:nvSpPr>
          <p:cNvPr id="51202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51203" name="Rectangle 4"/>
          <p:cNvSpPr>
            <a:spLocks noChangeArrowheads="1"/>
          </p:cNvSpPr>
          <p:nvPr/>
        </p:nvSpPr>
        <p:spPr bwMode="auto">
          <a:xfrm>
            <a:off x="534988" y="17145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sz="2000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dirty="0"/>
              <a:t>Which one of the below is the MAJOR responsibility of a businessperson: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dirty="0"/>
              <a:t>E) Making the value of the company increase by generating increasing revenues and profits	</a:t>
            </a:r>
          </a:p>
        </p:txBody>
      </p:sp>
    </p:spTree>
    <p:extLst>
      <p:ext uri="{BB962C8B-B14F-4D97-AF65-F5344CB8AC3E}">
        <p14:creationId xmlns:p14="http://schemas.microsoft.com/office/powerpoint/2010/main" val="2325723707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22</a:t>
            </a:r>
          </a:p>
        </p:txBody>
      </p:sp>
      <p:sp>
        <p:nvSpPr>
          <p:cNvPr id="52226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52227" name="Rectangle 4"/>
          <p:cNvSpPr>
            <a:spLocks noChangeArrowheads="1"/>
          </p:cNvSpPr>
          <p:nvPr/>
        </p:nvSpPr>
        <p:spPr bwMode="auto">
          <a:xfrm>
            <a:off x="407988" y="17145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sz="2000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Which is the most relevant statement to an employee regarding the understanding and use of financial statements: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A) They are only really needed by a company's Chief Financial Officer or Controller or Accounting Staff who are paid to understand and use these things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B) They have little to do with the "real life" day to day operations of most departments or sections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C) They can help any employee understand her or his impact on the financial health of the company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D) They are only really used to determine taxes owed or not owed. 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E) They are only really needed by senior executives, board members and shareholder	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609476458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22</a:t>
            </a:r>
          </a:p>
        </p:txBody>
      </p:sp>
      <p:sp>
        <p:nvSpPr>
          <p:cNvPr id="53250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53251" name="Rectangle 4"/>
          <p:cNvSpPr>
            <a:spLocks noChangeArrowheads="1"/>
          </p:cNvSpPr>
          <p:nvPr/>
        </p:nvSpPr>
        <p:spPr bwMode="auto">
          <a:xfrm>
            <a:off x="534988" y="18796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sz="2000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dirty="0"/>
              <a:t>Which is the most relevant statement to an employee regarding the understanding and use of financial statements: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dirty="0"/>
              <a:t>C) They can help any employee understand her or his impact on the financial health of the company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r>
              <a:rPr lang="en-US" sz="20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322188966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10436" y="2381144"/>
            <a:ext cx="4249899" cy="1754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</a:rPr>
              <a:t>Thank you!</a:t>
            </a:r>
          </a:p>
          <a:p>
            <a:pPr algn="ctr"/>
            <a:endParaRPr lang="en-US" sz="3600" b="1" dirty="0">
              <a:solidFill>
                <a:schemeClr val="tx2"/>
              </a:solidFill>
            </a:endParaRPr>
          </a:p>
          <a:p>
            <a:pPr algn="ctr"/>
            <a:r>
              <a:rPr lang="en-US" sz="3600" b="1" dirty="0">
                <a:solidFill>
                  <a:schemeClr val="tx2"/>
                </a:solidFill>
              </a:rPr>
              <a:t>See you next time</a:t>
            </a:r>
          </a:p>
        </p:txBody>
      </p:sp>
    </p:spTree>
    <p:extLst>
      <p:ext uri="{BB962C8B-B14F-4D97-AF65-F5344CB8AC3E}">
        <p14:creationId xmlns:p14="http://schemas.microsoft.com/office/powerpoint/2010/main" val="14935795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8531485B0C104F9C58C50E30CD7832" ma:contentTypeVersion="4" ma:contentTypeDescription="Create a new document." ma:contentTypeScope="" ma:versionID="1dfccaadae0d2f0b848ad55bc03a2905">
  <xsd:schema xmlns:xsd="http://www.w3.org/2001/XMLSchema" xmlns:xs="http://www.w3.org/2001/XMLSchema" xmlns:p="http://schemas.microsoft.com/office/2006/metadata/properties" xmlns:ns2="0ea48c8c-38ab-43fa-892b-dc8a284a5f0d" targetNamespace="http://schemas.microsoft.com/office/2006/metadata/properties" ma:root="true" ma:fieldsID="2d2e5abe0c8f91bc85a8371e13ced834" ns2:_="">
    <xsd:import namespace="0ea48c8c-38ab-43fa-892b-dc8a284a5f0d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a48c8c-38ab-43fa-892b-dc8a284a5f0d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0ea48c8c-38ab-43fa-892b-dc8a284a5f0d" xsi:nil="true"/>
  </documentManagement>
</p:properties>
</file>

<file path=customXml/itemProps1.xml><?xml version="1.0" encoding="utf-8"?>
<ds:datastoreItem xmlns:ds="http://schemas.openxmlformats.org/officeDocument/2006/customXml" ds:itemID="{FBE69E02-CDD2-4D0C-8DFA-113EE9DCBA91}"/>
</file>

<file path=customXml/itemProps2.xml><?xml version="1.0" encoding="utf-8"?>
<ds:datastoreItem xmlns:ds="http://schemas.openxmlformats.org/officeDocument/2006/customXml" ds:itemID="{006D99E3-343C-4379-BF18-2FE857020CEC}"/>
</file>

<file path=customXml/itemProps3.xml><?xml version="1.0" encoding="utf-8"?>
<ds:datastoreItem xmlns:ds="http://schemas.openxmlformats.org/officeDocument/2006/customXml" ds:itemID="{441F3BF1-6AD9-44A5-83EC-B7F41CC1B31C}"/>
</file>

<file path=docProps/app.xml><?xml version="1.0" encoding="utf-8"?>
<Properties xmlns="http://schemas.openxmlformats.org/officeDocument/2006/extended-properties" xmlns:vt="http://schemas.openxmlformats.org/officeDocument/2006/docPropsVTypes">
  <Template>Waveform.thmx</Template>
  <TotalTime>3783</TotalTime>
  <Words>1587</Words>
  <Application>Microsoft Macintosh PowerPoint</Application>
  <PresentationFormat>On-screen Show (4:3)</PresentationFormat>
  <Paragraphs>435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Arial</vt:lpstr>
      <vt:lpstr>Calibri</vt:lpstr>
      <vt:lpstr>Candara</vt:lpstr>
      <vt:lpstr>Symbol</vt:lpstr>
      <vt:lpstr>Wingdings</vt:lpstr>
      <vt:lpstr>Waveform</vt:lpstr>
      <vt:lpstr>Finance for IT managers</vt:lpstr>
      <vt:lpstr>Finance quiz</vt:lpstr>
      <vt:lpstr>Question 1</vt:lpstr>
      <vt:lpstr>Question 1</vt:lpstr>
      <vt:lpstr>Question 2</vt:lpstr>
      <vt:lpstr>Question 2</vt:lpstr>
      <vt:lpstr>Question 3</vt:lpstr>
      <vt:lpstr>Question 3</vt:lpstr>
      <vt:lpstr>Question 4</vt:lpstr>
      <vt:lpstr>Question 4</vt:lpstr>
      <vt:lpstr>Question 5</vt:lpstr>
      <vt:lpstr>Question 5</vt:lpstr>
      <vt:lpstr>Question 6 </vt:lpstr>
      <vt:lpstr>Question 6 </vt:lpstr>
      <vt:lpstr>Question 7 </vt:lpstr>
      <vt:lpstr>Question 7 </vt:lpstr>
      <vt:lpstr>Question 8 </vt:lpstr>
      <vt:lpstr>Question 8 </vt:lpstr>
      <vt:lpstr>Question 9</vt:lpstr>
      <vt:lpstr>Question 9</vt:lpstr>
      <vt:lpstr>Question 10</vt:lpstr>
      <vt:lpstr>Question 10</vt:lpstr>
      <vt:lpstr>Question 11</vt:lpstr>
      <vt:lpstr>Question 11</vt:lpstr>
      <vt:lpstr>Question 12</vt:lpstr>
      <vt:lpstr>Question 12</vt:lpstr>
      <vt:lpstr>Question 13</vt:lpstr>
      <vt:lpstr>Question 13</vt:lpstr>
      <vt:lpstr>Question 14</vt:lpstr>
      <vt:lpstr>Question 14</vt:lpstr>
      <vt:lpstr>Question 15</vt:lpstr>
      <vt:lpstr>Question 15</vt:lpstr>
      <vt:lpstr>Question 16</vt:lpstr>
      <vt:lpstr>Question 16</vt:lpstr>
      <vt:lpstr>Question 17</vt:lpstr>
      <vt:lpstr>Question 17</vt:lpstr>
      <vt:lpstr>Question 18</vt:lpstr>
      <vt:lpstr>Question 18</vt:lpstr>
      <vt:lpstr>Question 19</vt:lpstr>
      <vt:lpstr>Question 19</vt:lpstr>
      <vt:lpstr>Question 20</vt:lpstr>
      <vt:lpstr>Question 20</vt:lpstr>
      <vt:lpstr>Question 21</vt:lpstr>
      <vt:lpstr>Question 21</vt:lpstr>
      <vt:lpstr>Question 22</vt:lpstr>
      <vt:lpstr>Question 22</vt:lpstr>
      <vt:lpstr>PowerPoint Presentation</vt:lpstr>
    </vt:vector>
  </TitlesOfParts>
  <Manager/>
  <Company>Hervé Gallot for EPITA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International Masters</dc:title>
  <dc:subject>Finance for IT Managers</dc:subject>
  <dc:creator>Hervé Gallot</dc:creator>
  <cp:keywords/>
  <dc:description/>
  <cp:lastModifiedBy>appriou sylvie</cp:lastModifiedBy>
  <cp:revision>580</cp:revision>
  <cp:lastPrinted>2013-03-07T08:20:19Z</cp:lastPrinted>
  <dcterms:created xsi:type="dcterms:W3CDTF">2013-02-25T11:18:49Z</dcterms:created>
  <dcterms:modified xsi:type="dcterms:W3CDTF">2025-09-17T09:31:22Z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0x010100FD8531485B0C104F9C58C50E30CD7832</vt:lpwstr>
  </property>
</Properties>
</file>